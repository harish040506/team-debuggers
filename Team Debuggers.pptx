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4"/>
  </p:sldMasterIdLst>
  <p:sldIdLst>
    <p:sldId id="256" r:id="rId5"/>
    <p:sldId id="257" r:id="rId6"/>
    <p:sldId id="258" r:id="rId7"/>
    <p:sldId id="266" r:id="rId8"/>
    <p:sldId id="260" r:id="rId9"/>
    <p:sldId id="259" r:id="rId10"/>
    <p:sldId id="261" r:id="rId11"/>
    <p:sldId id="262" r:id="rId12"/>
    <p:sldId id="267" r:id="rId13"/>
    <p:sldId id="263" r:id="rId14"/>
    <p:sldId id="264" r:id="rId15"/>
  </p:sldIdLst>
  <p:sldSz cx="10287000" cy="5384800"/>
  <p:notesSz cx="6858000" cy="9144000"/>
  <p:embeddedFontLst>
    <p:embeddedFont>
      <p:font typeface="Garet" panose="020B0604020202020204" charset="0"/>
      <p:regular r:id="rId16"/>
    </p:embeddedFont>
    <p:embeddedFont>
      <p:font typeface="League Spartan" panose="020B0604020202020204" charset="0"/>
      <p:regular r:id="rId17"/>
    </p:embeddedFont>
    <p:embeddedFont>
      <p:font typeface="Montserrat" panose="00000500000000000000" pitchFamily="2" charset="0"/>
      <p:regular r:id="rId18"/>
      <p:bold r:id="rId19"/>
      <p:italic r:id="rId20"/>
      <p:boldItalic r:id="rId21"/>
    </p:embeddedFont>
    <p:embeddedFont>
      <p:font typeface="Montserrat Bold" panose="00000800000000000000" charset="0"/>
      <p:regular r:id="rId22"/>
      <p:bold r:id="rId2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E5834A-3A95-9FDE-967B-5BACAC690C43}" v="7" dt="2025-12-29T15:44:52.084"/>
    <p1510:client id="{05DFB81D-CBF1-41BB-656F-38E2A17A2BE4}" v="5" dt="2025-12-29T13:20:12.367"/>
    <p1510:client id="{0B2B408A-A233-9CA4-C897-CA9302C15316}" v="144" dt="2025-12-31T06:28:16.143"/>
    <p1510:client id="{2E7C9A49-8FB3-B522-4F7B-67E187CC7765}" v="104" dt="2025-12-29T16:05:14.777"/>
    <p1510:client id="{3C74F20E-1645-6595-1006-F298A440E3D1}" v="36" dt="2025-12-29T15:02:24.602"/>
    <p1510:client id="{5A6242C7-AB41-034C-2026-D011331ECACF}" v="2" dt="2025-12-29T18:07:16.445"/>
    <p1510:client id="{64E985D1-61B8-7F2E-1B7F-80BC638FA194}" v="230" dt="2025-12-30T18:13:07.691"/>
    <p1510:client id="{728B5566-AA33-EB73-5A94-995236288C7D}" v="312" dt="2025-12-30T17:38:19.580"/>
    <p1510:client id="{810F9097-F9B7-3349-5B0B-E89D277467D8}" v="35" dt="2025-12-29T17:23:26.755"/>
    <p1510:client id="{81202651-7E7B-E872-5F24-830D8FB30EC1}" v="376" dt="2025-12-29T09:42:51.317"/>
    <p1510:client id="{82B08627-F5FF-6F67-AD74-99F8A6F10D03}" v="10" dt="2025-12-29T15:53:25.263"/>
    <p1510:client id="{86E66C52-5444-58D7-8EFD-20A9CA56206C}" v="152" dt="2025-12-31T06:13:43.088"/>
    <p1510:client id="{C71A2C7B-CBF1-7419-8504-63CBF863E056}" v="7" dt="2025-12-31T04:51:03.737"/>
    <p1510:client id="{D5D1687E-400E-7175-E5AA-8E47F2B5D572}" v="1" dt="2025-12-29T19:02:37.418"/>
    <p1510:client id="{D6F4CC9C-03B3-577D-22EF-6EB4AC6CCEA2}" v="77" dt="2025-12-30T17:28:48.872"/>
    <p1510:client id="{D8843E71-A2B4-3793-BA5A-A36680DCCA07}" v="440" dt="2025-12-29T14:20:26.451"/>
    <p1510:client id="{E8E3CC8A-3655-CD62-F0A0-A25FE3C12D7E}" v="28" dt="2025-12-31T07:25:16.3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9" d="100"/>
          <a:sy n="89" d="100"/>
        </p:scale>
        <p:origin x="312" y="60"/>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font" Target="fonts/font3.fntdata"/><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font" Target="fonts/font6.fntdata"/><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font" Target="fonts/font2.fntdata"/><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font" Target="fonts/font1.fntdata"/><Relationship Id="rId20" Type="http://schemas.openxmlformats.org/officeDocument/2006/relationships/font" Target="fonts/font5.fntdata"/><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font" Target="fonts/font8.fntdata"/><Relationship Id="rId28"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font" Target="fonts/font4.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font" Target="fonts/font7.fntdata"/><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12/31/2025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12/31/2025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12/31/2025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12/31/2025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12/31/2025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12/31/2025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12/31/2025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12/31/2025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12/31/2025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4" Type="http://schemas.openxmlformats.org/officeDocument/2006/relationships/image" Target="../media/image12.jpe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4" Type="http://schemas.openxmlformats.org/officeDocument/2006/relationships/image" Target="../media/image13.jpe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grpSp>
        <p:nvGrpSpPr>
          <p:cNvPr id="2" name="Group 2"/>
          <p:cNvGrpSpPr/>
          <p:nvPr/>
        </p:nvGrpSpPr>
        <p:grpSpPr>
          <a:xfrm>
            <a:off x="0" y="4927473"/>
            <a:ext cx="10287000" cy="463677"/>
            <a:chOff x="0" y="0"/>
            <a:chExt cx="5169753" cy="233022"/>
          </a:xfrm>
        </p:grpSpPr>
        <p:sp>
          <p:nvSpPr>
            <p:cNvPr id="3" name="Freeform 3"/>
            <p:cNvSpPr/>
            <p:nvPr/>
          </p:nvSpPr>
          <p:spPr>
            <a:xfrm>
              <a:off x="0" y="0"/>
              <a:ext cx="5169753" cy="233022"/>
            </a:xfrm>
            <a:custGeom>
              <a:avLst/>
              <a:gdLst/>
              <a:ahLst/>
              <a:cxnLst/>
              <a:rect l="l" t="t" r="r" b="b"/>
              <a:pathLst>
                <a:path w="5169753" h="233022">
                  <a:moveTo>
                    <a:pt x="0" y="0"/>
                  </a:moveTo>
                  <a:lnTo>
                    <a:pt x="5169753" y="0"/>
                  </a:lnTo>
                  <a:lnTo>
                    <a:pt x="5169753" y="233022"/>
                  </a:lnTo>
                  <a:lnTo>
                    <a:pt x="0" y="233022"/>
                  </a:lnTo>
                  <a:close/>
                </a:path>
              </a:pathLst>
            </a:custGeom>
            <a:solidFill>
              <a:srgbClr val="FFFFFF"/>
            </a:solidFill>
          </p:spPr>
          <p:txBody>
            <a:bodyPr/>
            <a:lstStyle/>
            <a:p>
              <a:endParaRPr lang="en-IN"/>
            </a:p>
          </p:txBody>
        </p:sp>
        <p:sp>
          <p:nvSpPr>
            <p:cNvPr id="4" name="TextBox 4"/>
            <p:cNvSpPr txBox="1"/>
            <p:nvPr/>
          </p:nvSpPr>
          <p:spPr>
            <a:xfrm>
              <a:off x="0" y="-19050"/>
              <a:ext cx="5169753" cy="252072"/>
            </a:xfrm>
            <a:prstGeom prst="rect">
              <a:avLst/>
            </a:prstGeom>
          </p:spPr>
          <p:txBody>
            <a:bodyPr lIns="50800" tIns="50800" rIns="50800" bIns="50800" rtlCol="0" anchor="ctr"/>
            <a:lstStyle/>
            <a:p>
              <a:pPr algn="ctr">
                <a:lnSpc>
                  <a:spcPts val="1399"/>
                </a:lnSpc>
                <a:spcBef>
                  <a:spcPct val="0"/>
                </a:spcBef>
              </a:pPr>
              <a:endParaRPr/>
            </a:p>
          </p:txBody>
        </p:sp>
      </p:grpSp>
      <p:grpSp>
        <p:nvGrpSpPr>
          <p:cNvPr id="5" name="Group 5"/>
          <p:cNvGrpSpPr/>
          <p:nvPr/>
        </p:nvGrpSpPr>
        <p:grpSpPr>
          <a:xfrm>
            <a:off x="0" y="0"/>
            <a:ext cx="10287000" cy="2539588"/>
            <a:chOff x="0" y="0"/>
            <a:chExt cx="5169753" cy="1276275"/>
          </a:xfrm>
        </p:grpSpPr>
        <p:sp>
          <p:nvSpPr>
            <p:cNvPr id="6" name="Freeform 6"/>
            <p:cNvSpPr/>
            <p:nvPr/>
          </p:nvSpPr>
          <p:spPr>
            <a:xfrm>
              <a:off x="0" y="0"/>
              <a:ext cx="5169753" cy="1276275"/>
            </a:xfrm>
            <a:custGeom>
              <a:avLst/>
              <a:gdLst/>
              <a:ahLst/>
              <a:cxnLst/>
              <a:rect l="l" t="t" r="r" b="b"/>
              <a:pathLst>
                <a:path w="5169753" h="1276275">
                  <a:moveTo>
                    <a:pt x="0" y="0"/>
                  </a:moveTo>
                  <a:lnTo>
                    <a:pt x="5169753" y="0"/>
                  </a:lnTo>
                  <a:lnTo>
                    <a:pt x="5169753" y="1276275"/>
                  </a:lnTo>
                  <a:lnTo>
                    <a:pt x="0" y="1276275"/>
                  </a:lnTo>
                  <a:close/>
                </a:path>
              </a:pathLst>
            </a:custGeom>
            <a:solidFill>
              <a:srgbClr val="FFFFFF"/>
            </a:solidFill>
          </p:spPr>
          <p:txBody>
            <a:bodyPr/>
            <a:lstStyle/>
            <a:p>
              <a:endParaRPr lang="en-IN"/>
            </a:p>
          </p:txBody>
        </p:sp>
        <p:sp>
          <p:nvSpPr>
            <p:cNvPr id="7" name="TextBox 7"/>
            <p:cNvSpPr txBox="1"/>
            <p:nvPr/>
          </p:nvSpPr>
          <p:spPr>
            <a:xfrm>
              <a:off x="0" y="-19050"/>
              <a:ext cx="5169753" cy="1295325"/>
            </a:xfrm>
            <a:prstGeom prst="rect">
              <a:avLst/>
            </a:prstGeom>
          </p:spPr>
          <p:txBody>
            <a:bodyPr lIns="50800" tIns="50800" rIns="50800" bIns="50800" rtlCol="0" anchor="ctr"/>
            <a:lstStyle/>
            <a:p>
              <a:pPr algn="ctr">
                <a:lnSpc>
                  <a:spcPts val="1399"/>
                </a:lnSpc>
                <a:spcBef>
                  <a:spcPct val="0"/>
                </a:spcBef>
              </a:pPr>
              <a:endParaRPr/>
            </a:p>
          </p:txBody>
        </p:sp>
      </p:grpSp>
      <p:grpSp>
        <p:nvGrpSpPr>
          <p:cNvPr id="8" name="Group 8"/>
          <p:cNvGrpSpPr/>
          <p:nvPr/>
        </p:nvGrpSpPr>
        <p:grpSpPr>
          <a:xfrm>
            <a:off x="9100468" y="200532"/>
            <a:ext cx="956040" cy="343825"/>
            <a:chOff x="0" y="0"/>
            <a:chExt cx="1274720" cy="458433"/>
          </a:xfrm>
        </p:grpSpPr>
        <p:sp>
          <p:nvSpPr>
            <p:cNvPr id="9" name="Freeform 9"/>
            <p:cNvSpPr/>
            <p:nvPr/>
          </p:nvSpPr>
          <p:spPr>
            <a:xfrm>
              <a:off x="375415" y="26673"/>
              <a:ext cx="899305" cy="431760"/>
            </a:xfrm>
            <a:custGeom>
              <a:avLst/>
              <a:gdLst/>
              <a:ahLst/>
              <a:cxnLst/>
              <a:rect l="l" t="t" r="r" b="b"/>
              <a:pathLst>
                <a:path w="899305" h="431760">
                  <a:moveTo>
                    <a:pt x="0" y="0"/>
                  </a:moveTo>
                  <a:lnTo>
                    <a:pt x="899305" y="0"/>
                  </a:lnTo>
                  <a:lnTo>
                    <a:pt x="899305" y="431760"/>
                  </a:lnTo>
                  <a:lnTo>
                    <a:pt x="0" y="431760"/>
                  </a:lnTo>
                  <a:lnTo>
                    <a:pt x="0" y="0"/>
                  </a:lnTo>
                  <a:close/>
                </a:path>
              </a:pathLst>
            </a:custGeom>
            <a:blipFill>
              <a:blip r:embed="rId2"/>
              <a:stretch>
                <a:fillRect l="-42914"/>
              </a:stretch>
            </a:blipFill>
          </p:spPr>
          <p:txBody>
            <a:bodyPr/>
            <a:lstStyle/>
            <a:p>
              <a:endParaRPr lang="en-IN"/>
            </a:p>
          </p:txBody>
        </p:sp>
        <p:sp>
          <p:nvSpPr>
            <p:cNvPr id="10" name="Freeform 10"/>
            <p:cNvSpPr/>
            <p:nvPr/>
          </p:nvSpPr>
          <p:spPr>
            <a:xfrm>
              <a:off x="0" y="0"/>
              <a:ext cx="385934" cy="431760"/>
            </a:xfrm>
            <a:custGeom>
              <a:avLst/>
              <a:gdLst/>
              <a:ahLst/>
              <a:cxnLst/>
              <a:rect l="l" t="t" r="r" b="b"/>
              <a:pathLst>
                <a:path w="385934" h="431760">
                  <a:moveTo>
                    <a:pt x="0" y="0"/>
                  </a:moveTo>
                  <a:lnTo>
                    <a:pt x="385934" y="0"/>
                  </a:lnTo>
                  <a:lnTo>
                    <a:pt x="385934" y="431760"/>
                  </a:lnTo>
                  <a:lnTo>
                    <a:pt x="0" y="431760"/>
                  </a:lnTo>
                  <a:lnTo>
                    <a:pt x="0" y="0"/>
                  </a:lnTo>
                  <a:close/>
                </a:path>
              </a:pathLst>
            </a:custGeom>
            <a:blipFill>
              <a:blip r:embed="rId3"/>
              <a:stretch>
                <a:fillRect r="-233020"/>
              </a:stretch>
            </a:blipFill>
          </p:spPr>
          <p:txBody>
            <a:bodyPr/>
            <a:lstStyle/>
            <a:p>
              <a:endParaRPr lang="en-IN"/>
            </a:p>
          </p:txBody>
        </p:sp>
      </p:grpSp>
      <p:sp>
        <p:nvSpPr>
          <p:cNvPr id="11" name="Freeform 11"/>
          <p:cNvSpPr/>
          <p:nvPr/>
        </p:nvSpPr>
        <p:spPr>
          <a:xfrm>
            <a:off x="205679" y="196940"/>
            <a:ext cx="1550158" cy="351008"/>
          </a:xfrm>
          <a:custGeom>
            <a:avLst/>
            <a:gdLst/>
            <a:ahLst/>
            <a:cxnLst/>
            <a:rect l="l" t="t" r="r" b="b"/>
            <a:pathLst>
              <a:path w="1550158" h="351008">
                <a:moveTo>
                  <a:pt x="0" y="0"/>
                </a:moveTo>
                <a:lnTo>
                  <a:pt x="1550158" y="0"/>
                </a:lnTo>
                <a:lnTo>
                  <a:pt x="1550158" y="351008"/>
                </a:lnTo>
                <a:lnTo>
                  <a:pt x="0" y="351008"/>
                </a:lnTo>
                <a:lnTo>
                  <a:pt x="0" y="0"/>
                </a:lnTo>
                <a:close/>
              </a:path>
            </a:pathLst>
          </a:custGeom>
          <a:blipFill>
            <a:blip r:embed="rId4"/>
            <a:stretch>
              <a:fillRect t="-30203" b="-35555"/>
            </a:stretch>
          </a:blipFill>
        </p:spPr>
        <p:txBody>
          <a:bodyPr/>
          <a:lstStyle/>
          <a:p>
            <a:endParaRPr lang="en-IN"/>
          </a:p>
        </p:txBody>
      </p:sp>
      <p:sp>
        <p:nvSpPr>
          <p:cNvPr id="12" name="Freeform 12"/>
          <p:cNvSpPr/>
          <p:nvPr/>
        </p:nvSpPr>
        <p:spPr>
          <a:xfrm>
            <a:off x="7680076" y="139934"/>
            <a:ext cx="721155" cy="471903"/>
          </a:xfrm>
          <a:custGeom>
            <a:avLst/>
            <a:gdLst/>
            <a:ahLst/>
            <a:cxnLst/>
            <a:rect l="l" t="t" r="r" b="b"/>
            <a:pathLst>
              <a:path w="721155" h="471903">
                <a:moveTo>
                  <a:pt x="0" y="0"/>
                </a:moveTo>
                <a:lnTo>
                  <a:pt x="721155" y="0"/>
                </a:lnTo>
                <a:lnTo>
                  <a:pt x="721155" y="471903"/>
                </a:lnTo>
                <a:lnTo>
                  <a:pt x="0" y="471903"/>
                </a:lnTo>
                <a:lnTo>
                  <a:pt x="0" y="0"/>
                </a:lnTo>
                <a:close/>
              </a:path>
            </a:pathLst>
          </a:custGeom>
          <a:blipFill>
            <a:blip r:embed="rId5"/>
            <a:stretch>
              <a:fillRect t="-18481" b="-34337"/>
            </a:stretch>
          </a:blipFill>
        </p:spPr>
        <p:txBody>
          <a:bodyPr/>
          <a:lstStyle/>
          <a:p>
            <a:endParaRPr lang="en-IN"/>
          </a:p>
        </p:txBody>
      </p:sp>
      <p:sp>
        <p:nvSpPr>
          <p:cNvPr id="13" name="Freeform 13"/>
          <p:cNvSpPr/>
          <p:nvPr/>
        </p:nvSpPr>
        <p:spPr>
          <a:xfrm>
            <a:off x="4031651" y="243629"/>
            <a:ext cx="1117453" cy="285865"/>
          </a:xfrm>
          <a:custGeom>
            <a:avLst/>
            <a:gdLst/>
            <a:ahLst/>
            <a:cxnLst/>
            <a:rect l="l" t="t" r="r" b="b"/>
            <a:pathLst>
              <a:path w="1117453" h="285865">
                <a:moveTo>
                  <a:pt x="0" y="0"/>
                </a:moveTo>
                <a:lnTo>
                  <a:pt x="1117453" y="0"/>
                </a:lnTo>
                <a:lnTo>
                  <a:pt x="1117453" y="285865"/>
                </a:lnTo>
                <a:lnTo>
                  <a:pt x="0" y="285865"/>
                </a:lnTo>
                <a:lnTo>
                  <a:pt x="0" y="0"/>
                </a:lnTo>
                <a:close/>
              </a:path>
            </a:pathLst>
          </a:custGeom>
          <a:blipFill>
            <a:blip r:embed="rId6"/>
            <a:stretch>
              <a:fillRect t="-13850"/>
            </a:stretch>
          </a:blipFill>
        </p:spPr>
        <p:txBody>
          <a:bodyPr/>
          <a:lstStyle/>
          <a:p>
            <a:endParaRPr lang="en-IN"/>
          </a:p>
        </p:txBody>
      </p:sp>
      <p:sp>
        <p:nvSpPr>
          <p:cNvPr id="14" name="Freeform 14"/>
          <p:cNvSpPr/>
          <p:nvPr/>
        </p:nvSpPr>
        <p:spPr>
          <a:xfrm>
            <a:off x="2343143" y="203822"/>
            <a:ext cx="1101202" cy="344126"/>
          </a:xfrm>
          <a:custGeom>
            <a:avLst/>
            <a:gdLst/>
            <a:ahLst/>
            <a:cxnLst/>
            <a:rect l="l" t="t" r="r" b="b"/>
            <a:pathLst>
              <a:path w="1101202" h="344126">
                <a:moveTo>
                  <a:pt x="0" y="0"/>
                </a:moveTo>
                <a:lnTo>
                  <a:pt x="1101202" y="0"/>
                </a:lnTo>
                <a:lnTo>
                  <a:pt x="1101202" y="344126"/>
                </a:lnTo>
                <a:lnTo>
                  <a:pt x="0" y="344126"/>
                </a:lnTo>
                <a:lnTo>
                  <a:pt x="0" y="0"/>
                </a:lnTo>
                <a:close/>
              </a:path>
            </a:pathLst>
          </a:custGeom>
          <a:blipFill>
            <a:blip r:embed="rId7"/>
            <a:stretch>
              <a:fillRect/>
            </a:stretch>
          </a:blipFill>
        </p:spPr>
        <p:txBody>
          <a:bodyPr/>
          <a:lstStyle/>
          <a:p>
            <a:endParaRPr lang="en-IN"/>
          </a:p>
        </p:txBody>
      </p:sp>
      <p:grpSp>
        <p:nvGrpSpPr>
          <p:cNvPr id="15" name="Group 15"/>
          <p:cNvGrpSpPr/>
          <p:nvPr/>
        </p:nvGrpSpPr>
        <p:grpSpPr>
          <a:xfrm>
            <a:off x="5736410" y="210678"/>
            <a:ext cx="1356360" cy="289549"/>
            <a:chOff x="0" y="0"/>
            <a:chExt cx="1808480" cy="386065"/>
          </a:xfrm>
        </p:grpSpPr>
        <p:sp>
          <p:nvSpPr>
            <p:cNvPr id="16" name="Freeform 16"/>
            <p:cNvSpPr/>
            <p:nvPr/>
          </p:nvSpPr>
          <p:spPr>
            <a:xfrm>
              <a:off x="1371321" y="0"/>
              <a:ext cx="437159" cy="386065"/>
            </a:xfrm>
            <a:custGeom>
              <a:avLst/>
              <a:gdLst/>
              <a:ahLst/>
              <a:cxnLst/>
              <a:rect l="l" t="t" r="r" b="b"/>
              <a:pathLst>
                <a:path w="437159" h="386065">
                  <a:moveTo>
                    <a:pt x="0" y="0"/>
                  </a:moveTo>
                  <a:lnTo>
                    <a:pt x="437159" y="0"/>
                  </a:lnTo>
                  <a:lnTo>
                    <a:pt x="437159" y="386065"/>
                  </a:lnTo>
                  <a:lnTo>
                    <a:pt x="0" y="386065"/>
                  </a:lnTo>
                  <a:lnTo>
                    <a:pt x="0" y="0"/>
                  </a:lnTo>
                  <a:close/>
                </a:path>
              </a:pathLst>
            </a:custGeom>
            <a:blipFill>
              <a:blip r:embed="rId8"/>
              <a:stretch>
                <a:fillRect b="-10438"/>
              </a:stretch>
            </a:blipFill>
          </p:spPr>
          <p:txBody>
            <a:bodyPr/>
            <a:lstStyle/>
            <a:p>
              <a:endParaRPr lang="en-IN"/>
            </a:p>
          </p:txBody>
        </p:sp>
        <p:sp>
          <p:nvSpPr>
            <p:cNvPr id="17" name="TextBox 17"/>
            <p:cNvSpPr txBox="1"/>
            <p:nvPr/>
          </p:nvSpPr>
          <p:spPr>
            <a:xfrm>
              <a:off x="0" y="111175"/>
              <a:ext cx="1400755" cy="168959"/>
            </a:xfrm>
            <a:prstGeom prst="rect">
              <a:avLst/>
            </a:prstGeom>
          </p:spPr>
          <p:txBody>
            <a:bodyPr lIns="0" tIns="0" rIns="0" bIns="0" rtlCol="0" anchor="t">
              <a:spAutoFit/>
            </a:bodyPr>
            <a:lstStyle/>
            <a:p>
              <a:pPr algn="r">
                <a:lnSpc>
                  <a:spcPts val="1099"/>
                </a:lnSpc>
                <a:spcBef>
                  <a:spcPct val="0"/>
                </a:spcBef>
              </a:pPr>
              <a:r>
                <a:rPr lang="en-US" sz="785">
                  <a:solidFill>
                    <a:srgbClr val="000000"/>
                  </a:solidFill>
                  <a:latin typeface="League Spartan"/>
                  <a:ea typeface="League Spartan"/>
                  <a:cs typeface="League Spartan"/>
                  <a:sym typeface="League Spartan"/>
                </a:rPr>
                <a:t>IETE Student Forum</a:t>
              </a:r>
            </a:p>
          </p:txBody>
        </p:sp>
        <p:sp>
          <p:nvSpPr>
            <p:cNvPr id="18" name="TextBox 18"/>
            <p:cNvSpPr txBox="1"/>
            <p:nvPr/>
          </p:nvSpPr>
          <p:spPr>
            <a:xfrm>
              <a:off x="118941" y="276210"/>
              <a:ext cx="1227269" cy="102280"/>
            </a:xfrm>
            <a:prstGeom prst="rect">
              <a:avLst/>
            </a:prstGeom>
          </p:spPr>
          <p:txBody>
            <a:bodyPr lIns="0" tIns="0" rIns="0" bIns="0" rtlCol="0" anchor="t">
              <a:spAutoFit/>
            </a:bodyPr>
            <a:lstStyle/>
            <a:p>
              <a:pPr algn="r">
                <a:lnSpc>
                  <a:spcPts val="607"/>
                </a:lnSpc>
                <a:spcBef>
                  <a:spcPct val="0"/>
                </a:spcBef>
              </a:pPr>
              <a:r>
                <a:rPr lang="en-US" sz="433">
                  <a:solidFill>
                    <a:srgbClr val="FF914D"/>
                  </a:solidFill>
                  <a:latin typeface="League Spartan"/>
                  <a:ea typeface="League Spartan"/>
                  <a:cs typeface="League Spartan"/>
                  <a:sym typeface="League Spartan"/>
                </a:rPr>
                <a:t>Amrita Vishwa Vidyapeetham</a:t>
              </a:r>
            </a:p>
          </p:txBody>
        </p:sp>
      </p:grpSp>
      <p:sp>
        <p:nvSpPr>
          <p:cNvPr id="19" name="Freeform 19"/>
          <p:cNvSpPr/>
          <p:nvPr/>
        </p:nvSpPr>
        <p:spPr>
          <a:xfrm>
            <a:off x="235177" y="834078"/>
            <a:ext cx="1671851" cy="1671851"/>
          </a:xfrm>
          <a:custGeom>
            <a:avLst/>
            <a:gdLst/>
            <a:ahLst/>
            <a:cxnLst/>
            <a:rect l="l" t="t" r="r" b="b"/>
            <a:pathLst>
              <a:path w="1671851" h="1671851">
                <a:moveTo>
                  <a:pt x="0" y="0"/>
                </a:moveTo>
                <a:lnTo>
                  <a:pt x="1671851" y="0"/>
                </a:lnTo>
                <a:lnTo>
                  <a:pt x="1671851" y="1671851"/>
                </a:lnTo>
                <a:lnTo>
                  <a:pt x="0" y="1671851"/>
                </a:lnTo>
                <a:lnTo>
                  <a:pt x="0" y="0"/>
                </a:lnTo>
                <a:close/>
              </a:path>
            </a:pathLst>
          </a:custGeom>
          <a:blipFill>
            <a:blip r:embed="rId9"/>
            <a:stretch>
              <a:fillRect/>
            </a:stretch>
          </a:blipFill>
        </p:spPr>
        <p:txBody>
          <a:bodyPr/>
          <a:lstStyle/>
          <a:p>
            <a:endParaRPr lang="en-IN"/>
          </a:p>
        </p:txBody>
      </p:sp>
      <p:sp>
        <p:nvSpPr>
          <p:cNvPr id="20" name="Freeform 20"/>
          <p:cNvSpPr/>
          <p:nvPr/>
        </p:nvSpPr>
        <p:spPr>
          <a:xfrm>
            <a:off x="1996179" y="834078"/>
            <a:ext cx="4418411" cy="1548871"/>
          </a:xfrm>
          <a:custGeom>
            <a:avLst/>
            <a:gdLst/>
            <a:ahLst/>
            <a:cxnLst/>
            <a:rect l="l" t="t" r="r" b="b"/>
            <a:pathLst>
              <a:path w="4418411" h="1548871">
                <a:moveTo>
                  <a:pt x="0" y="0"/>
                </a:moveTo>
                <a:lnTo>
                  <a:pt x="4418411" y="0"/>
                </a:lnTo>
                <a:lnTo>
                  <a:pt x="4418411" y="1548870"/>
                </a:lnTo>
                <a:lnTo>
                  <a:pt x="0" y="1548870"/>
                </a:lnTo>
                <a:lnTo>
                  <a:pt x="0" y="0"/>
                </a:lnTo>
                <a:close/>
              </a:path>
            </a:pathLst>
          </a:custGeom>
          <a:blipFill>
            <a:blip r:embed="rId10"/>
            <a:stretch>
              <a:fillRect l="-5164"/>
            </a:stretch>
          </a:blipFill>
        </p:spPr>
        <p:txBody>
          <a:bodyPr/>
          <a:lstStyle/>
          <a:p>
            <a:endParaRPr lang="en-IN"/>
          </a:p>
        </p:txBody>
      </p:sp>
      <p:sp>
        <p:nvSpPr>
          <p:cNvPr id="21" name="TextBox 21"/>
          <p:cNvSpPr txBox="1"/>
          <p:nvPr/>
        </p:nvSpPr>
        <p:spPr>
          <a:xfrm>
            <a:off x="539115" y="3490309"/>
            <a:ext cx="5446149" cy="356572"/>
          </a:xfrm>
          <a:prstGeom prst="rect">
            <a:avLst/>
          </a:prstGeom>
        </p:spPr>
        <p:txBody>
          <a:bodyPr wrap="square" lIns="0" tIns="0" rIns="0" bIns="0" rtlCol="0" anchor="t">
            <a:spAutoFit/>
          </a:bodyPr>
          <a:lstStyle/>
          <a:p>
            <a:pPr>
              <a:lnSpc>
                <a:spcPts val="3008"/>
              </a:lnSpc>
            </a:pPr>
            <a:r>
              <a:rPr lang="en-US" sz="2100">
                <a:solidFill>
                  <a:srgbClr val="FFFFFF"/>
                </a:solidFill>
                <a:latin typeface="Montserrat"/>
                <a:ea typeface="Montserrat"/>
                <a:cs typeface="Montserrat"/>
                <a:sym typeface="Montserrat"/>
              </a:rPr>
              <a:t>Team Leader Name : Harish Manukonda</a:t>
            </a:r>
            <a:endParaRPr lang="en-US" sz="2148" err="1">
              <a:solidFill>
                <a:srgbClr val="FFFFFF"/>
              </a:solidFill>
              <a:latin typeface="Montserrat"/>
              <a:ea typeface="Montserrat"/>
              <a:cs typeface="Montserrat"/>
            </a:endParaRPr>
          </a:p>
        </p:txBody>
      </p:sp>
      <p:sp>
        <p:nvSpPr>
          <p:cNvPr id="22" name="TextBox 22"/>
          <p:cNvSpPr txBox="1"/>
          <p:nvPr/>
        </p:nvSpPr>
        <p:spPr>
          <a:xfrm>
            <a:off x="539115" y="3016074"/>
            <a:ext cx="5461080" cy="355097"/>
          </a:xfrm>
          <a:prstGeom prst="rect">
            <a:avLst/>
          </a:prstGeom>
        </p:spPr>
        <p:txBody>
          <a:bodyPr wrap="square" lIns="0" tIns="0" rIns="0" bIns="0" rtlCol="0" anchor="t">
            <a:spAutoFit/>
          </a:bodyPr>
          <a:lstStyle/>
          <a:p>
            <a:pPr>
              <a:lnSpc>
                <a:spcPts val="3008"/>
              </a:lnSpc>
            </a:pPr>
            <a:r>
              <a:rPr lang="en-US" sz="2100">
                <a:solidFill>
                  <a:srgbClr val="FFFFFF"/>
                </a:solidFill>
                <a:latin typeface="Montserrat"/>
                <a:ea typeface="Montserrat"/>
                <a:cs typeface="Montserrat"/>
                <a:sym typeface="Montserrat"/>
              </a:rPr>
              <a:t>Team Name :  Team Debuggers</a:t>
            </a:r>
            <a:endParaRPr lang="en-US" sz="2148" err="1">
              <a:solidFill>
                <a:srgbClr val="FFFFFF"/>
              </a:solidFill>
              <a:latin typeface="Montserrat"/>
              <a:ea typeface="Montserrat"/>
              <a:cs typeface="Montserrat"/>
              <a:sym typeface="Montserrat"/>
            </a:endParaRPr>
          </a:p>
        </p:txBody>
      </p:sp>
      <p:sp>
        <p:nvSpPr>
          <p:cNvPr id="23" name="TextBox 23"/>
          <p:cNvSpPr txBox="1"/>
          <p:nvPr/>
        </p:nvSpPr>
        <p:spPr>
          <a:xfrm>
            <a:off x="539115" y="3969865"/>
            <a:ext cx="5233455" cy="356572"/>
          </a:xfrm>
          <a:prstGeom prst="rect">
            <a:avLst/>
          </a:prstGeom>
        </p:spPr>
        <p:txBody>
          <a:bodyPr wrap="square" lIns="0" tIns="0" rIns="0" bIns="0" rtlCol="0" anchor="t">
            <a:spAutoFit/>
          </a:bodyPr>
          <a:lstStyle/>
          <a:p>
            <a:pPr>
              <a:lnSpc>
                <a:spcPts val="3008"/>
              </a:lnSpc>
            </a:pPr>
            <a:r>
              <a:rPr lang="en-US" sz="2100">
                <a:solidFill>
                  <a:srgbClr val="FFFFFF"/>
                </a:solidFill>
                <a:latin typeface="Montserrat"/>
                <a:ea typeface="Montserrat"/>
                <a:cs typeface="Montserrat"/>
                <a:sym typeface="Montserrat"/>
              </a:rPr>
              <a:t>Track : Agentic AI</a:t>
            </a:r>
            <a:endParaRPr lang="en-US" sz="2148">
              <a:solidFill>
                <a:srgbClr val="FFFFFF"/>
              </a:solidFill>
              <a:latin typeface="Montserrat"/>
              <a:ea typeface="Montserrat"/>
              <a:cs typeface="Montserrat"/>
              <a:sym typeface="Montserra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5004014"/>
            <a:ext cx="10287000" cy="387136"/>
            <a:chOff x="0" y="0"/>
            <a:chExt cx="5169753" cy="194556"/>
          </a:xfrm>
        </p:grpSpPr>
        <p:sp>
          <p:nvSpPr>
            <p:cNvPr id="3" name="Freeform 3"/>
            <p:cNvSpPr/>
            <p:nvPr/>
          </p:nvSpPr>
          <p:spPr>
            <a:xfrm>
              <a:off x="0" y="0"/>
              <a:ext cx="5169753" cy="194556"/>
            </a:xfrm>
            <a:custGeom>
              <a:avLst/>
              <a:gdLst/>
              <a:ahLst/>
              <a:cxnLst/>
              <a:rect l="l" t="t" r="r" b="b"/>
              <a:pathLst>
                <a:path w="5169753" h="194556">
                  <a:moveTo>
                    <a:pt x="0" y="0"/>
                  </a:moveTo>
                  <a:lnTo>
                    <a:pt x="5169753" y="0"/>
                  </a:lnTo>
                  <a:lnTo>
                    <a:pt x="5169753" y="194556"/>
                  </a:lnTo>
                  <a:lnTo>
                    <a:pt x="0" y="194556"/>
                  </a:lnTo>
                  <a:close/>
                </a:path>
              </a:pathLst>
            </a:custGeom>
            <a:solidFill>
              <a:srgbClr val="000000"/>
            </a:solidFill>
          </p:spPr>
          <p:txBody>
            <a:bodyPr/>
            <a:lstStyle/>
            <a:p>
              <a:endParaRPr lang="en-IN"/>
            </a:p>
          </p:txBody>
        </p:sp>
        <p:sp>
          <p:nvSpPr>
            <p:cNvPr id="4" name="TextBox 4"/>
            <p:cNvSpPr txBox="1"/>
            <p:nvPr/>
          </p:nvSpPr>
          <p:spPr>
            <a:xfrm>
              <a:off x="0" y="-19050"/>
              <a:ext cx="5169753" cy="213606"/>
            </a:xfrm>
            <a:prstGeom prst="rect">
              <a:avLst/>
            </a:prstGeom>
          </p:spPr>
          <p:txBody>
            <a:bodyPr lIns="50800" tIns="50800" rIns="50800" bIns="50800" rtlCol="0" anchor="ctr"/>
            <a:lstStyle/>
            <a:p>
              <a:pPr algn="ctr">
                <a:lnSpc>
                  <a:spcPts val="1399"/>
                </a:lnSpc>
                <a:spcBef>
                  <a:spcPct val="0"/>
                </a:spcBef>
              </a:pPr>
              <a:endParaRPr/>
            </a:p>
          </p:txBody>
        </p:sp>
      </p:grpSp>
      <p:grpSp>
        <p:nvGrpSpPr>
          <p:cNvPr id="5" name="Group 5"/>
          <p:cNvGrpSpPr/>
          <p:nvPr/>
        </p:nvGrpSpPr>
        <p:grpSpPr>
          <a:xfrm>
            <a:off x="0" y="-14327"/>
            <a:ext cx="10287000" cy="651243"/>
            <a:chOff x="0" y="0"/>
            <a:chExt cx="5169753" cy="327283"/>
          </a:xfrm>
        </p:grpSpPr>
        <p:sp>
          <p:nvSpPr>
            <p:cNvPr id="6" name="Freeform 6"/>
            <p:cNvSpPr/>
            <p:nvPr/>
          </p:nvSpPr>
          <p:spPr>
            <a:xfrm>
              <a:off x="0" y="0"/>
              <a:ext cx="5169753" cy="327283"/>
            </a:xfrm>
            <a:custGeom>
              <a:avLst/>
              <a:gdLst/>
              <a:ahLst/>
              <a:cxnLst/>
              <a:rect l="l" t="t" r="r" b="b"/>
              <a:pathLst>
                <a:path w="5169753" h="327283">
                  <a:moveTo>
                    <a:pt x="0" y="0"/>
                  </a:moveTo>
                  <a:lnTo>
                    <a:pt x="5169753" y="0"/>
                  </a:lnTo>
                  <a:lnTo>
                    <a:pt x="5169753" y="327283"/>
                  </a:lnTo>
                  <a:lnTo>
                    <a:pt x="0" y="327283"/>
                  </a:lnTo>
                  <a:close/>
                </a:path>
              </a:pathLst>
            </a:custGeom>
            <a:solidFill>
              <a:srgbClr val="000000"/>
            </a:solidFill>
          </p:spPr>
          <p:txBody>
            <a:bodyPr/>
            <a:lstStyle/>
            <a:p>
              <a:endParaRPr lang="en-IN"/>
            </a:p>
          </p:txBody>
        </p:sp>
        <p:sp>
          <p:nvSpPr>
            <p:cNvPr id="7" name="TextBox 7"/>
            <p:cNvSpPr txBox="1"/>
            <p:nvPr/>
          </p:nvSpPr>
          <p:spPr>
            <a:xfrm>
              <a:off x="0" y="-19050"/>
              <a:ext cx="5169753" cy="346333"/>
            </a:xfrm>
            <a:prstGeom prst="rect">
              <a:avLst/>
            </a:prstGeom>
          </p:spPr>
          <p:txBody>
            <a:bodyPr lIns="50800" tIns="50800" rIns="50800" bIns="50800" rtlCol="0" anchor="ctr"/>
            <a:lstStyle/>
            <a:p>
              <a:pPr algn="ctr">
                <a:lnSpc>
                  <a:spcPts val="1399"/>
                </a:lnSpc>
                <a:spcBef>
                  <a:spcPct val="0"/>
                </a:spcBef>
              </a:pPr>
              <a:endParaRPr/>
            </a:p>
          </p:txBody>
        </p:sp>
      </p:grpSp>
      <p:grpSp>
        <p:nvGrpSpPr>
          <p:cNvPr id="8" name="Group 8"/>
          <p:cNvGrpSpPr/>
          <p:nvPr/>
        </p:nvGrpSpPr>
        <p:grpSpPr>
          <a:xfrm>
            <a:off x="3903074" y="-14327"/>
            <a:ext cx="2480852" cy="651243"/>
            <a:chOff x="0" y="0"/>
            <a:chExt cx="3307803" cy="868323"/>
          </a:xfrm>
        </p:grpSpPr>
        <p:sp>
          <p:nvSpPr>
            <p:cNvPr id="9" name="Freeform 9"/>
            <p:cNvSpPr/>
            <p:nvPr/>
          </p:nvSpPr>
          <p:spPr>
            <a:xfrm>
              <a:off x="0" y="0"/>
              <a:ext cx="794159" cy="868323"/>
            </a:xfrm>
            <a:custGeom>
              <a:avLst/>
              <a:gdLst/>
              <a:ahLst/>
              <a:cxnLst/>
              <a:rect l="l" t="t" r="r" b="b"/>
              <a:pathLst>
                <a:path w="794159" h="868323">
                  <a:moveTo>
                    <a:pt x="0" y="0"/>
                  </a:moveTo>
                  <a:lnTo>
                    <a:pt x="794159" y="0"/>
                  </a:lnTo>
                  <a:lnTo>
                    <a:pt x="794159" y="868323"/>
                  </a:lnTo>
                  <a:lnTo>
                    <a:pt x="0" y="868323"/>
                  </a:lnTo>
                  <a:lnTo>
                    <a:pt x="0" y="0"/>
                  </a:lnTo>
                  <a:close/>
                </a:path>
              </a:pathLst>
            </a:custGeom>
            <a:blipFill>
              <a:blip r:embed="rId2"/>
              <a:stretch>
                <a:fillRect r="-9338"/>
              </a:stretch>
            </a:blipFill>
          </p:spPr>
          <p:txBody>
            <a:bodyPr/>
            <a:lstStyle/>
            <a:p>
              <a:endParaRPr lang="en-IN"/>
            </a:p>
          </p:txBody>
        </p:sp>
        <p:sp>
          <p:nvSpPr>
            <p:cNvPr id="10" name="Freeform 10"/>
            <p:cNvSpPr/>
            <p:nvPr/>
          </p:nvSpPr>
          <p:spPr>
            <a:xfrm>
              <a:off x="895759" y="0"/>
              <a:ext cx="2412045" cy="849221"/>
            </a:xfrm>
            <a:custGeom>
              <a:avLst/>
              <a:gdLst/>
              <a:ahLst/>
              <a:cxnLst/>
              <a:rect l="l" t="t" r="r" b="b"/>
              <a:pathLst>
                <a:path w="2412045" h="849221">
                  <a:moveTo>
                    <a:pt x="0" y="0"/>
                  </a:moveTo>
                  <a:lnTo>
                    <a:pt x="2412044" y="0"/>
                  </a:lnTo>
                  <a:lnTo>
                    <a:pt x="2412044" y="849221"/>
                  </a:lnTo>
                  <a:lnTo>
                    <a:pt x="0" y="849221"/>
                  </a:lnTo>
                  <a:lnTo>
                    <a:pt x="0" y="0"/>
                  </a:lnTo>
                  <a:close/>
                </a:path>
              </a:pathLst>
            </a:custGeom>
            <a:blipFill>
              <a:blip r:embed="rId3"/>
              <a:stretch>
                <a:fillRect l="-5490"/>
              </a:stretch>
            </a:blipFill>
          </p:spPr>
          <p:txBody>
            <a:bodyPr/>
            <a:lstStyle/>
            <a:p>
              <a:endParaRPr lang="en-IN"/>
            </a:p>
          </p:txBody>
        </p:sp>
      </p:grpSp>
      <p:sp>
        <p:nvSpPr>
          <p:cNvPr id="12" name="TextBox 11">
            <a:extLst>
              <a:ext uri="{FF2B5EF4-FFF2-40B4-BE49-F238E27FC236}">
                <a16:creationId xmlns:a16="http://schemas.microsoft.com/office/drawing/2014/main" id="{8B5929E0-6655-1118-BE7D-184BA1E75FDA}"/>
              </a:ext>
            </a:extLst>
          </p:cNvPr>
          <p:cNvSpPr txBox="1"/>
          <p:nvPr/>
        </p:nvSpPr>
        <p:spPr>
          <a:xfrm>
            <a:off x="282046" y="1232269"/>
            <a:ext cx="9839376" cy="360098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sz="1400" b="1">
                <a:latin typeface="Arial"/>
                <a:ea typeface="+mn-lt"/>
                <a:cs typeface="+mn-lt"/>
              </a:rPr>
              <a:t>AI-driven career readiness platform</a:t>
            </a:r>
            <a:r>
              <a:rPr lang="en-US" sz="1400">
                <a:latin typeface="Arial"/>
                <a:ea typeface="+mn-lt"/>
                <a:cs typeface="+mn-lt"/>
              </a:rPr>
              <a:t> for final-year students and early professionals preparing for technical roles.</a:t>
            </a:r>
            <a:endParaRPr lang="en-US">
              <a:latin typeface="Arial"/>
              <a:cs typeface="Arial"/>
            </a:endParaRPr>
          </a:p>
          <a:p>
            <a:pPr marL="285750" indent="-285750">
              <a:buFont typeface="Arial"/>
              <a:buChar char="•"/>
            </a:pPr>
            <a:r>
              <a:rPr lang="en-US" sz="1400" b="1">
                <a:latin typeface="Arial"/>
                <a:ea typeface="+mn-lt"/>
                <a:cs typeface="+mn-lt"/>
              </a:rPr>
              <a:t>End-to-end guidance</a:t>
            </a:r>
            <a:r>
              <a:rPr lang="en-US" sz="1400">
                <a:latin typeface="Arial"/>
                <a:ea typeface="+mn-lt"/>
                <a:cs typeface="+mn-lt"/>
              </a:rPr>
              <a:t>: skill evaluation → job readiness (structured &amp; measurable)</a:t>
            </a:r>
            <a:endParaRPr lang="en-US">
              <a:latin typeface="Arial"/>
              <a:cs typeface="Arial"/>
            </a:endParaRPr>
          </a:p>
          <a:p>
            <a:pPr marL="285750" indent="-285750">
              <a:buFont typeface="Arial"/>
              <a:buChar char="•"/>
            </a:pPr>
            <a:r>
              <a:rPr lang="en-US" sz="1400" b="1">
                <a:latin typeface="Arial"/>
                <a:ea typeface="+mn-lt"/>
                <a:cs typeface="+mn-lt"/>
              </a:rPr>
              <a:t>Initial profiling includes</a:t>
            </a:r>
            <a:r>
              <a:rPr lang="en-US" sz="1400">
                <a:latin typeface="Arial"/>
                <a:ea typeface="+mn-lt"/>
                <a:cs typeface="+mn-lt"/>
              </a:rPr>
              <a:t>:</a:t>
            </a:r>
            <a:endParaRPr lang="en-US">
              <a:latin typeface="Arial"/>
              <a:cs typeface="Arial"/>
            </a:endParaRPr>
          </a:p>
          <a:p>
            <a:r>
              <a:rPr lang="en-US" sz="1400">
                <a:latin typeface="Arial"/>
                <a:ea typeface="+mn-lt"/>
                <a:cs typeface="+mn-lt"/>
              </a:rPr>
              <a:t>                Resume analysis</a:t>
            </a:r>
            <a:endParaRPr lang="en-US">
              <a:latin typeface="Arial"/>
              <a:ea typeface="Calibri"/>
              <a:cs typeface="Calibri"/>
            </a:endParaRPr>
          </a:p>
          <a:p>
            <a:r>
              <a:rPr lang="en-US" sz="1400">
                <a:latin typeface="Arial"/>
                <a:ea typeface="+mn-lt"/>
                <a:cs typeface="+mn-lt"/>
              </a:rPr>
              <a:t>                Skill assessment</a:t>
            </a:r>
            <a:endParaRPr lang="en-US">
              <a:latin typeface="Arial"/>
              <a:ea typeface="Calibri"/>
              <a:cs typeface="Calibri"/>
            </a:endParaRPr>
          </a:p>
          <a:p>
            <a:r>
              <a:rPr lang="en-US" sz="1400">
                <a:latin typeface="Arial"/>
                <a:ea typeface="+mn-lt"/>
                <a:cs typeface="+mn-lt"/>
              </a:rPr>
              <a:t>                Market insights</a:t>
            </a:r>
            <a:endParaRPr lang="en-US">
              <a:latin typeface="Arial"/>
              <a:ea typeface="Calibri"/>
              <a:cs typeface="Calibri"/>
            </a:endParaRPr>
          </a:p>
          <a:p>
            <a:r>
              <a:rPr lang="en-US" sz="1400">
                <a:latin typeface="Arial"/>
                <a:ea typeface="+mn-lt"/>
                <a:cs typeface="+mn-lt"/>
              </a:rPr>
              <a:t>                Job / internship recommendations</a:t>
            </a:r>
            <a:endParaRPr lang="en-US">
              <a:latin typeface="Arial"/>
              <a:ea typeface="Calibri"/>
              <a:cs typeface="Calibri"/>
            </a:endParaRPr>
          </a:p>
          <a:p>
            <a:r>
              <a:rPr lang="en-US" sz="1400">
                <a:latin typeface="Arial"/>
                <a:ea typeface="+mn-lt"/>
                <a:cs typeface="+mn-lt"/>
              </a:rPr>
              <a:t>                Role-specific resume tailoring</a:t>
            </a:r>
            <a:endParaRPr lang="en-US">
              <a:latin typeface="Arial"/>
              <a:ea typeface="Calibri"/>
              <a:cs typeface="Calibri"/>
            </a:endParaRPr>
          </a:p>
          <a:p>
            <a:pPr marL="285750" indent="-285750">
              <a:buFont typeface="Arial"/>
              <a:buChar char="•"/>
            </a:pPr>
            <a:r>
              <a:rPr lang="en-US" sz="1400" b="1">
                <a:latin typeface="Arial"/>
                <a:ea typeface="+mn-lt"/>
                <a:cs typeface="+mn-lt"/>
              </a:rPr>
              <a:t>Three-level adaptive assessment framework</a:t>
            </a:r>
            <a:r>
              <a:rPr lang="en-US" sz="1400">
                <a:latin typeface="Arial"/>
                <a:ea typeface="+mn-lt"/>
                <a:cs typeface="+mn-lt"/>
              </a:rPr>
              <a:t>:</a:t>
            </a:r>
            <a:endParaRPr lang="en-US">
              <a:latin typeface="Arial"/>
              <a:cs typeface="Arial"/>
            </a:endParaRPr>
          </a:p>
          <a:p>
            <a:r>
              <a:rPr lang="en-US" sz="1400">
                <a:latin typeface="Arial"/>
                <a:ea typeface="+mn-lt"/>
                <a:cs typeface="+mn-lt"/>
              </a:rPr>
              <a:t>     Medium – MCQs</a:t>
            </a:r>
            <a:endParaRPr lang="en-US">
              <a:latin typeface="Arial"/>
              <a:ea typeface="Calibri"/>
              <a:cs typeface="Calibri"/>
            </a:endParaRPr>
          </a:p>
          <a:p>
            <a:r>
              <a:rPr lang="en-US" sz="1400">
                <a:latin typeface="Arial"/>
                <a:ea typeface="+mn-lt"/>
                <a:cs typeface="+mn-lt"/>
              </a:rPr>
              <a:t>                Hard – MCQs</a:t>
            </a:r>
            <a:endParaRPr lang="en-US">
              <a:latin typeface="Arial"/>
              <a:ea typeface="Calibri"/>
              <a:cs typeface="Calibri"/>
            </a:endParaRPr>
          </a:p>
          <a:p>
            <a:r>
              <a:rPr lang="en-US" sz="1400">
                <a:latin typeface="Arial"/>
                <a:ea typeface="+mn-lt"/>
                <a:cs typeface="+mn-lt"/>
              </a:rPr>
              <a:t>                Difficult – Coding</a:t>
            </a:r>
            <a:endParaRPr lang="en-US">
              <a:latin typeface="Arial"/>
              <a:ea typeface="Calibri"/>
              <a:cs typeface="Calibri"/>
            </a:endParaRPr>
          </a:p>
          <a:p>
            <a:pPr marL="285750" indent="-285750">
              <a:buFont typeface="Arial"/>
              <a:buChar char="•"/>
            </a:pPr>
            <a:r>
              <a:rPr lang="en-US" sz="1400" b="1">
                <a:latin typeface="Arial"/>
                <a:ea typeface="+mn-lt"/>
                <a:cs typeface="+mn-lt"/>
              </a:rPr>
              <a:t>Clear level-wise cutoffs with personalized feedback</a:t>
            </a:r>
            <a:r>
              <a:rPr lang="en-US" sz="1400">
                <a:latin typeface="Arial"/>
                <a:ea typeface="+mn-lt"/>
                <a:cs typeface="+mn-lt"/>
              </a:rPr>
              <a:t> based on the exact point of failure</a:t>
            </a:r>
            <a:endParaRPr lang="en-US" sz="1400">
              <a:latin typeface="Arial"/>
              <a:ea typeface="Calibri"/>
              <a:cs typeface="Calibri"/>
            </a:endParaRPr>
          </a:p>
          <a:p>
            <a:pPr marL="285750" indent="-285750">
              <a:buFont typeface="Arial"/>
              <a:buChar char="•"/>
            </a:pPr>
            <a:r>
              <a:rPr lang="en-US" sz="1400" b="1">
                <a:latin typeface="Arial"/>
                <a:ea typeface="+mn-lt"/>
                <a:cs typeface="+mn-lt"/>
              </a:rPr>
              <a:t>Targeted improvement guidance and AI-powered mock interviews</a:t>
            </a:r>
            <a:r>
              <a:rPr lang="en-US" sz="1400">
                <a:latin typeface="Arial"/>
                <a:ea typeface="+mn-lt"/>
                <a:cs typeface="+mn-lt"/>
              </a:rPr>
              <a:t> based on user performance</a:t>
            </a:r>
            <a:endParaRPr lang="en-US" sz="1400">
              <a:latin typeface="Arial"/>
              <a:ea typeface="Calibri"/>
              <a:cs typeface="Calibri"/>
            </a:endParaRPr>
          </a:p>
          <a:p>
            <a:pPr marL="285750" indent="-285750">
              <a:buFont typeface="Arial"/>
              <a:buChar char="•"/>
            </a:pPr>
            <a:r>
              <a:rPr lang="en-US" sz="1400" b="1">
                <a:latin typeface="Arial"/>
                <a:ea typeface="+mn-lt"/>
                <a:cs typeface="+mn-lt"/>
              </a:rPr>
              <a:t>Interview evaluation focuses on</a:t>
            </a:r>
            <a:r>
              <a:rPr lang="en-US" sz="1400">
                <a:latin typeface="Arial"/>
                <a:ea typeface="+mn-lt"/>
                <a:cs typeface="+mn-lt"/>
              </a:rPr>
              <a:t> communication, confidence, and professional behavior</a:t>
            </a:r>
            <a:endParaRPr lang="en-US">
              <a:latin typeface="Arial"/>
              <a:cs typeface="Arial"/>
            </a:endParaRPr>
          </a:p>
          <a:p>
            <a:pPr marL="285750" indent="-285750">
              <a:buFont typeface="Arial"/>
              <a:buChar char="•"/>
            </a:pPr>
            <a:r>
              <a:rPr lang="en-US" sz="1400">
                <a:latin typeface="Arial"/>
                <a:cs typeface="Arial"/>
              </a:rPr>
              <a:t>Designed to help users clearly understand </a:t>
            </a:r>
            <a:r>
              <a:rPr lang="en-US" sz="1400" b="1">
                <a:latin typeface="Arial"/>
                <a:cs typeface="Arial"/>
              </a:rPr>
              <a:t>where they are falling short</a:t>
            </a:r>
          </a:p>
        </p:txBody>
      </p:sp>
      <p:sp>
        <p:nvSpPr>
          <p:cNvPr id="11" name="TextBox 10">
            <a:extLst>
              <a:ext uri="{FF2B5EF4-FFF2-40B4-BE49-F238E27FC236}">
                <a16:creationId xmlns:a16="http://schemas.microsoft.com/office/drawing/2014/main" id="{CEB65F8E-0E7B-E457-7A04-855AF1F62329}"/>
              </a:ext>
            </a:extLst>
          </p:cNvPr>
          <p:cNvSpPr txBox="1"/>
          <p:nvPr/>
        </p:nvSpPr>
        <p:spPr>
          <a:xfrm>
            <a:off x="404502" y="685406"/>
            <a:ext cx="5741688" cy="4385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250" b="1">
                <a:latin typeface="Garet"/>
                <a:ea typeface="+mn-lt"/>
                <a:cs typeface="+mn-lt"/>
              </a:rPr>
              <a:t>Idea Overview</a:t>
            </a:r>
            <a:endParaRPr lang="en-US" sz="2250" b="1">
              <a:latin typeface="Gare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5004014"/>
            <a:ext cx="10287000" cy="387136"/>
            <a:chOff x="0" y="0"/>
            <a:chExt cx="5169753" cy="194556"/>
          </a:xfrm>
        </p:grpSpPr>
        <p:sp>
          <p:nvSpPr>
            <p:cNvPr id="3" name="Freeform 3"/>
            <p:cNvSpPr/>
            <p:nvPr/>
          </p:nvSpPr>
          <p:spPr>
            <a:xfrm>
              <a:off x="0" y="0"/>
              <a:ext cx="5169753" cy="194556"/>
            </a:xfrm>
            <a:custGeom>
              <a:avLst/>
              <a:gdLst/>
              <a:ahLst/>
              <a:cxnLst/>
              <a:rect l="l" t="t" r="r" b="b"/>
              <a:pathLst>
                <a:path w="5169753" h="194556">
                  <a:moveTo>
                    <a:pt x="0" y="0"/>
                  </a:moveTo>
                  <a:lnTo>
                    <a:pt x="5169753" y="0"/>
                  </a:lnTo>
                  <a:lnTo>
                    <a:pt x="5169753" y="194556"/>
                  </a:lnTo>
                  <a:lnTo>
                    <a:pt x="0" y="194556"/>
                  </a:lnTo>
                  <a:close/>
                </a:path>
              </a:pathLst>
            </a:custGeom>
            <a:solidFill>
              <a:srgbClr val="000000"/>
            </a:solidFill>
          </p:spPr>
          <p:txBody>
            <a:bodyPr/>
            <a:lstStyle/>
            <a:p>
              <a:endParaRPr lang="en-IN"/>
            </a:p>
          </p:txBody>
        </p:sp>
        <p:sp>
          <p:nvSpPr>
            <p:cNvPr id="4" name="TextBox 4"/>
            <p:cNvSpPr txBox="1"/>
            <p:nvPr/>
          </p:nvSpPr>
          <p:spPr>
            <a:xfrm>
              <a:off x="0" y="-19050"/>
              <a:ext cx="5169753" cy="213606"/>
            </a:xfrm>
            <a:prstGeom prst="rect">
              <a:avLst/>
            </a:prstGeom>
          </p:spPr>
          <p:txBody>
            <a:bodyPr lIns="50800" tIns="50800" rIns="50800" bIns="50800" rtlCol="0" anchor="ctr"/>
            <a:lstStyle/>
            <a:p>
              <a:pPr algn="ctr">
                <a:lnSpc>
                  <a:spcPts val="1399"/>
                </a:lnSpc>
                <a:spcBef>
                  <a:spcPct val="0"/>
                </a:spcBef>
              </a:pPr>
              <a:endParaRPr/>
            </a:p>
          </p:txBody>
        </p:sp>
      </p:grpSp>
      <p:grpSp>
        <p:nvGrpSpPr>
          <p:cNvPr id="5" name="Group 5"/>
          <p:cNvGrpSpPr/>
          <p:nvPr/>
        </p:nvGrpSpPr>
        <p:grpSpPr>
          <a:xfrm>
            <a:off x="0" y="-14327"/>
            <a:ext cx="10287000" cy="651243"/>
            <a:chOff x="0" y="0"/>
            <a:chExt cx="5169753" cy="327283"/>
          </a:xfrm>
        </p:grpSpPr>
        <p:sp>
          <p:nvSpPr>
            <p:cNvPr id="6" name="Freeform 6"/>
            <p:cNvSpPr/>
            <p:nvPr/>
          </p:nvSpPr>
          <p:spPr>
            <a:xfrm>
              <a:off x="0" y="0"/>
              <a:ext cx="5169753" cy="327283"/>
            </a:xfrm>
            <a:custGeom>
              <a:avLst/>
              <a:gdLst/>
              <a:ahLst/>
              <a:cxnLst/>
              <a:rect l="l" t="t" r="r" b="b"/>
              <a:pathLst>
                <a:path w="5169753" h="327283">
                  <a:moveTo>
                    <a:pt x="0" y="0"/>
                  </a:moveTo>
                  <a:lnTo>
                    <a:pt x="5169753" y="0"/>
                  </a:lnTo>
                  <a:lnTo>
                    <a:pt x="5169753" y="327283"/>
                  </a:lnTo>
                  <a:lnTo>
                    <a:pt x="0" y="327283"/>
                  </a:lnTo>
                  <a:close/>
                </a:path>
              </a:pathLst>
            </a:custGeom>
            <a:solidFill>
              <a:srgbClr val="000000"/>
            </a:solidFill>
          </p:spPr>
          <p:txBody>
            <a:bodyPr/>
            <a:lstStyle/>
            <a:p>
              <a:endParaRPr lang="en-IN"/>
            </a:p>
          </p:txBody>
        </p:sp>
        <p:sp>
          <p:nvSpPr>
            <p:cNvPr id="7" name="TextBox 7"/>
            <p:cNvSpPr txBox="1"/>
            <p:nvPr/>
          </p:nvSpPr>
          <p:spPr>
            <a:xfrm>
              <a:off x="0" y="-19050"/>
              <a:ext cx="5169753" cy="346333"/>
            </a:xfrm>
            <a:prstGeom prst="rect">
              <a:avLst/>
            </a:prstGeom>
          </p:spPr>
          <p:txBody>
            <a:bodyPr lIns="50800" tIns="50800" rIns="50800" bIns="50800" rtlCol="0" anchor="ctr"/>
            <a:lstStyle/>
            <a:p>
              <a:pPr algn="ctr">
                <a:lnSpc>
                  <a:spcPts val="1399"/>
                </a:lnSpc>
                <a:spcBef>
                  <a:spcPct val="0"/>
                </a:spcBef>
              </a:pPr>
              <a:endParaRPr/>
            </a:p>
          </p:txBody>
        </p:sp>
      </p:grpSp>
      <p:grpSp>
        <p:nvGrpSpPr>
          <p:cNvPr id="8" name="Group 8"/>
          <p:cNvGrpSpPr/>
          <p:nvPr/>
        </p:nvGrpSpPr>
        <p:grpSpPr>
          <a:xfrm>
            <a:off x="3903074" y="-14327"/>
            <a:ext cx="2480852" cy="651243"/>
            <a:chOff x="0" y="0"/>
            <a:chExt cx="3307803" cy="868323"/>
          </a:xfrm>
        </p:grpSpPr>
        <p:sp>
          <p:nvSpPr>
            <p:cNvPr id="9" name="Freeform 9"/>
            <p:cNvSpPr/>
            <p:nvPr/>
          </p:nvSpPr>
          <p:spPr>
            <a:xfrm>
              <a:off x="0" y="0"/>
              <a:ext cx="794159" cy="868323"/>
            </a:xfrm>
            <a:custGeom>
              <a:avLst/>
              <a:gdLst/>
              <a:ahLst/>
              <a:cxnLst/>
              <a:rect l="l" t="t" r="r" b="b"/>
              <a:pathLst>
                <a:path w="794159" h="868323">
                  <a:moveTo>
                    <a:pt x="0" y="0"/>
                  </a:moveTo>
                  <a:lnTo>
                    <a:pt x="794159" y="0"/>
                  </a:lnTo>
                  <a:lnTo>
                    <a:pt x="794159" y="868323"/>
                  </a:lnTo>
                  <a:lnTo>
                    <a:pt x="0" y="868323"/>
                  </a:lnTo>
                  <a:lnTo>
                    <a:pt x="0" y="0"/>
                  </a:lnTo>
                  <a:close/>
                </a:path>
              </a:pathLst>
            </a:custGeom>
            <a:blipFill>
              <a:blip r:embed="rId2"/>
              <a:stretch>
                <a:fillRect r="-9338"/>
              </a:stretch>
            </a:blipFill>
          </p:spPr>
          <p:txBody>
            <a:bodyPr/>
            <a:lstStyle/>
            <a:p>
              <a:endParaRPr lang="en-IN"/>
            </a:p>
          </p:txBody>
        </p:sp>
        <p:sp>
          <p:nvSpPr>
            <p:cNvPr id="10" name="Freeform 10"/>
            <p:cNvSpPr/>
            <p:nvPr/>
          </p:nvSpPr>
          <p:spPr>
            <a:xfrm>
              <a:off x="895759" y="0"/>
              <a:ext cx="2412045" cy="849221"/>
            </a:xfrm>
            <a:custGeom>
              <a:avLst/>
              <a:gdLst/>
              <a:ahLst/>
              <a:cxnLst/>
              <a:rect l="l" t="t" r="r" b="b"/>
              <a:pathLst>
                <a:path w="2412045" h="849221">
                  <a:moveTo>
                    <a:pt x="0" y="0"/>
                  </a:moveTo>
                  <a:lnTo>
                    <a:pt x="2412044" y="0"/>
                  </a:lnTo>
                  <a:lnTo>
                    <a:pt x="2412044" y="849221"/>
                  </a:lnTo>
                  <a:lnTo>
                    <a:pt x="0" y="849221"/>
                  </a:lnTo>
                  <a:lnTo>
                    <a:pt x="0" y="0"/>
                  </a:lnTo>
                  <a:close/>
                </a:path>
              </a:pathLst>
            </a:custGeom>
            <a:blipFill>
              <a:blip r:embed="rId3"/>
              <a:stretch>
                <a:fillRect l="-5490"/>
              </a:stretch>
            </a:blipFill>
          </p:spPr>
          <p:txBody>
            <a:bodyPr/>
            <a:lstStyle/>
            <a:p>
              <a:endParaRPr lang="en-IN"/>
            </a:p>
          </p:txBody>
        </p:sp>
      </p:grpSp>
      <p:sp>
        <p:nvSpPr>
          <p:cNvPr id="11" name="TextBox 11"/>
          <p:cNvSpPr txBox="1"/>
          <p:nvPr/>
        </p:nvSpPr>
        <p:spPr>
          <a:xfrm>
            <a:off x="268261" y="633330"/>
            <a:ext cx="8098139" cy="1118255"/>
          </a:xfrm>
          <a:prstGeom prst="rect">
            <a:avLst/>
          </a:prstGeom>
        </p:spPr>
        <p:txBody>
          <a:bodyPr wrap="square" lIns="0" tIns="0" rIns="0" bIns="0" rtlCol="0" anchor="t">
            <a:spAutoFit/>
          </a:bodyPr>
          <a:lstStyle/>
          <a:p>
            <a:pPr algn="just">
              <a:lnSpc>
                <a:spcPts val="3203"/>
              </a:lnSpc>
            </a:pPr>
            <a:r>
              <a:rPr lang="en-US" sz="2250" b="1">
                <a:solidFill>
                  <a:srgbClr val="000000"/>
                </a:solidFill>
                <a:latin typeface="Garet"/>
                <a:ea typeface="Garet"/>
                <a:cs typeface="Garet"/>
                <a:sym typeface="Garet"/>
              </a:rPr>
              <a:t>Opportunity</a:t>
            </a:r>
            <a:endParaRPr lang="en-US" sz="2250" b="1">
              <a:solidFill>
                <a:srgbClr val="000000"/>
              </a:solidFill>
              <a:latin typeface="Garet"/>
              <a:ea typeface="Garet"/>
              <a:cs typeface="Garet"/>
            </a:endParaRPr>
          </a:p>
          <a:p>
            <a:pPr lvl="1" algn="just"/>
            <a:endParaRPr lang="en-US" sz="1400" b="1">
              <a:solidFill>
                <a:srgbClr val="000000"/>
              </a:solidFill>
              <a:latin typeface="Arial"/>
              <a:ea typeface="Calibri"/>
              <a:cs typeface="Arial"/>
            </a:endParaRPr>
          </a:p>
          <a:p>
            <a:pPr lvl="2" algn="just"/>
            <a:endParaRPr lang="en-US">
              <a:latin typeface="Arial"/>
              <a:ea typeface="Calibri"/>
              <a:cs typeface="Arial"/>
            </a:endParaRPr>
          </a:p>
          <a:p>
            <a:pPr marL="285750" indent="-285750" algn="just">
              <a:buFont typeface="Wingdings"/>
              <a:buChar char="§"/>
            </a:pPr>
            <a:endParaRPr lang="en-US" sz="1400">
              <a:latin typeface="Arial"/>
              <a:ea typeface="Calibri"/>
              <a:cs typeface="Arial"/>
            </a:endParaRPr>
          </a:p>
        </p:txBody>
      </p:sp>
      <p:sp>
        <p:nvSpPr>
          <p:cNvPr id="12" name="TextBox 11">
            <a:extLst>
              <a:ext uri="{FF2B5EF4-FFF2-40B4-BE49-F238E27FC236}">
                <a16:creationId xmlns:a16="http://schemas.microsoft.com/office/drawing/2014/main" id="{FFCC7C1B-331F-F51A-7799-0DA88379AD36}"/>
              </a:ext>
            </a:extLst>
          </p:cNvPr>
          <p:cNvSpPr txBox="1"/>
          <p:nvPr/>
        </p:nvSpPr>
        <p:spPr>
          <a:xfrm>
            <a:off x="347743" y="1214657"/>
            <a:ext cx="9348502" cy="295465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dirty="0">
                <a:latin typeface="Arial"/>
                <a:ea typeface="+mn-lt"/>
                <a:cs typeface="+mn-lt"/>
              </a:rPr>
              <a:t>1. How is our idea different?</a:t>
            </a:r>
            <a:br>
              <a:rPr lang="en-US" sz="1400" dirty="0">
                <a:latin typeface="Arial"/>
                <a:ea typeface="+mn-lt"/>
                <a:cs typeface="+mn-lt"/>
              </a:rPr>
            </a:br>
            <a:r>
              <a:rPr lang="en-US" sz="1400" dirty="0">
                <a:latin typeface="Arial"/>
                <a:ea typeface="+mn-lt"/>
                <a:cs typeface="+mn-lt"/>
              </a:rPr>
              <a:t> Our idea goes beyond generic career portals by offering a structured, multi-level evaluation system that compares candidates with profiles that actually get selected, rather than relying on isolated resume reviews or aptitude tests.</a:t>
            </a:r>
          </a:p>
          <a:p>
            <a:endParaRPr lang="en-US" sz="1400" dirty="0">
              <a:latin typeface="Arial"/>
              <a:ea typeface="Calibri"/>
              <a:cs typeface="Calibri"/>
            </a:endParaRPr>
          </a:p>
          <a:p>
            <a:r>
              <a:rPr lang="en-US" sz="1400" b="1" dirty="0">
                <a:latin typeface="Arial"/>
                <a:ea typeface="+mn-lt"/>
                <a:cs typeface="+mn-lt"/>
              </a:rPr>
              <a:t>2. How does it solve the problem?</a:t>
            </a:r>
            <a:br>
              <a:rPr lang="en-US" sz="1400" dirty="0">
                <a:latin typeface="Arial"/>
                <a:ea typeface="+mn-lt"/>
                <a:cs typeface="+mn-lt"/>
              </a:rPr>
            </a:br>
            <a:r>
              <a:rPr lang="en-US" sz="1400" dirty="0">
                <a:latin typeface="Arial"/>
                <a:ea typeface="+mn-lt"/>
                <a:cs typeface="+mn-lt"/>
              </a:rPr>
              <a:t> It measures real job readiness through progressive difficulty assessments and level-based feedback, helping users understand not just where they scored low, but why they fall short compared to candidates who get selected especially after repeated rejections without clarity on the exact gaps.</a:t>
            </a:r>
          </a:p>
          <a:p>
            <a:endParaRPr lang="en-US" sz="1400" dirty="0">
              <a:latin typeface="Arial"/>
              <a:ea typeface="Calibri"/>
              <a:cs typeface="Calibri"/>
            </a:endParaRPr>
          </a:p>
          <a:p>
            <a:r>
              <a:rPr lang="en-US" sz="1400" b="1" dirty="0">
                <a:latin typeface="Arial"/>
                <a:ea typeface="+mn-lt"/>
                <a:cs typeface="+mn-lt"/>
              </a:rPr>
              <a:t>3. USP of the solution</a:t>
            </a:r>
            <a:br>
              <a:rPr lang="en-US" sz="1400" dirty="0">
                <a:latin typeface="Arial"/>
                <a:ea typeface="+mn-lt"/>
                <a:cs typeface="+mn-lt"/>
              </a:rPr>
            </a:br>
            <a:r>
              <a:rPr lang="en-US" sz="1400" dirty="0">
                <a:latin typeface="Arial"/>
                <a:ea typeface="+mn-lt"/>
                <a:cs typeface="+mn-lt"/>
              </a:rPr>
              <a:t> • </a:t>
            </a:r>
            <a:r>
              <a:rPr lang="en-US" sz="1400" dirty="0">
                <a:latin typeface="Arial" panose="020B0604020202020204" pitchFamily="34" charset="0"/>
                <a:ea typeface="+mn-lt"/>
                <a:cs typeface="Arial" panose="020B0604020202020204" pitchFamily="34" charset="0"/>
              </a:rPr>
              <a:t>Competitor-aware, 3-level adaptive assessment with clear cutoffs</a:t>
            </a:r>
            <a:br>
              <a:rPr lang="en-US" sz="1400" dirty="0">
                <a:latin typeface="Arial" panose="020B0604020202020204" pitchFamily="34" charset="0"/>
                <a:ea typeface="+mn-lt"/>
                <a:cs typeface="Arial" panose="020B0604020202020204" pitchFamily="34" charset="0"/>
              </a:rPr>
            </a:br>
            <a:r>
              <a:rPr lang="en-US" sz="1400" dirty="0">
                <a:latin typeface="Arial" panose="020B0604020202020204" pitchFamily="34" charset="0"/>
                <a:ea typeface="+mn-lt"/>
                <a:cs typeface="Arial" panose="020B0604020202020204" pitchFamily="34" charset="0"/>
              </a:rPr>
              <a:t> • Personalized feedback tied to both performance and comparative gaps</a:t>
            </a:r>
            <a:br>
              <a:rPr lang="en-US" sz="1400" dirty="0">
                <a:latin typeface="Arial" panose="020B0604020202020204" pitchFamily="34" charset="0"/>
                <a:ea typeface="+mn-lt"/>
                <a:cs typeface="Arial" panose="020B0604020202020204" pitchFamily="34" charset="0"/>
              </a:rPr>
            </a:br>
            <a:r>
              <a:rPr lang="en-US" sz="1400" dirty="0">
                <a:latin typeface="Arial" panose="020B0604020202020204" pitchFamily="34" charset="0"/>
                <a:ea typeface="+mn-lt"/>
                <a:cs typeface="Arial" panose="020B0604020202020204" pitchFamily="34" charset="0"/>
              </a:rPr>
              <a:t> • Unified platform for resume analysis, skills validation, testing, and interview readiness</a:t>
            </a:r>
            <a:endParaRPr lang="en-US" sz="1400" dirty="0">
              <a:latin typeface="Arial" panose="020B0604020202020204" pitchFamily="34" charset="0"/>
              <a:cs typeface="Arial" panose="020B060402020202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F90ABD-6054-5BE4-E46A-ED3ED2BF9DD9}"/>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44AB4621-EE97-3DB9-AF72-073C4E5F1045}"/>
              </a:ext>
            </a:extLst>
          </p:cNvPr>
          <p:cNvGrpSpPr/>
          <p:nvPr/>
        </p:nvGrpSpPr>
        <p:grpSpPr>
          <a:xfrm>
            <a:off x="0" y="5004014"/>
            <a:ext cx="10287000" cy="387136"/>
            <a:chOff x="0" y="0"/>
            <a:chExt cx="5169753" cy="194556"/>
          </a:xfrm>
        </p:grpSpPr>
        <p:sp>
          <p:nvSpPr>
            <p:cNvPr id="3" name="Freeform 3">
              <a:extLst>
                <a:ext uri="{FF2B5EF4-FFF2-40B4-BE49-F238E27FC236}">
                  <a16:creationId xmlns:a16="http://schemas.microsoft.com/office/drawing/2014/main" id="{6D47EDA6-3B2F-1C38-BC4D-F248AE9C8BF7}"/>
                </a:ext>
              </a:extLst>
            </p:cNvPr>
            <p:cNvSpPr/>
            <p:nvPr/>
          </p:nvSpPr>
          <p:spPr>
            <a:xfrm>
              <a:off x="0" y="0"/>
              <a:ext cx="5169753" cy="194556"/>
            </a:xfrm>
            <a:custGeom>
              <a:avLst/>
              <a:gdLst/>
              <a:ahLst/>
              <a:cxnLst/>
              <a:rect l="l" t="t" r="r" b="b"/>
              <a:pathLst>
                <a:path w="5169753" h="194556">
                  <a:moveTo>
                    <a:pt x="0" y="0"/>
                  </a:moveTo>
                  <a:lnTo>
                    <a:pt x="5169753" y="0"/>
                  </a:lnTo>
                  <a:lnTo>
                    <a:pt x="5169753" y="194556"/>
                  </a:lnTo>
                  <a:lnTo>
                    <a:pt x="0" y="194556"/>
                  </a:lnTo>
                  <a:close/>
                </a:path>
              </a:pathLst>
            </a:custGeom>
            <a:solidFill>
              <a:srgbClr val="000000"/>
            </a:solidFill>
          </p:spPr>
          <p:txBody>
            <a:bodyPr/>
            <a:lstStyle/>
            <a:p>
              <a:endParaRPr lang="en-IN"/>
            </a:p>
          </p:txBody>
        </p:sp>
        <p:sp>
          <p:nvSpPr>
            <p:cNvPr id="4" name="TextBox 4">
              <a:extLst>
                <a:ext uri="{FF2B5EF4-FFF2-40B4-BE49-F238E27FC236}">
                  <a16:creationId xmlns:a16="http://schemas.microsoft.com/office/drawing/2014/main" id="{EEE08CDF-4531-58FF-9F16-3D5B9AEB13D0}"/>
                </a:ext>
              </a:extLst>
            </p:cNvPr>
            <p:cNvSpPr txBox="1"/>
            <p:nvPr/>
          </p:nvSpPr>
          <p:spPr>
            <a:xfrm>
              <a:off x="0" y="-19050"/>
              <a:ext cx="5169753" cy="213606"/>
            </a:xfrm>
            <a:prstGeom prst="rect">
              <a:avLst/>
            </a:prstGeom>
          </p:spPr>
          <p:txBody>
            <a:bodyPr lIns="50800" tIns="50800" rIns="50800" bIns="50800" rtlCol="0" anchor="ctr"/>
            <a:lstStyle/>
            <a:p>
              <a:pPr algn="ctr">
                <a:lnSpc>
                  <a:spcPts val="1399"/>
                </a:lnSpc>
                <a:spcBef>
                  <a:spcPct val="0"/>
                </a:spcBef>
              </a:pPr>
              <a:endParaRPr/>
            </a:p>
          </p:txBody>
        </p:sp>
      </p:grpSp>
      <p:grpSp>
        <p:nvGrpSpPr>
          <p:cNvPr id="5" name="Group 5">
            <a:extLst>
              <a:ext uri="{FF2B5EF4-FFF2-40B4-BE49-F238E27FC236}">
                <a16:creationId xmlns:a16="http://schemas.microsoft.com/office/drawing/2014/main" id="{27F819F6-8264-D0A4-7CC2-BBE61AB07172}"/>
              </a:ext>
            </a:extLst>
          </p:cNvPr>
          <p:cNvGrpSpPr/>
          <p:nvPr/>
        </p:nvGrpSpPr>
        <p:grpSpPr>
          <a:xfrm>
            <a:off x="0" y="-14327"/>
            <a:ext cx="10287000" cy="651243"/>
            <a:chOff x="0" y="0"/>
            <a:chExt cx="5169753" cy="327283"/>
          </a:xfrm>
        </p:grpSpPr>
        <p:sp>
          <p:nvSpPr>
            <p:cNvPr id="6" name="Freeform 6">
              <a:extLst>
                <a:ext uri="{FF2B5EF4-FFF2-40B4-BE49-F238E27FC236}">
                  <a16:creationId xmlns:a16="http://schemas.microsoft.com/office/drawing/2014/main" id="{5A02110B-F5E7-3BAD-AD33-9CD837895E72}"/>
                </a:ext>
              </a:extLst>
            </p:cNvPr>
            <p:cNvSpPr/>
            <p:nvPr/>
          </p:nvSpPr>
          <p:spPr>
            <a:xfrm>
              <a:off x="0" y="0"/>
              <a:ext cx="5169753" cy="327283"/>
            </a:xfrm>
            <a:custGeom>
              <a:avLst/>
              <a:gdLst/>
              <a:ahLst/>
              <a:cxnLst/>
              <a:rect l="l" t="t" r="r" b="b"/>
              <a:pathLst>
                <a:path w="5169753" h="327283">
                  <a:moveTo>
                    <a:pt x="0" y="0"/>
                  </a:moveTo>
                  <a:lnTo>
                    <a:pt x="5169753" y="0"/>
                  </a:lnTo>
                  <a:lnTo>
                    <a:pt x="5169753" y="327283"/>
                  </a:lnTo>
                  <a:lnTo>
                    <a:pt x="0" y="327283"/>
                  </a:lnTo>
                  <a:close/>
                </a:path>
              </a:pathLst>
            </a:custGeom>
            <a:solidFill>
              <a:srgbClr val="000000"/>
            </a:solidFill>
          </p:spPr>
          <p:txBody>
            <a:bodyPr/>
            <a:lstStyle/>
            <a:p>
              <a:endParaRPr lang="en-IN"/>
            </a:p>
          </p:txBody>
        </p:sp>
        <p:sp>
          <p:nvSpPr>
            <p:cNvPr id="7" name="TextBox 7">
              <a:extLst>
                <a:ext uri="{FF2B5EF4-FFF2-40B4-BE49-F238E27FC236}">
                  <a16:creationId xmlns:a16="http://schemas.microsoft.com/office/drawing/2014/main" id="{081F36BA-4E45-053A-2025-D22E44B2B72D}"/>
                </a:ext>
              </a:extLst>
            </p:cNvPr>
            <p:cNvSpPr txBox="1"/>
            <p:nvPr/>
          </p:nvSpPr>
          <p:spPr>
            <a:xfrm>
              <a:off x="0" y="-19050"/>
              <a:ext cx="5169753" cy="346333"/>
            </a:xfrm>
            <a:prstGeom prst="rect">
              <a:avLst/>
            </a:prstGeom>
          </p:spPr>
          <p:txBody>
            <a:bodyPr lIns="50800" tIns="50800" rIns="50800" bIns="50800" rtlCol="0" anchor="ctr"/>
            <a:lstStyle/>
            <a:p>
              <a:pPr algn="ctr">
                <a:lnSpc>
                  <a:spcPts val="1399"/>
                </a:lnSpc>
                <a:spcBef>
                  <a:spcPct val="0"/>
                </a:spcBef>
              </a:pPr>
              <a:endParaRPr/>
            </a:p>
          </p:txBody>
        </p:sp>
      </p:grpSp>
      <p:grpSp>
        <p:nvGrpSpPr>
          <p:cNvPr id="8" name="Group 8">
            <a:extLst>
              <a:ext uri="{FF2B5EF4-FFF2-40B4-BE49-F238E27FC236}">
                <a16:creationId xmlns:a16="http://schemas.microsoft.com/office/drawing/2014/main" id="{105E8BFE-FACA-F7B8-8823-8CF2DBC37DC5}"/>
              </a:ext>
            </a:extLst>
          </p:cNvPr>
          <p:cNvGrpSpPr/>
          <p:nvPr/>
        </p:nvGrpSpPr>
        <p:grpSpPr>
          <a:xfrm>
            <a:off x="3903074" y="-14327"/>
            <a:ext cx="2480852" cy="651243"/>
            <a:chOff x="0" y="0"/>
            <a:chExt cx="3307803" cy="868323"/>
          </a:xfrm>
        </p:grpSpPr>
        <p:sp>
          <p:nvSpPr>
            <p:cNvPr id="9" name="Freeform 9">
              <a:extLst>
                <a:ext uri="{FF2B5EF4-FFF2-40B4-BE49-F238E27FC236}">
                  <a16:creationId xmlns:a16="http://schemas.microsoft.com/office/drawing/2014/main" id="{4FCBF062-7F1D-5A67-88F7-70BDAE37902C}"/>
                </a:ext>
              </a:extLst>
            </p:cNvPr>
            <p:cNvSpPr/>
            <p:nvPr/>
          </p:nvSpPr>
          <p:spPr>
            <a:xfrm>
              <a:off x="0" y="0"/>
              <a:ext cx="794159" cy="868323"/>
            </a:xfrm>
            <a:custGeom>
              <a:avLst/>
              <a:gdLst/>
              <a:ahLst/>
              <a:cxnLst/>
              <a:rect l="l" t="t" r="r" b="b"/>
              <a:pathLst>
                <a:path w="794159" h="868323">
                  <a:moveTo>
                    <a:pt x="0" y="0"/>
                  </a:moveTo>
                  <a:lnTo>
                    <a:pt x="794159" y="0"/>
                  </a:lnTo>
                  <a:lnTo>
                    <a:pt x="794159" y="868323"/>
                  </a:lnTo>
                  <a:lnTo>
                    <a:pt x="0" y="868323"/>
                  </a:lnTo>
                  <a:lnTo>
                    <a:pt x="0" y="0"/>
                  </a:lnTo>
                  <a:close/>
                </a:path>
              </a:pathLst>
            </a:custGeom>
            <a:blipFill>
              <a:blip r:embed="rId2"/>
              <a:stretch>
                <a:fillRect r="-9338"/>
              </a:stretch>
            </a:blipFill>
          </p:spPr>
          <p:txBody>
            <a:bodyPr/>
            <a:lstStyle/>
            <a:p>
              <a:endParaRPr lang="en-IN"/>
            </a:p>
          </p:txBody>
        </p:sp>
        <p:sp>
          <p:nvSpPr>
            <p:cNvPr id="10" name="Freeform 10">
              <a:extLst>
                <a:ext uri="{FF2B5EF4-FFF2-40B4-BE49-F238E27FC236}">
                  <a16:creationId xmlns:a16="http://schemas.microsoft.com/office/drawing/2014/main" id="{4092A6AA-2C55-2B94-5F8F-72B3F484CDFB}"/>
                </a:ext>
              </a:extLst>
            </p:cNvPr>
            <p:cNvSpPr/>
            <p:nvPr/>
          </p:nvSpPr>
          <p:spPr>
            <a:xfrm>
              <a:off x="895759" y="0"/>
              <a:ext cx="2412045" cy="849221"/>
            </a:xfrm>
            <a:custGeom>
              <a:avLst/>
              <a:gdLst/>
              <a:ahLst/>
              <a:cxnLst/>
              <a:rect l="l" t="t" r="r" b="b"/>
              <a:pathLst>
                <a:path w="2412045" h="849221">
                  <a:moveTo>
                    <a:pt x="0" y="0"/>
                  </a:moveTo>
                  <a:lnTo>
                    <a:pt x="2412044" y="0"/>
                  </a:lnTo>
                  <a:lnTo>
                    <a:pt x="2412044" y="849221"/>
                  </a:lnTo>
                  <a:lnTo>
                    <a:pt x="0" y="849221"/>
                  </a:lnTo>
                  <a:lnTo>
                    <a:pt x="0" y="0"/>
                  </a:lnTo>
                  <a:close/>
                </a:path>
              </a:pathLst>
            </a:custGeom>
            <a:blipFill>
              <a:blip r:embed="rId3"/>
              <a:stretch>
                <a:fillRect l="-5490"/>
              </a:stretch>
            </a:blipFill>
          </p:spPr>
          <p:txBody>
            <a:bodyPr/>
            <a:lstStyle/>
            <a:p>
              <a:endParaRPr lang="en-IN"/>
            </a:p>
          </p:txBody>
        </p:sp>
      </p:grpSp>
      <p:sp>
        <p:nvSpPr>
          <p:cNvPr id="11" name="TextBox 11">
            <a:extLst>
              <a:ext uri="{FF2B5EF4-FFF2-40B4-BE49-F238E27FC236}">
                <a16:creationId xmlns:a16="http://schemas.microsoft.com/office/drawing/2014/main" id="{67FB8573-3762-07B5-F80F-CECE5B3198E6}"/>
              </a:ext>
            </a:extLst>
          </p:cNvPr>
          <p:cNvSpPr txBox="1"/>
          <p:nvPr/>
        </p:nvSpPr>
        <p:spPr>
          <a:xfrm>
            <a:off x="202790" y="637505"/>
            <a:ext cx="9883721" cy="5001369"/>
          </a:xfrm>
          <a:prstGeom prst="rect">
            <a:avLst/>
          </a:prstGeom>
        </p:spPr>
        <p:txBody>
          <a:bodyPr wrap="square" lIns="0" tIns="0" rIns="0" bIns="0" rtlCol="0" anchor="t">
            <a:spAutoFit/>
          </a:bodyPr>
          <a:lstStyle/>
          <a:p>
            <a:r>
              <a:rPr lang="en-US" sz="2250" b="1">
                <a:latin typeface="Garet"/>
                <a:ea typeface="+mn-lt"/>
                <a:cs typeface="+mn-lt"/>
              </a:rPr>
              <a:t>Breaking the Career Black Box: Digital Twin vs Ghost Competitors </a:t>
            </a:r>
            <a:endParaRPr lang="en-US" sz="2250" b="1">
              <a:latin typeface="Garet"/>
              <a:ea typeface="Calibri"/>
              <a:cs typeface="Calibri"/>
            </a:endParaRPr>
          </a:p>
          <a:p>
            <a:pPr algn="just"/>
            <a:endParaRPr lang="en-US" sz="1400" b="1">
              <a:latin typeface="Arial"/>
              <a:ea typeface="Calibri"/>
              <a:cs typeface="Calibri"/>
            </a:endParaRPr>
          </a:p>
          <a:p>
            <a:pPr algn="just"/>
            <a:r>
              <a:rPr lang="en-US" sz="1400" b="1">
                <a:latin typeface="Arial"/>
                <a:cs typeface="Arial"/>
              </a:rPr>
              <a:t>Problem</a:t>
            </a:r>
            <a:endParaRPr lang="en-US" sz="1400">
              <a:latin typeface="Arial"/>
              <a:ea typeface="Calibri"/>
              <a:cs typeface="Arial"/>
            </a:endParaRPr>
          </a:p>
          <a:p>
            <a:pPr marL="285750" indent="-285750" algn="just">
              <a:buFont typeface="Arial"/>
              <a:buChar char="•"/>
            </a:pPr>
            <a:r>
              <a:rPr lang="en-US" sz="1400">
                <a:latin typeface="Arial"/>
                <a:ea typeface="+mn-lt"/>
                <a:cs typeface="+mn-lt"/>
              </a:rPr>
              <a:t>Candidates satisfy job requirements yet get rejected because hiring operates as a </a:t>
            </a:r>
            <a:r>
              <a:rPr lang="en-US" sz="1400" b="1">
                <a:latin typeface="Arial"/>
                <a:ea typeface="+mn-lt"/>
                <a:cs typeface="+mn-lt"/>
              </a:rPr>
              <a:t>black box</a:t>
            </a:r>
            <a:r>
              <a:rPr lang="en-US" sz="1400">
                <a:latin typeface="Arial"/>
                <a:ea typeface="+mn-lt"/>
                <a:cs typeface="+mn-lt"/>
              </a:rPr>
              <a:t>, hiding real competition and the actual signals used for selection.</a:t>
            </a:r>
          </a:p>
          <a:p>
            <a:pPr algn="just"/>
            <a:endParaRPr lang="en-US" sz="1400" b="1">
              <a:latin typeface="Arial"/>
              <a:ea typeface="Calibri"/>
              <a:cs typeface="Calibri"/>
            </a:endParaRPr>
          </a:p>
          <a:p>
            <a:pPr algn="just"/>
            <a:r>
              <a:rPr lang="en-US" sz="1400" b="1">
                <a:latin typeface="Arial"/>
                <a:cs typeface="Arial"/>
              </a:rPr>
              <a:t>Our Approach</a:t>
            </a:r>
            <a:endParaRPr lang="en-US" sz="1400">
              <a:latin typeface="Arial"/>
              <a:ea typeface="Calibri"/>
              <a:cs typeface="Arial"/>
            </a:endParaRPr>
          </a:p>
          <a:p>
            <a:pPr marL="285750" indent="-285750" algn="just">
              <a:buFont typeface="Arial"/>
              <a:buChar char="•"/>
            </a:pPr>
            <a:r>
              <a:rPr lang="en-US" sz="1400">
                <a:latin typeface="Arial"/>
                <a:ea typeface="+mn-lt"/>
                <a:cs typeface="+mn-lt"/>
              </a:rPr>
              <a:t>Using the </a:t>
            </a:r>
            <a:r>
              <a:rPr lang="en-US" sz="1400" i="1">
                <a:latin typeface="Arial"/>
                <a:ea typeface="+mn-lt"/>
                <a:cs typeface="+mn-lt"/>
              </a:rPr>
              <a:t>Entity Recognition in Resumes</a:t>
            </a:r>
            <a:r>
              <a:rPr lang="en-US" sz="1400">
                <a:latin typeface="Arial"/>
                <a:ea typeface="+mn-lt"/>
                <a:cs typeface="+mn-lt"/>
              </a:rPr>
              <a:t> (Kaggle, JSON) dataset, we construct a </a:t>
            </a:r>
            <a:r>
              <a:rPr lang="en-US" sz="1400" b="1">
                <a:latin typeface="Arial"/>
                <a:ea typeface="+mn-lt"/>
                <a:cs typeface="+mn-lt"/>
              </a:rPr>
              <a:t>Digital Twin</a:t>
            </a:r>
            <a:r>
              <a:rPr lang="en-US" sz="1400">
                <a:latin typeface="Arial"/>
                <a:ea typeface="+mn-lt"/>
                <a:cs typeface="+mn-lt"/>
              </a:rPr>
              <a:t> of the candidate and a </a:t>
            </a:r>
            <a:r>
              <a:rPr lang="en-US" sz="1400" b="1">
                <a:latin typeface="Arial"/>
                <a:ea typeface="+mn-lt"/>
                <a:cs typeface="+mn-lt"/>
              </a:rPr>
              <a:t>Ghost Twin</a:t>
            </a:r>
            <a:r>
              <a:rPr lang="en-US" sz="1400">
                <a:latin typeface="Arial"/>
                <a:ea typeface="+mn-lt"/>
                <a:cs typeface="+mn-lt"/>
              </a:rPr>
              <a:t> from successful profiles, then </a:t>
            </a:r>
            <a:r>
              <a:rPr lang="en-US" sz="1400" b="1">
                <a:latin typeface="Arial"/>
                <a:ea typeface="+mn-lt"/>
                <a:cs typeface="+mn-lt"/>
              </a:rPr>
              <a:t>compare both to expose the Hidden Wall</a:t>
            </a:r>
            <a:r>
              <a:rPr lang="en-US" sz="1400">
                <a:latin typeface="Arial"/>
                <a:ea typeface="+mn-lt"/>
                <a:cs typeface="+mn-lt"/>
              </a:rPr>
              <a:t>—the exact gaps blocking selection.</a:t>
            </a:r>
            <a:endParaRPr lang="en-US" sz="1400">
              <a:latin typeface="Arial"/>
              <a:ea typeface="Calibri"/>
              <a:cs typeface="Calibri"/>
            </a:endParaRPr>
          </a:p>
          <a:p>
            <a:pPr algn="just"/>
            <a:endParaRPr lang="en-US" sz="1400">
              <a:latin typeface="Arial"/>
              <a:ea typeface="+mn-lt"/>
              <a:cs typeface="+mn-lt"/>
            </a:endParaRPr>
          </a:p>
          <a:p>
            <a:pPr algn="just"/>
            <a:r>
              <a:rPr lang="en-US" sz="1400" b="1">
                <a:latin typeface="Arial"/>
                <a:cs typeface="Arial"/>
              </a:rPr>
              <a:t>Outcome</a:t>
            </a:r>
            <a:endParaRPr lang="en-US" sz="1400">
              <a:latin typeface="Arial"/>
              <a:ea typeface="Calibri"/>
              <a:cs typeface="Arial"/>
            </a:endParaRPr>
          </a:p>
          <a:p>
            <a:pPr marL="285750" indent="-285750" algn="just">
              <a:buFont typeface="Arial"/>
              <a:buChar char="•"/>
            </a:pPr>
            <a:r>
              <a:rPr lang="en-US" sz="1400" b="1">
                <a:latin typeface="Arial"/>
                <a:ea typeface="+mn-lt"/>
                <a:cs typeface="+mn-lt"/>
              </a:rPr>
              <a:t>Clear explanation of career gaps based on real hiring standards</a:t>
            </a:r>
            <a:r>
              <a:rPr lang="en-US" sz="1400">
                <a:latin typeface="Arial"/>
                <a:ea typeface="+mn-lt"/>
                <a:cs typeface="+mn-lt"/>
              </a:rPr>
              <a:t> mapped to real hiring benchmarks, along with a </a:t>
            </a:r>
            <a:r>
              <a:rPr lang="en-US" sz="1400" b="1">
                <a:latin typeface="Arial"/>
                <a:ea typeface="+mn-lt"/>
                <a:cs typeface="+mn-lt"/>
              </a:rPr>
              <a:t>Success Probability score</a:t>
            </a:r>
            <a:r>
              <a:rPr lang="en-US" sz="1400">
                <a:latin typeface="Arial"/>
                <a:ea typeface="+mn-lt"/>
                <a:cs typeface="+mn-lt"/>
              </a:rPr>
              <a:t> and clear, role-specific guidance on what to improve next.</a:t>
            </a:r>
          </a:p>
          <a:p>
            <a:pPr marL="285750" indent="-285750" algn="just">
              <a:buFont typeface="Arial"/>
              <a:buChar char="•"/>
            </a:pPr>
            <a:endParaRPr lang="en-US" sz="1400">
              <a:latin typeface="Arial"/>
              <a:ea typeface="Calibri"/>
              <a:cs typeface="Calibri"/>
            </a:endParaRPr>
          </a:p>
          <a:p>
            <a:pPr algn="just">
              <a:buFont typeface="Arial"/>
            </a:pPr>
            <a:r>
              <a:rPr lang="en-US" sz="1400" b="1">
                <a:latin typeface="Arial"/>
                <a:ea typeface="Calibri"/>
                <a:cs typeface="Arial"/>
              </a:rPr>
              <a:t>Why This Is Novel</a:t>
            </a:r>
            <a:endParaRPr lang="en-US" sz="1400">
              <a:latin typeface="Arial"/>
              <a:ea typeface="Calibri"/>
              <a:cs typeface="Arial"/>
            </a:endParaRPr>
          </a:p>
          <a:p>
            <a:pPr marL="285750" indent="-285750" algn="just">
              <a:buFont typeface="Arial,Sans-Serif"/>
              <a:buChar char="•"/>
            </a:pPr>
            <a:r>
              <a:rPr lang="en-US" sz="1400">
                <a:latin typeface="Arial"/>
                <a:ea typeface="Calibri"/>
                <a:cs typeface="Arial"/>
              </a:rPr>
              <a:t>Unlike </a:t>
            </a:r>
            <a:r>
              <a:rPr lang="en-US" sz="1400" b="1">
                <a:latin typeface="Arial"/>
                <a:ea typeface="Calibri"/>
                <a:cs typeface="Arial"/>
              </a:rPr>
              <a:t>generic AI mentors</a:t>
            </a:r>
            <a:r>
              <a:rPr lang="en-US" sz="1400">
                <a:latin typeface="Arial"/>
                <a:ea typeface="Calibri"/>
                <a:cs typeface="Arial"/>
              </a:rPr>
              <a:t>, this approach is </a:t>
            </a:r>
            <a:r>
              <a:rPr lang="en-US" sz="1400" b="1">
                <a:latin typeface="Arial"/>
                <a:ea typeface="Calibri"/>
                <a:cs typeface="Arial"/>
              </a:rPr>
              <a:t>competitor-aware</a:t>
            </a:r>
            <a:r>
              <a:rPr lang="en-US" sz="1400">
                <a:latin typeface="Arial"/>
                <a:ea typeface="Calibri"/>
                <a:cs typeface="Arial"/>
              </a:rPr>
              <a:t>, </a:t>
            </a:r>
            <a:r>
              <a:rPr lang="en-US" sz="1400">
                <a:latin typeface="Arial"/>
                <a:ea typeface="Calibri"/>
                <a:cs typeface="Calibri"/>
              </a:rPr>
              <a:t>showing candidates how close they are to selection instead of giving </a:t>
            </a:r>
            <a:r>
              <a:rPr lang="en-US" sz="1400" b="1">
                <a:latin typeface="Arial"/>
                <a:ea typeface="Calibri"/>
                <a:cs typeface="Calibri"/>
              </a:rPr>
              <a:t>generic advice.</a:t>
            </a:r>
            <a:endParaRPr lang="en-US" b="1">
              <a:latin typeface="Arial"/>
              <a:cs typeface="Arial"/>
            </a:endParaRPr>
          </a:p>
          <a:p>
            <a:pPr marL="285750" indent="-285750" algn="just">
              <a:buFont typeface="Arial"/>
              <a:buChar char="•"/>
            </a:pPr>
            <a:endParaRPr lang="en-US" sz="1400">
              <a:ea typeface="Calibri"/>
              <a:cs typeface="Calibri"/>
            </a:endParaRPr>
          </a:p>
          <a:p>
            <a:pPr algn="just"/>
            <a:endParaRPr lang="en-US" sz="1400">
              <a:latin typeface="Calibri"/>
              <a:ea typeface="Calibri"/>
              <a:cs typeface="Calibri"/>
            </a:endParaRPr>
          </a:p>
          <a:p>
            <a:pPr algn="just">
              <a:buFont typeface="Arial"/>
            </a:pPr>
            <a:endParaRPr lang="en-US" sz="1400">
              <a:latin typeface="Calibri"/>
              <a:ea typeface="Calibri"/>
              <a:cs typeface="Calibri"/>
            </a:endParaRPr>
          </a:p>
          <a:p>
            <a:pPr algn="just"/>
            <a:endParaRPr lang="en-US" sz="1400" b="1">
              <a:latin typeface="Arial"/>
              <a:ea typeface="Calibri"/>
              <a:cs typeface="Calibri"/>
            </a:endParaRPr>
          </a:p>
        </p:txBody>
      </p:sp>
    </p:spTree>
    <p:extLst>
      <p:ext uri="{BB962C8B-B14F-4D97-AF65-F5344CB8AC3E}">
        <p14:creationId xmlns:p14="http://schemas.microsoft.com/office/powerpoint/2010/main" val="28834062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5004014"/>
            <a:ext cx="10287000" cy="387136"/>
            <a:chOff x="0" y="0"/>
            <a:chExt cx="5169753" cy="194556"/>
          </a:xfrm>
        </p:grpSpPr>
        <p:sp>
          <p:nvSpPr>
            <p:cNvPr id="3" name="Freeform 3"/>
            <p:cNvSpPr/>
            <p:nvPr/>
          </p:nvSpPr>
          <p:spPr>
            <a:xfrm>
              <a:off x="0" y="0"/>
              <a:ext cx="5169753" cy="194556"/>
            </a:xfrm>
            <a:custGeom>
              <a:avLst/>
              <a:gdLst/>
              <a:ahLst/>
              <a:cxnLst/>
              <a:rect l="l" t="t" r="r" b="b"/>
              <a:pathLst>
                <a:path w="5169753" h="194556">
                  <a:moveTo>
                    <a:pt x="0" y="0"/>
                  </a:moveTo>
                  <a:lnTo>
                    <a:pt x="5169753" y="0"/>
                  </a:lnTo>
                  <a:lnTo>
                    <a:pt x="5169753" y="194556"/>
                  </a:lnTo>
                  <a:lnTo>
                    <a:pt x="0" y="194556"/>
                  </a:lnTo>
                  <a:close/>
                </a:path>
              </a:pathLst>
            </a:custGeom>
            <a:solidFill>
              <a:srgbClr val="000000"/>
            </a:solidFill>
          </p:spPr>
          <p:txBody>
            <a:bodyPr/>
            <a:lstStyle/>
            <a:p>
              <a:endParaRPr lang="en-IN"/>
            </a:p>
          </p:txBody>
        </p:sp>
        <p:sp>
          <p:nvSpPr>
            <p:cNvPr id="4" name="TextBox 4"/>
            <p:cNvSpPr txBox="1"/>
            <p:nvPr/>
          </p:nvSpPr>
          <p:spPr>
            <a:xfrm>
              <a:off x="0" y="-19050"/>
              <a:ext cx="5169753" cy="213606"/>
            </a:xfrm>
            <a:prstGeom prst="rect">
              <a:avLst/>
            </a:prstGeom>
          </p:spPr>
          <p:txBody>
            <a:bodyPr lIns="50800" tIns="50800" rIns="50800" bIns="50800" rtlCol="0" anchor="ctr"/>
            <a:lstStyle/>
            <a:p>
              <a:pPr algn="ctr">
                <a:lnSpc>
                  <a:spcPts val="1399"/>
                </a:lnSpc>
                <a:spcBef>
                  <a:spcPct val="0"/>
                </a:spcBef>
              </a:pPr>
              <a:endParaRPr/>
            </a:p>
          </p:txBody>
        </p:sp>
      </p:grpSp>
      <p:grpSp>
        <p:nvGrpSpPr>
          <p:cNvPr id="5" name="Group 5"/>
          <p:cNvGrpSpPr/>
          <p:nvPr/>
        </p:nvGrpSpPr>
        <p:grpSpPr>
          <a:xfrm>
            <a:off x="0" y="-14327"/>
            <a:ext cx="10287000" cy="651243"/>
            <a:chOff x="0" y="0"/>
            <a:chExt cx="5169753" cy="327283"/>
          </a:xfrm>
        </p:grpSpPr>
        <p:sp>
          <p:nvSpPr>
            <p:cNvPr id="6" name="Freeform 6"/>
            <p:cNvSpPr/>
            <p:nvPr/>
          </p:nvSpPr>
          <p:spPr>
            <a:xfrm>
              <a:off x="0" y="0"/>
              <a:ext cx="5169753" cy="327283"/>
            </a:xfrm>
            <a:custGeom>
              <a:avLst/>
              <a:gdLst/>
              <a:ahLst/>
              <a:cxnLst/>
              <a:rect l="l" t="t" r="r" b="b"/>
              <a:pathLst>
                <a:path w="5169753" h="327283">
                  <a:moveTo>
                    <a:pt x="0" y="0"/>
                  </a:moveTo>
                  <a:lnTo>
                    <a:pt x="5169753" y="0"/>
                  </a:lnTo>
                  <a:lnTo>
                    <a:pt x="5169753" y="327283"/>
                  </a:lnTo>
                  <a:lnTo>
                    <a:pt x="0" y="327283"/>
                  </a:lnTo>
                  <a:close/>
                </a:path>
              </a:pathLst>
            </a:custGeom>
            <a:solidFill>
              <a:srgbClr val="000000"/>
            </a:solidFill>
          </p:spPr>
          <p:txBody>
            <a:bodyPr/>
            <a:lstStyle/>
            <a:p>
              <a:endParaRPr lang="en-IN"/>
            </a:p>
          </p:txBody>
        </p:sp>
        <p:sp>
          <p:nvSpPr>
            <p:cNvPr id="7" name="TextBox 7"/>
            <p:cNvSpPr txBox="1"/>
            <p:nvPr/>
          </p:nvSpPr>
          <p:spPr>
            <a:xfrm>
              <a:off x="0" y="-19050"/>
              <a:ext cx="5169753" cy="346333"/>
            </a:xfrm>
            <a:prstGeom prst="rect">
              <a:avLst/>
            </a:prstGeom>
          </p:spPr>
          <p:txBody>
            <a:bodyPr lIns="50800" tIns="50800" rIns="50800" bIns="50800" rtlCol="0" anchor="ctr"/>
            <a:lstStyle/>
            <a:p>
              <a:pPr algn="ctr">
                <a:lnSpc>
                  <a:spcPts val="1399"/>
                </a:lnSpc>
                <a:spcBef>
                  <a:spcPct val="0"/>
                </a:spcBef>
              </a:pPr>
              <a:endParaRPr/>
            </a:p>
          </p:txBody>
        </p:sp>
      </p:grpSp>
      <p:grpSp>
        <p:nvGrpSpPr>
          <p:cNvPr id="8" name="Group 8"/>
          <p:cNvGrpSpPr/>
          <p:nvPr/>
        </p:nvGrpSpPr>
        <p:grpSpPr>
          <a:xfrm>
            <a:off x="3903074" y="-14327"/>
            <a:ext cx="2480852" cy="651243"/>
            <a:chOff x="0" y="0"/>
            <a:chExt cx="3307803" cy="868323"/>
          </a:xfrm>
        </p:grpSpPr>
        <p:sp>
          <p:nvSpPr>
            <p:cNvPr id="9" name="Freeform 9"/>
            <p:cNvSpPr/>
            <p:nvPr/>
          </p:nvSpPr>
          <p:spPr>
            <a:xfrm>
              <a:off x="0" y="0"/>
              <a:ext cx="794159" cy="868323"/>
            </a:xfrm>
            <a:custGeom>
              <a:avLst/>
              <a:gdLst/>
              <a:ahLst/>
              <a:cxnLst/>
              <a:rect l="l" t="t" r="r" b="b"/>
              <a:pathLst>
                <a:path w="794159" h="868323">
                  <a:moveTo>
                    <a:pt x="0" y="0"/>
                  </a:moveTo>
                  <a:lnTo>
                    <a:pt x="794159" y="0"/>
                  </a:lnTo>
                  <a:lnTo>
                    <a:pt x="794159" y="868323"/>
                  </a:lnTo>
                  <a:lnTo>
                    <a:pt x="0" y="868323"/>
                  </a:lnTo>
                  <a:lnTo>
                    <a:pt x="0" y="0"/>
                  </a:lnTo>
                  <a:close/>
                </a:path>
              </a:pathLst>
            </a:custGeom>
            <a:blipFill>
              <a:blip r:embed="rId2"/>
              <a:stretch>
                <a:fillRect r="-9338"/>
              </a:stretch>
            </a:blipFill>
          </p:spPr>
          <p:txBody>
            <a:bodyPr/>
            <a:lstStyle/>
            <a:p>
              <a:endParaRPr lang="en-IN"/>
            </a:p>
          </p:txBody>
        </p:sp>
        <p:sp>
          <p:nvSpPr>
            <p:cNvPr id="10" name="Freeform 10"/>
            <p:cNvSpPr/>
            <p:nvPr/>
          </p:nvSpPr>
          <p:spPr>
            <a:xfrm>
              <a:off x="895759" y="0"/>
              <a:ext cx="2412045" cy="849221"/>
            </a:xfrm>
            <a:custGeom>
              <a:avLst/>
              <a:gdLst/>
              <a:ahLst/>
              <a:cxnLst/>
              <a:rect l="l" t="t" r="r" b="b"/>
              <a:pathLst>
                <a:path w="2412045" h="849221">
                  <a:moveTo>
                    <a:pt x="0" y="0"/>
                  </a:moveTo>
                  <a:lnTo>
                    <a:pt x="2412044" y="0"/>
                  </a:lnTo>
                  <a:lnTo>
                    <a:pt x="2412044" y="849221"/>
                  </a:lnTo>
                  <a:lnTo>
                    <a:pt x="0" y="849221"/>
                  </a:lnTo>
                  <a:lnTo>
                    <a:pt x="0" y="0"/>
                  </a:lnTo>
                  <a:close/>
                </a:path>
              </a:pathLst>
            </a:custGeom>
            <a:blipFill>
              <a:blip r:embed="rId3"/>
              <a:stretch>
                <a:fillRect l="-5490"/>
              </a:stretch>
            </a:blipFill>
          </p:spPr>
          <p:txBody>
            <a:bodyPr/>
            <a:lstStyle/>
            <a:p>
              <a:endParaRPr lang="en-IN"/>
            </a:p>
          </p:txBody>
        </p:sp>
      </p:grpSp>
      <p:sp>
        <p:nvSpPr>
          <p:cNvPr id="11" name="TextBox 11"/>
          <p:cNvSpPr txBox="1"/>
          <p:nvPr/>
        </p:nvSpPr>
        <p:spPr>
          <a:xfrm>
            <a:off x="435764" y="724930"/>
            <a:ext cx="6296302" cy="806183"/>
          </a:xfrm>
          <a:prstGeom prst="rect">
            <a:avLst/>
          </a:prstGeom>
        </p:spPr>
        <p:txBody>
          <a:bodyPr lIns="0" tIns="0" rIns="0" bIns="0" rtlCol="0" anchor="t">
            <a:spAutoFit/>
          </a:bodyPr>
          <a:lstStyle/>
          <a:p>
            <a:pPr algn="just">
              <a:lnSpc>
                <a:spcPts val="3203"/>
              </a:lnSpc>
            </a:pPr>
            <a:r>
              <a:rPr lang="en-US" sz="2250" b="1">
                <a:latin typeface="Garet"/>
                <a:ea typeface="Garet"/>
                <a:cs typeface="Garet"/>
                <a:sym typeface="Garet"/>
              </a:rPr>
              <a:t>Process flow diagram </a:t>
            </a:r>
            <a:endParaRPr lang="en-US" sz="2250" b="1">
              <a:latin typeface="Garet"/>
            </a:endParaRPr>
          </a:p>
          <a:p>
            <a:pPr algn="just">
              <a:lnSpc>
                <a:spcPts val="3203"/>
              </a:lnSpc>
            </a:pPr>
            <a:endParaRPr lang="en-US" sz="2288">
              <a:solidFill>
                <a:srgbClr val="000000"/>
              </a:solidFill>
              <a:latin typeface="Garet"/>
              <a:ea typeface="Garet"/>
              <a:cs typeface="Garet"/>
            </a:endParaRPr>
          </a:p>
        </p:txBody>
      </p:sp>
      <p:pic>
        <p:nvPicPr>
          <p:cNvPr id="14" name="Picture 13" descr="A diagram of a career builder&#10;&#10;AI-generated content may be incorrect.">
            <a:extLst>
              <a:ext uri="{FF2B5EF4-FFF2-40B4-BE49-F238E27FC236}">
                <a16:creationId xmlns:a16="http://schemas.microsoft.com/office/drawing/2014/main" id="{79730809-0287-28A7-4EBC-4E617AFFFBFE}"/>
              </a:ext>
            </a:extLst>
          </p:cNvPr>
          <p:cNvPicPr>
            <a:picLocks noChangeAspect="1"/>
          </p:cNvPicPr>
          <p:nvPr/>
        </p:nvPicPr>
        <p:blipFill>
          <a:blip r:embed="rId4"/>
          <a:srcRect t="-73" r="12686"/>
          <a:stretch>
            <a:fillRect/>
          </a:stretch>
        </p:blipFill>
        <p:spPr>
          <a:xfrm>
            <a:off x="2652473" y="1127136"/>
            <a:ext cx="5871786" cy="379322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5004014"/>
            <a:ext cx="10287000" cy="387136"/>
            <a:chOff x="0" y="0"/>
            <a:chExt cx="5169753" cy="194556"/>
          </a:xfrm>
        </p:grpSpPr>
        <p:sp>
          <p:nvSpPr>
            <p:cNvPr id="3" name="Freeform 3"/>
            <p:cNvSpPr/>
            <p:nvPr/>
          </p:nvSpPr>
          <p:spPr>
            <a:xfrm>
              <a:off x="0" y="0"/>
              <a:ext cx="5169753" cy="194556"/>
            </a:xfrm>
            <a:custGeom>
              <a:avLst/>
              <a:gdLst/>
              <a:ahLst/>
              <a:cxnLst/>
              <a:rect l="l" t="t" r="r" b="b"/>
              <a:pathLst>
                <a:path w="5169753" h="194556">
                  <a:moveTo>
                    <a:pt x="0" y="0"/>
                  </a:moveTo>
                  <a:lnTo>
                    <a:pt x="5169753" y="0"/>
                  </a:lnTo>
                  <a:lnTo>
                    <a:pt x="5169753" y="194556"/>
                  </a:lnTo>
                  <a:lnTo>
                    <a:pt x="0" y="194556"/>
                  </a:lnTo>
                  <a:close/>
                </a:path>
              </a:pathLst>
            </a:custGeom>
            <a:solidFill>
              <a:srgbClr val="000000"/>
            </a:solidFill>
          </p:spPr>
          <p:txBody>
            <a:bodyPr/>
            <a:lstStyle/>
            <a:p>
              <a:endParaRPr lang="en-IN"/>
            </a:p>
          </p:txBody>
        </p:sp>
        <p:sp>
          <p:nvSpPr>
            <p:cNvPr id="4" name="TextBox 4"/>
            <p:cNvSpPr txBox="1"/>
            <p:nvPr/>
          </p:nvSpPr>
          <p:spPr>
            <a:xfrm>
              <a:off x="0" y="-19050"/>
              <a:ext cx="5169753" cy="213606"/>
            </a:xfrm>
            <a:prstGeom prst="rect">
              <a:avLst/>
            </a:prstGeom>
          </p:spPr>
          <p:txBody>
            <a:bodyPr lIns="50800" tIns="50800" rIns="50800" bIns="50800" rtlCol="0" anchor="ctr"/>
            <a:lstStyle/>
            <a:p>
              <a:pPr algn="ctr">
                <a:lnSpc>
                  <a:spcPts val="1399"/>
                </a:lnSpc>
                <a:spcBef>
                  <a:spcPct val="0"/>
                </a:spcBef>
              </a:pPr>
              <a:endParaRPr/>
            </a:p>
          </p:txBody>
        </p:sp>
      </p:grpSp>
      <p:grpSp>
        <p:nvGrpSpPr>
          <p:cNvPr id="5" name="Group 5"/>
          <p:cNvGrpSpPr/>
          <p:nvPr/>
        </p:nvGrpSpPr>
        <p:grpSpPr>
          <a:xfrm>
            <a:off x="0" y="-14327"/>
            <a:ext cx="10287000" cy="651243"/>
            <a:chOff x="0" y="0"/>
            <a:chExt cx="5169753" cy="327283"/>
          </a:xfrm>
        </p:grpSpPr>
        <p:sp>
          <p:nvSpPr>
            <p:cNvPr id="6" name="Freeform 6"/>
            <p:cNvSpPr/>
            <p:nvPr/>
          </p:nvSpPr>
          <p:spPr>
            <a:xfrm>
              <a:off x="0" y="0"/>
              <a:ext cx="5169753" cy="327283"/>
            </a:xfrm>
            <a:custGeom>
              <a:avLst/>
              <a:gdLst/>
              <a:ahLst/>
              <a:cxnLst/>
              <a:rect l="l" t="t" r="r" b="b"/>
              <a:pathLst>
                <a:path w="5169753" h="327283">
                  <a:moveTo>
                    <a:pt x="0" y="0"/>
                  </a:moveTo>
                  <a:lnTo>
                    <a:pt x="5169753" y="0"/>
                  </a:lnTo>
                  <a:lnTo>
                    <a:pt x="5169753" y="327283"/>
                  </a:lnTo>
                  <a:lnTo>
                    <a:pt x="0" y="327283"/>
                  </a:lnTo>
                  <a:close/>
                </a:path>
              </a:pathLst>
            </a:custGeom>
            <a:solidFill>
              <a:srgbClr val="000000"/>
            </a:solidFill>
          </p:spPr>
          <p:txBody>
            <a:bodyPr/>
            <a:lstStyle/>
            <a:p>
              <a:endParaRPr lang="en-IN"/>
            </a:p>
          </p:txBody>
        </p:sp>
        <p:sp>
          <p:nvSpPr>
            <p:cNvPr id="7" name="TextBox 7"/>
            <p:cNvSpPr txBox="1"/>
            <p:nvPr/>
          </p:nvSpPr>
          <p:spPr>
            <a:xfrm>
              <a:off x="0" y="-19050"/>
              <a:ext cx="5169753" cy="346333"/>
            </a:xfrm>
            <a:prstGeom prst="rect">
              <a:avLst/>
            </a:prstGeom>
          </p:spPr>
          <p:txBody>
            <a:bodyPr lIns="50800" tIns="50800" rIns="50800" bIns="50800" rtlCol="0" anchor="ctr"/>
            <a:lstStyle/>
            <a:p>
              <a:pPr algn="ctr">
                <a:lnSpc>
                  <a:spcPts val="1399"/>
                </a:lnSpc>
                <a:spcBef>
                  <a:spcPct val="0"/>
                </a:spcBef>
              </a:pPr>
              <a:endParaRPr/>
            </a:p>
          </p:txBody>
        </p:sp>
      </p:grpSp>
      <p:grpSp>
        <p:nvGrpSpPr>
          <p:cNvPr id="8" name="Group 8"/>
          <p:cNvGrpSpPr/>
          <p:nvPr/>
        </p:nvGrpSpPr>
        <p:grpSpPr>
          <a:xfrm>
            <a:off x="3903074" y="-14327"/>
            <a:ext cx="2480852" cy="651243"/>
            <a:chOff x="0" y="0"/>
            <a:chExt cx="3307803" cy="868323"/>
          </a:xfrm>
        </p:grpSpPr>
        <p:sp>
          <p:nvSpPr>
            <p:cNvPr id="9" name="Freeform 9"/>
            <p:cNvSpPr/>
            <p:nvPr/>
          </p:nvSpPr>
          <p:spPr>
            <a:xfrm>
              <a:off x="0" y="0"/>
              <a:ext cx="794159" cy="868323"/>
            </a:xfrm>
            <a:custGeom>
              <a:avLst/>
              <a:gdLst/>
              <a:ahLst/>
              <a:cxnLst/>
              <a:rect l="l" t="t" r="r" b="b"/>
              <a:pathLst>
                <a:path w="794159" h="868323">
                  <a:moveTo>
                    <a:pt x="0" y="0"/>
                  </a:moveTo>
                  <a:lnTo>
                    <a:pt x="794159" y="0"/>
                  </a:lnTo>
                  <a:lnTo>
                    <a:pt x="794159" y="868323"/>
                  </a:lnTo>
                  <a:lnTo>
                    <a:pt x="0" y="868323"/>
                  </a:lnTo>
                  <a:lnTo>
                    <a:pt x="0" y="0"/>
                  </a:lnTo>
                  <a:close/>
                </a:path>
              </a:pathLst>
            </a:custGeom>
            <a:blipFill>
              <a:blip r:embed="rId2"/>
              <a:stretch>
                <a:fillRect r="-9338"/>
              </a:stretch>
            </a:blipFill>
          </p:spPr>
          <p:txBody>
            <a:bodyPr/>
            <a:lstStyle/>
            <a:p>
              <a:endParaRPr lang="en-IN"/>
            </a:p>
          </p:txBody>
        </p:sp>
        <p:sp>
          <p:nvSpPr>
            <p:cNvPr id="10" name="Freeform 10"/>
            <p:cNvSpPr/>
            <p:nvPr/>
          </p:nvSpPr>
          <p:spPr>
            <a:xfrm>
              <a:off x="895759" y="0"/>
              <a:ext cx="2412045" cy="849221"/>
            </a:xfrm>
            <a:custGeom>
              <a:avLst/>
              <a:gdLst/>
              <a:ahLst/>
              <a:cxnLst/>
              <a:rect l="l" t="t" r="r" b="b"/>
              <a:pathLst>
                <a:path w="2412045" h="849221">
                  <a:moveTo>
                    <a:pt x="0" y="0"/>
                  </a:moveTo>
                  <a:lnTo>
                    <a:pt x="2412044" y="0"/>
                  </a:lnTo>
                  <a:lnTo>
                    <a:pt x="2412044" y="849221"/>
                  </a:lnTo>
                  <a:lnTo>
                    <a:pt x="0" y="849221"/>
                  </a:lnTo>
                  <a:lnTo>
                    <a:pt x="0" y="0"/>
                  </a:lnTo>
                  <a:close/>
                </a:path>
              </a:pathLst>
            </a:custGeom>
            <a:blipFill>
              <a:blip r:embed="rId3"/>
              <a:stretch>
                <a:fillRect l="-5490"/>
              </a:stretch>
            </a:blipFill>
          </p:spPr>
          <p:txBody>
            <a:bodyPr/>
            <a:lstStyle/>
            <a:p>
              <a:endParaRPr lang="en-IN"/>
            </a:p>
          </p:txBody>
        </p:sp>
      </p:grpSp>
      <p:sp>
        <p:nvSpPr>
          <p:cNvPr id="11" name="TextBox 11"/>
          <p:cNvSpPr txBox="1"/>
          <p:nvPr/>
        </p:nvSpPr>
        <p:spPr>
          <a:xfrm>
            <a:off x="602108" y="1126159"/>
            <a:ext cx="6601853" cy="3531736"/>
          </a:xfrm>
          <a:prstGeom prst="rect">
            <a:avLst/>
          </a:prstGeom>
        </p:spPr>
        <p:txBody>
          <a:bodyPr wrap="square" lIns="0" tIns="0" rIns="0" bIns="0" rtlCol="0" anchor="t">
            <a:spAutoFit/>
          </a:bodyPr>
          <a:lstStyle/>
          <a:p>
            <a:pPr algn="just"/>
            <a:r>
              <a:rPr lang="en-US" sz="2250" b="1">
                <a:solidFill>
                  <a:srgbClr val="000000"/>
                </a:solidFill>
                <a:ea typeface="+mn-lt"/>
                <a:cs typeface="+mn-lt"/>
                <a:sym typeface="Garet"/>
              </a:rPr>
              <a:t>Planned Features &amp; System Capabilities</a:t>
            </a:r>
            <a:endParaRPr lang="en-US">
              <a:ea typeface="Calibri"/>
              <a:cs typeface="Calibri"/>
            </a:endParaRPr>
          </a:p>
          <a:p>
            <a:pPr algn="just"/>
            <a:endParaRPr lang="en-US" sz="2250" b="1" dirty="0">
              <a:solidFill>
                <a:srgbClr val="000000"/>
              </a:solidFill>
              <a:latin typeface="Calibri"/>
              <a:ea typeface="+mn-lt"/>
              <a:cs typeface="+mn-lt"/>
              <a:sym typeface="Garet"/>
            </a:endParaRPr>
          </a:p>
          <a:p>
            <a:pPr marL="285750" indent="-285750" algn="just">
              <a:buFont typeface="Arial"/>
              <a:buChar char="•"/>
            </a:pPr>
            <a:r>
              <a:rPr lang="en-US" sz="1400" b="1">
                <a:solidFill>
                  <a:srgbClr val="000000"/>
                </a:solidFill>
                <a:latin typeface="Arial"/>
                <a:ea typeface="+mn-lt"/>
                <a:cs typeface="+mn-lt"/>
                <a:sym typeface="Garet"/>
              </a:rPr>
              <a:t>AI-based resume analysis</a:t>
            </a:r>
            <a:r>
              <a:rPr lang="en-US" sz="1400">
                <a:solidFill>
                  <a:srgbClr val="000000"/>
                </a:solidFill>
                <a:latin typeface="Arial"/>
                <a:ea typeface="+mn-lt"/>
                <a:cs typeface="+mn-lt"/>
                <a:sym typeface="Garet"/>
              </a:rPr>
              <a:t> for skill extraction and understanding</a:t>
            </a:r>
            <a:endParaRPr lang="en-US" sz="1400">
              <a:latin typeface="Arial"/>
              <a:ea typeface="+mn-lt"/>
              <a:cs typeface="+mn-lt"/>
            </a:endParaRPr>
          </a:p>
          <a:p>
            <a:pPr marL="285750" indent="-285750" algn="just">
              <a:buFont typeface="Arial"/>
              <a:buChar char="•"/>
            </a:pPr>
            <a:r>
              <a:rPr lang="en-US" sz="1400" b="1">
                <a:solidFill>
                  <a:srgbClr val="000000"/>
                </a:solidFill>
                <a:latin typeface="Arial"/>
                <a:ea typeface="+mn-lt"/>
                <a:cs typeface="+mn-lt"/>
              </a:rPr>
              <a:t>Digital Twin based career gap diagnosis</a:t>
            </a:r>
            <a:r>
              <a:rPr lang="en-US" sz="1400">
                <a:solidFill>
                  <a:srgbClr val="000000"/>
                </a:solidFill>
                <a:latin typeface="Arial"/>
                <a:ea typeface="+mn-lt"/>
                <a:cs typeface="+mn-lt"/>
              </a:rPr>
              <a:t> using structured resume data</a:t>
            </a:r>
            <a:endParaRPr lang="en-US" sz="1400">
              <a:latin typeface="Arial"/>
              <a:ea typeface="+mn-lt"/>
              <a:cs typeface="+mn-lt"/>
            </a:endParaRPr>
          </a:p>
          <a:p>
            <a:pPr marL="285750" indent="-285750" algn="just">
              <a:buFont typeface="Arial"/>
              <a:buChar char="•"/>
            </a:pPr>
            <a:r>
              <a:rPr lang="en-US" sz="1400" b="1">
                <a:solidFill>
                  <a:srgbClr val="000000"/>
                </a:solidFill>
                <a:latin typeface="Arial"/>
                <a:ea typeface="+mn-lt"/>
                <a:cs typeface="+mn-lt"/>
                <a:sym typeface="Garet"/>
              </a:rPr>
              <a:t>Career goal selection support</a:t>
            </a:r>
            <a:r>
              <a:rPr lang="en-US" sz="1400">
                <a:solidFill>
                  <a:srgbClr val="000000"/>
                </a:solidFill>
                <a:latin typeface="Arial"/>
                <a:ea typeface="+mn-lt"/>
                <a:cs typeface="+mn-lt"/>
                <a:sym typeface="Garet"/>
              </a:rPr>
              <a:t> with role-specific guidance</a:t>
            </a:r>
            <a:endParaRPr lang="en-US" sz="1400">
              <a:latin typeface="Arial"/>
              <a:ea typeface="+mn-lt"/>
              <a:cs typeface="+mn-lt"/>
            </a:endParaRPr>
          </a:p>
          <a:p>
            <a:pPr marL="285750" indent="-285750" algn="just">
              <a:buFont typeface="Arial"/>
              <a:buChar char="•"/>
            </a:pPr>
            <a:r>
              <a:rPr lang="en-US" sz="1400" b="1">
                <a:solidFill>
                  <a:srgbClr val="000000"/>
                </a:solidFill>
                <a:latin typeface="Arial"/>
                <a:ea typeface="+mn-lt"/>
                <a:cs typeface="+mn-lt"/>
                <a:sym typeface="Garet"/>
              </a:rPr>
              <a:t>Market insight integration</a:t>
            </a:r>
            <a:r>
              <a:rPr lang="en-US" sz="1400">
                <a:solidFill>
                  <a:srgbClr val="000000"/>
                </a:solidFill>
                <a:latin typeface="Arial"/>
                <a:ea typeface="+mn-lt"/>
                <a:cs typeface="+mn-lt"/>
                <a:sym typeface="Garet"/>
              </a:rPr>
              <a:t> for relevant job and internship discovery</a:t>
            </a:r>
            <a:endParaRPr lang="en-US" sz="1400">
              <a:latin typeface="Arial"/>
              <a:cs typeface="Arial"/>
            </a:endParaRPr>
          </a:p>
          <a:p>
            <a:pPr marL="285750" indent="-285750" algn="just">
              <a:buFont typeface="Arial"/>
              <a:buChar char="•"/>
            </a:pPr>
            <a:r>
              <a:rPr lang="en-US" sz="1400" b="1">
                <a:solidFill>
                  <a:srgbClr val="000000"/>
                </a:solidFill>
                <a:latin typeface="Arial"/>
                <a:ea typeface="+mn-lt"/>
                <a:cs typeface="+mn-lt"/>
                <a:sym typeface="Garet"/>
              </a:rPr>
              <a:t>Resume tailoring assistance</a:t>
            </a:r>
            <a:r>
              <a:rPr lang="en-US" sz="1400">
                <a:solidFill>
                  <a:srgbClr val="000000"/>
                </a:solidFill>
                <a:latin typeface="Arial"/>
                <a:ea typeface="+mn-lt"/>
                <a:cs typeface="+mn-lt"/>
                <a:sym typeface="Garet"/>
              </a:rPr>
              <a:t> aligned to chosen roles</a:t>
            </a:r>
            <a:endParaRPr lang="en-US" sz="1400">
              <a:latin typeface="Arial"/>
              <a:cs typeface="Arial"/>
            </a:endParaRPr>
          </a:p>
          <a:p>
            <a:pPr marL="285750" indent="-285750" algn="just">
              <a:buFont typeface="Arial"/>
              <a:buChar char="•"/>
            </a:pPr>
            <a:r>
              <a:rPr lang="en-US" sz="1400" b="1">
                <a:solidFill>
                  <a:srgbClr val="000000"/>
                </a:solidFill>
                <a:latin typeface="Arial"/>
                <a:ea typeface="+mn-lt"/>
                <a:cs typeface="+mn-lt"/>
                <a:sym typeface="Garet"/>
              </a:rPr>
              <a:t>3-level adaptive skill assessment framework</a:t>
            </a:r>
            <a:r>
              <a:rPr lang="en-US" sz="1400" dirty="0">
                <a:solidFill>
                  <a:srgbClr val="000000"/>
                </a:solidFill>
                <a:latin typeface="Arial"/>
                <a:ea typeface="+mn-lt"/>
                <a:cs typeface="+mn-lt"/>
                <a:sym typeface="Garet"/>
              </a:rPr>
              <a:t> </a:t>
            </a:r>
            <a:r>
              <a:rPr lang="en-US" sz="1400">
                <a:solidFill>
                  <a:srgbClr val="000000"/>
                </a:solidFill>
                <a:latin typeface="Arial"/>
                <a:ea typeface="+mn-lt"/>
                <a:cs typeface="+mn-lt"/>
                <a:sym typeface="Garet"/>
              </a:rPr>
              <a:t>with clear cutoffs</a:t>
            </a:r>
            <a:endParaRPr lang="en-US" sz="1400">
              <a:latin typeface="Arial"/>
              <a:ea typeface="+mn-lt"/>
              <a:cs typeface="+mn-lt"/>
            </a:endParaRPr>
          </a:p>
          <a:p>
            <a:pPr marL="285750" indent="-285750" algn="just">
              <a:buFont typeface="Arial"/>
              <a:buChar char="•"/>
            </a:pPr>
            <a:r>
              <a:rPr lang="en-US" sz="1400" b="1">
                <a:solidFill>
                  <a:srgbClr val="000000"/>
                </a:solidFill>
                <a:latin typeface="Arial"/>
                <a:ea typeface="+mn-lt"/>
                <a:cs typeface="+mn-lt"/>
                <a:sym typeface="Garet"/>
              </a:rPr>
              <a:t>Level-based feedback mechanism</a:t>
            </a:r>
            <a:r>
              <a:rPr lang="en-US" sz="1400">
                <a:solidFill>
                  <a:srgbClr val="000000"/>
                </a:solidFill>
                <a:latin typeface="Arial"/>
                <a:ea typeface="+mn-lt"/>
                <a:cs typeface="+mn-lt"/>
                <a:sym typeface="Garet"/>
              </a:rPr>
              <a:t> with targeted improvement suggestions</a:t>
            </a:r>
            <a:endParaRPr lang="en-US" sz="1400">
              <a:latin typeface="Arial"/>
              <a:cs typeface="Arial"/>
            </a:endParaRPr>
          </a:p>
          <a:p>
            <a:pPr marL="285750" indent="-285750" algn="just">
              <a:buFont typeface="Arial"/>
              <a:buChar char="•"/>
            </a:pPr>
            <a:r>
              <a:rPr lang="en-US" sz="1400" b="1">
                <a:solidFill>
                  <a:srgbClr val="000000"/>
                </a:solidFill>
                <a:latin typeface="Arial"/>
                <a:ea typeface="+mn-lt"/>
                <a:cs typeface="+mn-lt"/>
                <a:sym typeface="Garet"/>
              </a:rPr>
              <a:t>AI-powered mock interview module</a:t>
            </a:r>
            <a:r>
              <a:rPr lang="en-US" sz="1400">
                <a:solidFill>
                  <a:srgbClr val="000000"/>
                </a:solidFill>
                <a:latin typeface="Arial"/>
                <a:ea typeface="+mn-lt"/>
                <a:cs typeface="+mn-lt"/>
                <a:sym typeface="Garet"/>
              </a:rPr>
              <a:t> for advanced-stage candidates</a:t>
            </a:r>
            <a:endParaRPr lang="en-US" sz="1400">
              <a:latin typeface="Arial"/>
              <a:sym typeface="Garet"/>
            </a:endParaRPr>
          </a:p>
          <a:p>
            <a:pPr algn="just"/>
            <a:endParaRPr lang="en-US" sz="2250" b="1" dirty="0">
              <a:solidFill>
                <a:srgbClr val="000000"/>
              </a:solidFill>
              <a:latin typeface="Calibri"/>
              <a:ea typeface="+mn-lt"/>
              <a:cs typeface="+mn-lt"/>
              <a:sym typeface="Garet"/>
            </a:endParaRPr>
          </a:p>
          <a:p>
            <a:pPr marL="285750" indent="-285750" algn="just">
              <a:buFont typeface="Arial"/>
              <a:buChar char="•"/>
            </a:pPr>
            <a:endParaRPr lang="en-US" sz="1400" dirty="0">
              <a:latin typeface="Arial"/>
              <a:ea typeface="Calibri"/>
              <a:cs typeface="Calibri"/>
            </a:endParaRPr>
          </a:p>
          <a:p>
            <a:pPr algn="just"/>
            <a:br>
              <a:rPr lang="en-US" dirty="0"/>
            </a:br>
            <a:endParaRPr lang="en-US">
              <a:ea typeface="Calibri"/>
              <a:cs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365" y="5112818"/>
            <a:ext cx="10287000" cy="387136"/>
            <a:chOff x="0" y="0"/>
            <a:chExt cx="5169753" cy="194556"/>
          </a:xfrm>
        </p:grpSpPr>
        <p:sp>
          <p:nvSpPr>
            <p:cNvPr id="3" name="Freeform 3"/>
            <p:cNvSpPr/>
            <p:nvPr/>
          </p:nvSpPr>
          <p:spPr>
            <a:xfrm>
              <a:off x="0" y="0"/>
              <a:ext cx="5169753" cy="194556"/>
            </a:xfrm>
            <a:custGeom>
              <a:avLst/>
              <a:gdLst/>
              <a:ahLst/>
              <a:cxnLst/>
              <a:rect l="l" t="t" r="r" b="b"/>
              <a:pathLst>
                <a:path w="5169753" h="194556">
                  <a:moveTo>
                    <a:pt x="0" y="0"/>
                  </a:moveTo>
                  <a:lnTo>
                    <a:pt x="5169753" y="0"/>
                  </a:lnTo>
                  <a:lnTo>
                    <a:pt x="5169753" y="194556"/>
                  </a:lnTo>
                  <a:lnTo>
                    <a:pt x="0" y="194556"/>
                  </a:lnTo>
                  <a:close/>
                </a:path>
              </a:pathLst>
            </a:custGeom>
            <a:solidFill>
              <a:srgbClr val="000000"/>
            </a:solidFill>
          </p:spPr>
          <p:txBody>
            <a:bodyPr/>
            <a:lstStyle/>
            <a:p>
              <a:endParaRPr lang="en-IN"/>
            </a:p>
          </p:txBody>
        </p:sp>
        <p:sp>
          <p:nvSpPr>
            <p:cNvPr id="4" name="TextBox 4"/>
            <p:cNvSpPr txBox="1"/>
            <p:nvPr/>
          </p:nvSpPr>
          <p:spPr>
            <a:xfrm>
              <a:off x="0" y="-19050"/>
              <a:ext cx="5169753" cy="213606"/>
            </a:xfrm>
            <a:prstGeom prst="rect">
              <a:avLst/>
            </a:prstGeom>
          </p:spPr>
          <p:txBody>
            <a:bodyPr lIns="50800" tIns="50800" rIns="50800" bIns="50800" rtlCol="0" anchor="ctr"/>
            <a:lstStyle/>
            <a:p>
              <a:pPr algn="ctr">
                <a:lnSpc>
                  <a:spcPts val="1399"/>
                </a:lnSpc>
                <a:spcBef>
                  <a:spcPct val="0"/>
                </a:spcBef>
              </a:pPr>
              <a:endParaRPr/>
            </a:p>
          </p:txBody>
        </p:sp>
      </p:grpSp>
      <p:grpSp>
        <p:nvGrpSpPr>
          <p:cNvPr id="5" name="Group 5"/>
          <p:cNvGrpSpPr/>
          <p:nvPr/>
        </p:nvGrpSpPr>
        <p:grpSpPr>
          <a:xfrm>
            <a:off x="0" y="-14327"/>
            <a:ext cx="10287000" cy="651243"/>
            <a:chOff x="0" y="0"/>
            <a:chExt cx="5169753" cy="327283"/>
          </a:xfrm>
        </p:grpSpPr>
        <p:sp>
          <p:nvSpPr>
            <p:cNvPr id="6" name="Freeform 6"/>
            <p:cNvSpPr/>
            <p:nvPr/>
          </p:nvSpPr>
          <p:spPr>
            <a:xfrm>
              <a:off x="0" y="0"/>
              <a:ext cx="5169753" cy="327283"/>
            </a:xfrm>
            <a:custGeom>
              <a:avLst/>
              <a:gdLst/>
              <a:ahLst/>
              <a:cxnLst/>
              <a:rect l="l" t="t" r="r" b="b"/>
              <a:pathLst>
                <a:path w="5169753" h="327283">
                  <a:moveTo>
                    <a:pt x="0" y="0"/>
                  </a:moveTo>
                  <a:lnTo>
                    <a:pt x="5169753" y="0"/>
                  </a:lnTo>
                  <a:lnTo>
                    <a:pt x="5169753" y="327283"/>
                  </a:lnTo>
                  <a:lnTo>
                    <a:pt x="0" y="327283"/>
                  </a:lnTo>
                  <a:close/>
                </a:path>
              </a:pathLst>
            </a:custGeom>
            <a:solidFill>
              <a:srgbClr val="000000"/>
            </a:solidFill>
          </p:spPr>
          <p:txBody>
            <a:bodyPr/>
            <a:lstStyle/>
            <a:p>
              <a:endParaRPr lang="en-IN"/>
            </a:p>
          </p:txBody>
        </p:sp>
        <p:sp>
          <p:nvSpPr>
            <p:cNvPr id="7" name="TextBox 7"/>
            <p:cNvSpPr txBox="1"/>
            <p:nvPr/>
          </p:nvSpPr>
          <p:spPr>
            <a:xfrm>
              <a:off x="0" y="-19050"/>
              <a:ext cx="5169753" cy="346333"/>
            </a:xfrm>
            <a:prstGeom prst="rect">
              <a:avLst/>
            </a:prstGeom>
          </p:spPr>
          <p:txBody>
            <a:bodyPr lIns="50800" tIns="50800" rIns="50800" bIns="50800" rtlCol="0" anchor="ctr"/>
            <a:lstStyle/>
            <a:p>
              <a:pPr algn="ctr">
                <a:lnSpc>
                  <a:spcPts val="1399"/>
                </a:lnSpc>
                <a:spcBef>
                  <a:spcPct val="0"/>
                </a:spcBef>
              </a:pPr>
              <a:endParaRPr/>
            </a:p>
          </p:txBody>
        </p:sp>
      </p:grpSp>
      <p:grpSp>
        <p:nvGrpSpPr>
          <p:cNvPr id="8" name="Group 8"/>
          <p:cNvGrpSpPr/>
          <p:nvPr/>
        </p:nvGrpSpPr>
        <p:grpSpPr>
          <a:xfrm>
            <a:off x="3903074" y="-14327"/>
            <a:ext cx="2480852" cy="651243"/>
            <a:chOff x="0" y="0"/>
            <a:chExt cx="3307803" cy="868323"/>
          </a:xfrm>
        </p:grpSpPr>
        <p:sp>
          <p:nvSpPr>
            <p:cNvPr id="9" name="Freeform 9"/>
            <p:cNvSpPr/>
            <p:nvPr/>
          </p:nvSpPr>
          <p:spPr>
            <a:xfrm>
              <a:off x="0" y="0"/>
              <a:ext cx="794159" cy="868323"/>
            </a:xfrm>
            <a:custGeom>
              <a:avLst/>
              <a:gdLst/>
              <a:ahLst/>
              <a:cxnLst/>
              <a:rect l="l" t="t" r="r" b="b"/>
              <a:pathLst>
                <a:path w="794159" h="868323">
                  <a:moveTo>
                    <a:pt x="0" y="0"/>
                  </a:moveTo>
                  <a:lnTo>
                    <a:pt x="794159" y="0"/>
                  </a:lnTo>
                  <a:lnTo>
                    <a:pt x="794159" y="868323"/>
                  </a:lnTo>
                  <a:lnTo>
                    <a:pt x="0" y="868323"/>
                  </a:lnTo>
                  <a:lnTo>
                    <a:pt x="0" y="0"/>
                  </a:lnTo>
                  <a:close/>
                </a:path>
              </a:pathLst>
            </a:custGeom>
            <a:blipFill>
              <a:blip r:embed="rId2"/>
              <a:stretch>
                <a:fillRect r="-9338"/>
              </a:stretch>
            </a:blipFill>
          </p:spPr>
          <p:txBody>
            <a:bodyPr/>
            <a:lstStyle/>
            <a:p>
              <a:endParaRPr lang="en-IN"/>
            </a:p>
          </p:txBody>
        </p:sp>
        <p:sp>
          <p:nvSpPr>
            <p:cNvPr id="10" name="Freeform 10"/>
            <p:cNvSpPr/>
            <p:nvPr/>
          </p:nvSpPr>
          <p:spPr>
            <a:xfrm>
              <a:off x="895759" y="0"/>
              <a:ext cx="2412045" cy="849221"/>
            </a:xfrm>
            <a:custGeom>
              <a:avLst/>
              <a:gdLst/>
              <a:ahLst/>
              <a:cxnLst/>
              <a:rect l="l" t="t" r="r" b="b"/>
              <a:pathLst>
                <a:path w="2412045" h="849221">
                  <a:moveTo>
                    <a:pt x="0" y="0"/>
                  </a:moveTo>
                  <a:lnTo>
                    <a:pt x="2412044" y="0"/>
                  </a:lnTo>
                  <a:lnTo>
                    <a:pt x="2412044" y="849221"/>
                  </a:lnTo>
                  <a:lnTo>
                    <a:pt x="0" y="849221"/>
                  </a:lnTo>
                  <a:lnTo>
                    <a:pt x="0" y="0"/>
                  </a:lnTo>
                  <a:close/>
                </a:path>
              </a:pathLst>
            </a:custGeom>
            <a:blipFill>
              <a:blip r:embed="rId3"/>
              <a:stretch>
                <a:fillRect l="-5490"/>
              </a:stretch>
            </a:blipFill>
          </p:spPr>
          <p:txBody>
            <a:bodyPr/>
            <a:lstStyle/>
            <a:p>
              <a:endParaRPr lang="en-IN"/>
            </a:p>
          </p:txBody>
        </p:sp>
      </p:grpSp>
      <p:sp>
        <p:nvSpPr>
          <p:cNvPr id="11" name="TextBox 11"/>
          <p:cNvSpPr txBox="1"/>
          <p:nvPr/>
        </p:nvSpPr>
        <p:spPr>
          <a:xfrm>
            <a:off x="1157033" y="1268489"/>
            <a:ext cx="6535438" cy="4447371"/>
          </a:xfrm>
          <a:prstGeom prst="rect">
            <a:avLst/>
          </a:prstGeom>
        </p:spPr>
        <p:txBody>
          <a:bodyPr wrap="square" lIns="0" tIns="0" rIns="0" bIns="0" rtlCol="0" anchor="t">
            <a:spAutoFit/>
          </a:bodyPr>
          <a:lstStyle/>
          <a:p>
            <a:pPr marL="285750" indent="-285750">
              <a:buFont typeface="Arial"/>
              <a:buChar char="•"/>
            </a:pPr>
            <a:r>
              <a:rPr lang="en-US" sz="1200" b="1">
                <a:solidFill>
                  <a:srgbClr val="000000"/>
                </a:solidFill>
                <a:latin typeface="Arial"/>
                <a:cs typeface="Arial"/>
              </a:rPr>
              <a:t>LLM – Qwen-3 (8B) via </a:t>
            </a:r>
            <a:r>
              <a:rPr lang="en-US" sz="1200" b="1" err="1">
                <a:solidFill>
                  <a:srgbClr val="000000"/>
                </a:solidFill>
                <a:latin typeface="Arial"/>
                <a:cs typeface="Arial"/>
              </a:rPr>
              <a:t>Ollama</a:t>
            </a:r>
            <a:br>
              <a:rPr lang="en-US" sz="1200" b="1">
                <a:latin typeface="Arial"/>
                <a:cs typeface="Arial"/>
              </a:rPr>
            </a:br>
            <a:r>
              <a:rPr lang="en-US" sz="1200" b="1">
                <a:solidFill>
                  <a:srgbClr val="000000"/>
                </a:solidFill>
                <a:latin typeface="Arial"/>
                <a:cs typeface="Arial"/>
              </a:rPr>
              <a:t> </a:t>
            </a:r>
            <a:r>
              <a:rPr lang="en-US" sz="1200">
                <a:solidFill>
                  <a:srgbClr val="000000"/>
                </a:solidFill>
                <a:latin typeface="Arial"/>
                <a:cs typeface="Arial"/>
              </a:rPr>
              <a:t>→ Resume analysis, skill evaluation, feedback &amp; interview questions</a:t>
            </a:r>
            <a:br>
              <a:rPr lang="en-US" sz="1200" b="1">
                <a:latin typeface="Arial"/>
                <a:cs typeface="Arial"/>
              </a:rPr>
            </a:br>
            <a:endParaRPr lang="en-US" sz="1200" b="1">
              <a:solidFill>
                <a:srgbClr val="000000"/>
              </a:solidFill>
              <a:latin typeface="Arial"/>
              <a:cs typeface="Arial"/>
            </a:endParaRPr>
          </a:p>
          <a:p>
            <a:pPr marL="285750" indent="-285750">
              <a:buFont typeface="Arial"/>
              <a:buChar char="•"/>
            </a:pPr>
            <a:r>
              <a:rPr lang="en-US" sz="1200" b="1">
                <a:solidFill>
                  <a:srgbClr val="000000"/>
                </a:solidFill>
                <a:latin typeface="Arial"/>
                <a:cs typeface="Arial"/>
              </a:rPr>
              <a:t>Agentic AI (Think → Plan → Act)</a:t>
            </a:r>
            <a:br>
              <a:rPr lang="en-US" sz="1200" b="1">
                <a:latin typeface="Arial"/>
                <a:cs typeface="Arial"/>
              </a:rPr>
            </a:br>
            <a:r>
              <a:rPr lang="en-US" sz="1200" b="1">
                <a:solidFill>
                  <a:srgbClr val="000000"/>
                </a:solidFill>
                <a:latin typeface="Arial"/>
                <a:cs typeface="Arial"/>
              </a:rPr>
              <a:t> </a:t>
            </a:r>
            <a:r>
              <a:rPr lang="en-US" sz="1200">
                <a:solidFill>
                  <a:srgbClr val="000000"/>
                </a:solidFill>
                <a:latin typeface="Arial"/>
                <a:cs typeface="Arial"/>
              </a:rPr>
              <a:t>→ Understand profile, plan tests, guide next steps</a:t>
            </a:r>
            <a:br>
              <a:rPr lang="en-US" sz="1200" b="1">
                <a:latin typeface="Arial"/>
                <a:cs typeface="Arial"/>
              </a:rPr>
            </a:br>
            <a:endParaRPr lang="en-US" sz="1200" b="1">
              <a:latin typeface="Arial"/>
              <a:cs typeface="Arial"/>
            </a:endParaRPr>
          </a:p>
          <a:p>
            <a:pPr marL="285750" indent="-285750">
              <a:buFont typeface="Arial"/>
              <a:buChar char="•"/>
            </a:pPr>
            <a:r>
              <a:rPr lang="en-US" sz="1200" b="1">
                <a:solidFill>
                  <a:srgbClr val="000000"/>
                </a:solidFill>
                <a:latin typeface="Arial"/>
                <a:cs typeface="Arial"/>
              </a:rPr>
              <a:t>Rule-Based Logic</a:t>
            </a:r>
            <a:br>
              <a:rPr lang="en-US" sz="1200" b="1">
                <a:latin typeface="Arial"/>
                <a:cs typeface="Arial"/>
              </a:rPr>
            </a:br>
            <a:r>
              <a:rPr lang="en-US" sz="1200">
                <a:solidFill>
                  <a:srgbClr val="000000"/>
                </a:solidFill>
                <a:latin typeface="Arial"/>
                <a:cs typeface="Arial"/>
              </a:rPr>
              <a:t> → Cutoff decisions using simple if-else (clear &amp; explainable)</a:t>
            </a:r>
            <a:br>
              <a:rPr lang="en-US" sz="1200" b="1">
                <a:latin typeface="Arial"/>
                <a:cs typeface="Arial"/>
              </a:rPr>
            </a:br>
            <a:endParaRPr lang="en-US" sz="1200" b="1">
              <a:solidFill>
                <a:srgbClr val="000000"/>
              </a:solidFill>
              <a:latin typeface="Arial"/>
              <a:cs typeface="Arial"/>
            </a:endParaRPr>
          </a:p>
          <a:p>
            <a:pPr marL="285750" indent="-285750">
              <a:buFont typeface="Arial"/>
              <a:buChar char="•"/>
            </a:pPr>
            <a:r>
              <a:rPr lang="en-US" sz="1200" b="1">
                <a:solidFill>
                  <a:srgbClr val="000000"/>
                </a:solidFill>
                <a:latin typeface="Arial"/>
                <a:cs typeface="Arial"/>
              </a:rPr>
              <a:t>NLP</a:t>
            </a:r>
            <a:br>
              <a:rPr lang="en-US" sz="1200" b="1">
                <a:latin typeface="Arial"/>
                <a:cs typeface="Arial"/>
              </a:rPr>
            </a:br>
            <a:r>
              <a:rPr lang="en-US" sz="1200">
                <a:solidFill>
                  <a:srgbClr val="000000"/>
                </a:solidFill>
                <a:latin typeface="Arial"/>
                <a:cs typeface="Arial"/>
              </a:rPr>
              <a:t> → Resume + answer understanding, personalized guidance</a:t>
            </a:r>
            <a:br>
              <a:rPr lang="en-US" sz="1200" b="1">
                <a:latin typeface="Arial"/>
                <a:cs typeface="Arial"/>
              </a:rPr>
            </a:br>
            <a:endParaRPr lang="en-US" sz="1200" b="1">
              <a:latin typeface="Arial"/>
              <a:cs typeface="Arial"/>
            </a:endParaRPr>
          </a:p>
          <a:p>
            <a:pPr marL="285750" indent="-285750">
              <a:buFont typeface="Arial"/>
              <a:buChar char="•"/>
            </a:pPr>
            <a:r>
              <a:rPr lang="en-US" sz="1200" b="1">
                <a:solidFill>
                  <a:srgbClr val="000000"/>
                </a:solidFill>
                <a:latin typeface="Arial"/>
                <a:cs typeface="Arial"/>
              </a:rPr>
              <a:t>CV + Speech Analysis (Mock Interview)</a:t>
            </a:r>
            <a:br>
              <a:rPr lang="en-US" sz="1200" b="1">
                <a:latin typeface="Arial"/>
                <a:cs typeface="Arial"/>
              </a:rPr>
            </a:br>
            <a:r>
              <a:rPr lang="en-US" sz="1200" b="1">
                <a:solidFill>
                  <a:srgbClr val="000000"/>
                </a:solidFill>
                <a:latin typeface="Arial"/>
                <a:cs typeface="Arial"/>
              </a:rPr>
              <a:t> </a:t>
            </a:r>
            <a:r>
              <a:rPr lang="en-US" sz="1200">
                <a:solidFill>
                  <a:srgbClr val="000000"/>
                </a:solidFill>
                <a:latin typeface="Arial"/>
                <a:cs typeface="Arial"/>
              </a:rPr>
              <a:t>→ Posture, confidence &amp; communication via camera and microphone</a:t>
            </a:r>
            <a:br>
              <a:rPr lang="en-US" sz="1200" b="1">
                <a:latin typeface="Arial"/>
                <a:cs typeface="Arial"/>
              </a:rPr>
            </a:br>
            <a:endParaRPr lang="en-US" sz="1200" b="1">
              <a:solidFill>
                <a:srgbClr val="000000"/>
              </a:solidFill>
              <a:latin typeface="Arial"/>
              <a:cs typeface="Arial"/>
            </a:endParaRPr>
          </a:p>
          <a:p>
            <a:pPr marL="285750" indent="-285750">
              <a:buFont typeface="Arial"/>
              <a:buChar char="•"/>
            </a:pPr>
            <a:r>
              <a:rPr lang="en-US" sz="1200" b="1">
                <a:solidFill>
                  <a:srgbClr val="000000"/>
                </a:solidFill>
                <a:latin typeface="Arial"/>
                <a:cs typeface="Arial"/>
              </a:rPr>
              <a:t>Tech Stack</a:t>
            </a:r>
            <a:br>
              <a:rPr lang="en-US" sz="1200" b="1">
                <a:latin typeface="Arial"/>
                <a:cs typeface="Arial"/>
              </a:rPr>
            </a:br>
            <a:r>
              <a:rPr lang="en-US" sz="1200">
                <a:solidFill>
                  <a:srgbClr val="000000"/>
                </a:solidFill>
                <a:latin typeface="Arial"/>
                <a:cs typeface="Arial"/>
              </a:rPr>
              <a:t> → Flask + HTML/CSS/JS</a:t>
            </a:r>
            <a:endParaRPr lang="en-US" sz="1200">
              <a:latin typeface="Arial"/>
              <a:ea typeface="Calibri"/>
              <a:cs typeface="Arial"/>
            </a:endParaRPr>
          </a:p>
          <a:p>
            <a:pPr marL="285750" indent="-285750">
              <a:buFont typeface="Arial"/>
              <a:buChar char="•"/>
            </a:pPr>
            <a:endParaRPr lang="en-US" sz="1200">
              <a:solidFill>
                <a:srgbClr val="000000"/>
              </a:solidFill>
              <a:latin typeface="Arial"/>
              <a:ea typeface="+mn-lt"/>
              <a:cs typeface="Arial"/>
            </a:endParaRPr>
          </a:p>
          <a:p>
            <a:pPr>
              <a:buFont typeface="Arial"/>
              <a:buChar char="•"/>
            </a:pPr>
            <a:r>
              <a:rPr lang="en-US" sz="1400" b="1">
                <a:solidFill>
                  <a:srgbClr val="000000"/>
                </a:solidFill>
                <a:latin typeface="Arial"/>
                <a:ea typeface="+mn-lt"/>
                <a:cs typeface="+mn-lt"/>
              </a:rPr>
              <a:t>       Dataset:</a:t>
            </a:r>
            <a:endParaRPr lang="en-US" sz="1400" b="1">
              <a:solidFill>
                <a:srgbClr val="000000"/>
              </a:solidFill>
              <a:latin typeface="Arial"/>
              <a:ea typeface="+mn-lt"/>
              <a:cs typeface="Arial"/>
            </a:endParaRPr>
          </a:p>
          <a:p>
            <a:r>
              <a:rPr lang="en-US" sz="1200">
                <a:solidFill>
                  <a:srgbClr val="000000"/>
                </a:solidFill>
                <a:latin typeface="Arial"/>
                <a:ea typeface="+mn-lt"/>
                <a:cs typeface="Arial"/>
              </a:rPr>
              <a:t>       → </a:t>
            </a:r>
            <a:r>
              <a:rPr lang="en-US" sz="1200" i="1">
                <a:latin typeface="Arial" panose="020B0604020202020204" pitchFamily="34" charset="0"/>
                <a:cs typeface="Arial" panose="020B0604020202020204" pitchFamily="34" charset="0"/>
              </a:rPr>
              <a:t>Entity Recognition in Resumes</a:t>
            </a:r>
            <a:r>
              <a:rPr lang="en-US" sz="1200">
                <a:latin typeface="Arial" panose="020B0604020202020204" pitchFamily="34" charset="0"/>
                <a:cs typeface="Arial" panose="020B0604020202020204" pitchFamily="34" charset="0"/>
              </a:rPr>
              <a:t> (Kaggle) for </a:t>
            </a:r>
            <a:r>
              <a:rPr lang="en-US" sz="1200" b="1">
                <a:latin typeface="Arial" panose="020B0604020202020204" pitchFamily="34" charset="0"/>
                <a:cs typeface="Arial" panose="020B0604020202020204" pitchFamily="34" charset="0"/>
              </a:rPr>
              <a:t>skill, role, and feature extraction</a:t>
            </a:r>
            <a:endParaRPr lang="en-US" sz="1200">
              <a:latin typeface="Arial" panose="020B0604020202020204" pitchFamily="34" charset="0"/>
              <a:ea typeface="Calibri"/>
              <a:cs typeface="Arial" panose="020B0604020202020204" pitchFamily="34" charset="0"/>
            </a:endParaRPr>
          </a:p>
          <a:p>
            <a:pPr marL="285750" indent="-285750" algn="l">
              <a:buFont typeface="Arial"/>
              <a:buChar char="•"/>
            </a:pPr>
            <a:endParaRPr lang="en-US" sz="1200">
              <a:solidFill>
                <a:srgbClr val="000000"/>
              </a:solidFill>
              <a:latin typeface="Arial"/>
              <a:ea typeface="Garet"/>
              <a:cs typeface="Arial"/>
            </a:endParaRPr>
          </a:p>
          <a:p>
            <a:endParaRPr lang="en-US" sz="1200">
              <a:solidFill>
                <a:srgbClr val="000000"/>
              </a:solidFill>
              <a:latin typeface="Arial"/>
              <a:ea typeface="Calibri"/>
              <a:cs typeface="Arial"/>
            </a:endParaRPr>
          </a:p>
          <a:p>
            <a:pPr>
              <a:lnSpc>
                <a:spcPts val="3203"/>
              </a:lnSpc>
            </a:pPr>
            <a:endParaRPr lang="en-US" sz="1200">
              <a:solidFill>
                <a:srgbClr val="000000"/>
              </a:solidFill>
              <a:latin typeface="Garet"/>
              <a:ea typeface="Calibri"/>
              <a:cs typeface="Calibri"/>
            </a:endParaRPr>
          </a:p>
        </p:txBody>
      </p:sp>
      <p:sp>
        <p:nvSpPr>
          <p:cNvPr id="12" name="TextBox 11">
            <a:extLst>
              <a:ext uri="{FF2B5EF4-FFF2-40B4-BE49-F238E27FC236}">
                <a16:creationId xmlns:a16="http://schemas.microsoft.com/office/drawing/2014/main" id="{7A0CC6A2-BFFC-2385-62C9-49E808D2311E}"/>
              </a:ext>
            </a:extLst>
          </p:cNvPr>
          <p:cNvSpPr txBox="1"/>
          <p:nvPr/>
        </p:nvSpPr>
        <p:spPr>
          <a:xfrm>
            <a:off x="426462" y="734128"/>
            <a:ext cx="6178052" cy="4385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250" b="1">
                <a:latin typeface="Garet"/>
                <a:ea typeface="+mn-lt"/>
                <a:cs typeface="+mn-lt"/>
              </a:rPr>
              <a:t>AI Technologies Planned &amp; In Use</a:t>
            </a:r>
            <a:endParaRPr lang="en-US">
              <a:latin typeface="Gare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5004014"/>
            <a:ext cx="10287000" cy="387136"/>
            <a:chOff x="0" y="0"/>
            <a:chExt cx="5169753" cy="194556"/>
          </a:xfrm>
        </p:grpSpPr>
        <p:sp>
          <p:nvSpPr>
            <p:cNvPr id="3" name="Freeform 3"/>
            <p:cNvSpPr/>
            <p:nvPr/>
          </p:nvSpPr>
          <p:spPr>
            <a:xfrm>
              <a:off x="0" y="0"/>
              <a:ext cx="5169753" cy="194556"/>
            </a:xfrm>
            <a:custGeom>
              <a:avLst/>
              <a:gdLst/>
              <a:ahLst/>
              <a:cxnLst/>
              <a:rect l="l" t="t" r="r" b="b"/>
              <a:pathLst>
                <a:path w="5169753" h="194556">
                  <a:moveTo>
                    <a:pt x="0" y="0"/>
                  </a:moveTo>
                  <a:lnTo>
                    <a:pt x="5169753" y="0"/>
                  </a:lnTo>
                  <a:lnTo>
                    <a:pt x="5169753" y="194556"/>
                  </a:lnTo>
                  <a:lnTo>
                    <a:pt x="0" y="194556"/>
                  </a:lnTo>
                  <a:close/>
                </a:path>
              </a:pathLst>
            </a:custGeom>
            <a:solidFill>
              <a:srgbClr val="000000"/>
            </a:solidFill>
          </p:spPr>
          <p:txBody>
            <a:bodyPr/>
            <a:lstStyle/>
            <a:p>
              <a:endParaRPr lang="en-IN"/>
            </a:p>
          </p:txBody>
        </p:sp>
        <p:sp>
          <p:nvSpPr>
            <p:cNvPr id="4" name="TextBox 4"/>
            <p:cNvSpPr txBox="1"/>
            <p:nvPr/>
          </p:nvSpPr>
          <p:spPr>
            <a:xfrm>
              <a:off x="0" y="-19050"/>
              <a:ext cx="5169753" cy="213606"/>
            </a:xfrm>
            <a:prstGeom prst="rect">
              <a:avLst/>
            </a:prstGeom>
          </p:spPr>
          <p:txBody>
            <a:bodyPr lIns="50800" tIns="50800" rIns="50800" bIns="50800" rtlCol="0" anchor="ctr"/>
            <a:lstStyle/>
            <a:p>
              <a:pPr algn="ctr">
                <a:lnSpc>
                  <a:spcPts val="1399"/>
                </a:lnSpc>
                <a:spcBef>
                  <a:spcPct val="0"/>
                </a:spcBef>
              </a:pPr>
              <a:endParaRPr/>
            </a:p>
          </p:txBody>
        </p:sp>
      </p:grpSp>
      <p:grpSp>
        <p:nvGrpSpPr>
          <p:cNvPr id="5" name="Group 5"/>
          <p:cNvGrpSpPr/>
          <p:nvPr/>
        </p:nvGrpSpPr>
        <p:grpSpPr>
          <a:xfrm>
            <a:off x="0" y="-14327"/>
            <a:ext cx="10287000" cy="651243"/>
            <a:chOff x="0" y="0"/>
            <a:chExt cx="5169753" cy="327283"/>
          </a:xfrm>
        </p:grpSpPr>
        <p:sp>
          <p:nvSpPr>
            <p:cNvPr id="6" name="Freeform 6"/>
            <p:cNvSpPr/>
            <p:nvPr/>
          </p:nvSpPr>
          <p:spPr>
            <a:xfrm>
              <a:off x="0" y="0"/>
              <a:ext cx="5169753" cy="327283"/>
            </a:xfrm>
            <a:custGeom>
              <a:avLst/>
              <a:gdLst/>
              <a:ahLst/>
              <a:cxnLst/>
              <a:rect l="l" t="t" r="r" b="b"/>
              <a:pathLst>
                <a:path w="5169753" h="327283">
                  <a:moveTo>
                    <a:pt x="0" y="0"/>
                  </a:moveTo>
                  <a:lnTo>
                    <a:pt x="5169753" y="0"/>
                  </a:lnTo>
                  <a:lnTo>
                    <a:pt x="5169753" y="327283"/>
                  </a:lnTo>
                  <a:lnTo>
                    <a:pt x="0" y="327283"/>
                  </a:lnTo>
                  <a:close/>
                </a:path>
              </a:pathLst>
            </a:custGeom>
            <a:solidFill>
              <a:srgbClr val="000000"/>
            </a:solidFill>
          </p:spPr>
          <p:txBody>
            <a:bodyPr/>
            <a:lstStyle/>
            <a:p>
              <a:endParaRPr lang="en-IN"/>
            </a:p>
          </p:txBody>
        </p:sp>
        <p:sp>
          <p:nvSpPr>
            <p:cNvPr id="7" name="TextBox 7"/>
            <p:cNvSpPr txBox="1"/>
            <p:nvPr/>
          </p:nvSpPr>
          <p:spPr>
            <a:xfrm>
              <a:off x="0" y="-19050"/>
              <a:ext cx="5169753" cy="346333"/>
            </a:xfrm>
            <a:prstGeom prst="rect">
              <a:avLst/>
            </a:prstGeom>
          </p:spPr>
          <p:txBody>
            <a:bodyPr lIns="50800" tIns="50800" rIns="50800" bIns="50800" rtlCol="0" anchor="ctr"/>
            <a:lstStyle/>
            <a:p>
              <a:pPr algn="ctr">
                <a:lnSpc>
                  <a:spcPts val="1399"/>
                </a:lnSpc>
                <a:spcBef>
                  <a:spcPct val="0"/>
                </a:spcBef>
              </a:pPr>
              <a:endParaRPr/>
            </a:p>
          </p:txBody>
        </p:sp>
      </p:grpSp>
      <p:grpSp>
        <p:nvGrpSpPr>
          <p:cNvPr id="8" name="Group 8"/>
          <p:cNvGrpSpPr/>
          <p:nvPr/>
        </p:nvGrpSpPr>
        <p:grpSpPr>
          <a:xfrm>
            <a:off x="3903074" y="-14327"/>
            <a:ext cx="2480852" cy="651243"/>
            <a:chOff x="0" y="0"/>
            <a:chExt cx="3307803" cy="868323"/>
          </a:xfrm>
        </p:grpSpPr>
        <p:sp>
          <p:nvSpPr>
            <p:cNvPr id="9" name="Freeform 9"/>
            <p:cNvSpPr/>
            <p:nvPr/>
          </p:nvSpPr>
          <p:spPr>
            <a:xfrm>
              <a:off x="0" y="0"/>
              <a:ext cx="794159" cy="868323"/>
            </a:xfrm>
            <a:custGeom>
              <a:avLst/>
              <a:gdLst/>
              <a:ahLst/>
              <a:cxnLst/>
              <a:rect l="l" t="t" r="r" b="b"/>
              <a:pathLst>
                <a:path w="794159" h="868323">
                  <a:moveTo>
                    <a:pt x="0" y="0"/>
                  </a:moveTo>
                  <a:lnTo>
                    <a:pt x="794159" y="0"/>
                  </a:lnTo>
                  <a:lnTo>
                    <a:pt x="794159" y="868323"/>
                  </a:lnTo>
                  <a:lnTo>
                    <a:pt x="0" y="868323"/>
                  </a:lnTo>
                  <a:lnTo>
                    <a:pt x="0" y="0"/>
                  </a:lnTo>
                  <a:close/>
                </a:path>
              </a:pathLst>
            </a:custGeom>
            <a:blipFill>
              <a:blip r:embed="rId2"/>
              <a:stretch>
                <a:fillRect r="-9338"/>
              </a:stretch>
            </a:blipFill>
          </p:spPr>
          <p:txBody>
            <a:bodyPr/>
            <a:lstStyle/>
            <a:p>
              <a:endParaRPr lang="en-IN"/>
            </a:p>
          </p:txBody>
        </p:sp>
        <p:sp>
          <p:nvSpPr>
            <p:cNvPr id="10" name="Freeform 10"/>
            <p:cNvSpPr/>
            <p:nvPr/>
          </p:nvSpPr>
          <p:spPr>
            <a:xfrm>
              <a:off x="895759" y="0"/>
              <a:ext cx="2412045" cy="849221"/>
            </a:xfrm>
            <a:custGeom>
              <a:avLst/>
              <a:gdLst/>
              <a:ahLst/>
              <a:cxnLst/>
              <a:rect l="l" t="t" r="r" b="b"/>
              <a:pathLst>
                <a:path w="2412045" h="849221">
                  <a:moveTo>
                    <a:pt x="0" y="0"/>
                  </a:moveTo>
                  <a:lnTo>
                    <a:pt x="2412044" y="0"/>
                  </a:lnTo>
                  <a:lnTo>
                    <a:pt x="2412044" y="849221"/>
                  </a:lnTo>
                  <a:lnTo>
                    <a:pt x="0" y="849221"/>
                  </a:lnTo>
                  <a:lnTo>
                    <a:pt x="0" y="0"/>
                  </a:lnTo>
                  <a:close/>
                </a:path>
              </a:pathLst>
            </a:custGeom>
            <a:blipFill>
              <a:blip r:embed="rId3"/>
              <a:stretch>
                <a:fillRect l="-5490"/>
              </a:stretch>
            </a:blipFill>
          </p:spPr>
          <p:txBody>
            <a:bodyPr/>
            <a:lstStyle/>
            <a:p>
              <a:endParaRPr lang="en-IN"/>
            </a:p>
          </p:txBody>
        </p:sp>
      </p:grpSp>
      <p:sp>
        <p:nvSpPr>
          <p:cNvPr id="11" name="TextBox 11"/>
          <p:cNvSpPr txBox="1"/>
          <p:nvPr/>
        </p:nvSpPr>
        <p:spPr>
          <a:xfrm>
            <a:off x="255806" y="776787"/>
            <a:ext cx="8301178" cy="806183"/>
          </a:xfrm>
          <a:prstGeom prst="rect">
            <a:avLst/>
          </a:prstGeom>
        </p:spPr>
        <p:txBody>
          <a:bodyPr lIns="0" tIns="0" rIns="0" bIns="0" rtlCol="0" anchor="t">
            <a:spAutoFit/>
          </a:bodyPr>
          <a:lstStyle/>
          <a:p>
            <a:pPr algn="l">
              <a:lnSpc>
                <a:spcPts val="3203"/>
              </a:lnSpc>
            </a:pPr>
            <a:r>
              <a:rPr lang="en-US" sz="2250" b="1">
                <a:solidFill>
                  <a:srgbClr val="000000"/>
                </a:solidFill>
                <a:latin typeface="Garet"/>
                <a:ea typeface="Garet"/>
                <a:cs typeface="Garet"/>
                <a:sym typeface="Garet"/>
              </a:rPr>
              <a:t>Architecture diagram of the proposed solution</a:t>
            </a:r>
            <a:endParaRPr lang="en-US" sz="2250" b="1">
              <a:solidFill>
                <a:srgbClr val="000000"/>
              </a:solidFill>
              <a:latin typeface="Garet"/>
              <a:ea typeface="Garet"/>
              <a:cs typeface="Garet"/>
            </a:endParaRPr>
          </a:p>
          <a:p>
            <a:pPr algn="l">
              <a:lnSpc>
                <a:spcPts val="3203"/>
              </a:lnSpc>
            </a:pPr>
            <a:endParaRPr lang="en-US" sz="2288">
              <a:solidFill>
                <a:srgbClr val="000000"/>
              </a:solidFill>
              <a:latin typeface="Garet"/>
              <a:ea typeface="Garet"/>
              <a:cs typeface="Garet"/>
              <a:sym typeface="Garet"/>
            </a:endParaRPr>
          </a:p>
        </p:txBody>
      </p:sp>
      <p:pic>
        <p:nvPicPr>
          <p:cNvPr id="12" name="Picture 11" descr="A diagram of a software development process&#10;&#10;AI-generated content may be incorrect.">
            <a:extLst>
              <a:ext uri="{FF2B5EF4-FFF2-40B4-BE49-F238E27FC236}">
                <a16:creationId xmlns:a16="http://schemas.microsoft.com/office/drawing/2014/main" id="{DB4D93FA-29EC-5107-052E-A3663D0EF5D9}"/>
              </a:ext>
            </a:extLst>
          </p:cNvPr>
          <p:cNvPicPr>
            <a:picLocks noChangeAspect="1"/>
          </p:cNvPicPr>
          <p:nvPr/>
        </p:nvPicPr>
        <p:blipFill>
          <a:blip r:embed="rId4"/>
          <a:srcRect l="6147" r="140"/>
          <a:stretch>
            <a:fillRect/>
          </a:stretch>
        </p:blipFill>
        <p:spPr>
          <a:xfrm>
            <a:off x="2281825" y="1344001"/>
            <a:ext cx="5862635" cy="355448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B7B59-065F-FAE8-B76E-2C946596F8EC}"/>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B5F4A6B0-6010-46AB-7068-17BBEC4FD2FE}"/>
              </a:ext>
            </a:extLst>
          </p:cNvPr>
          <p:cNvGrpSpPr/>
          <p:nvPr/>
        </p:nvGrpSpPr>
        <p:grpSpPr>
          <a:xfrm>
            <a:off x="0" y="5004014"/>
            <a:ext cx="10287000" cy="387136"/>
            <a:chOff x="0" y="0"/>
            <a:chExt cx="5169753" cy="194556"/>
          </a:xfrm>
        </p:grpSpPr>
        <p:sp>
          <p:nvSpPr>
            <p:cNvPr id="3" name="Freeform 3">
              <a:extLst>
                <a:ext uri="{FF2B5EF4-FFF2-40B4-BE49-F238E27FC236}">
                  <a16:creationId xmlns:a16="http://schemas.microsoft.com/office/drawing/2014/main" id="{5C10A074-BE94-CE00-4ADE-0C81E01B381C}"/>
                </a:ext>
              </a:extLst>
            </p:cNvPr>
            <p:cNvSpPr/>
            <p:nvPr/>
          </p:nvSpPr>
          <p:spPr>
            <a:xfrm>
              <a:off x="0" y="0"/>
              <a:ext cx="5169753" cy="194556"/>
            </a:xfrm>
            <a:custGeom>
              <a:avLst/>
              <a:gdLst/>
              <a:ahLst/>
              <a:cxnLst/>
              <a:rect l="l" t="t" r="r" b="b"/>
              <a:pathLst>
                <a:path w="5169753" h="194556">
                  <a:moveTo>
                    <a:pt x="0" y="0"/>
                  </a:moveTo>
                  <a:lnTo>
                    <a:pt x="5169753" y="0"/>
                  </a:lnTo>
                  <a:lnTo>
                    <a:pt x="5169753" y="194556"/>
                  </a:lnTo>
                  <a:lnTo>
                    <a:pt x="0" y="194556"/>
                  </a:lnTo>
                  <a:close/>
                </a:path>
              </a:pathLst>
            </a:custGeom>
            <a:solidFill>
              <a:srgbClr val="000000"/>
            </a:solidFill>
          </p:spPr>
          <p:txBody>
            <a:bodyPr/>
            <a:lstStyle/>
            <a:p>
              <a:endParaRPr lang="en-IN"/>
            </a:p>
          </p:txBody>
        </p:sp>
        <p:sp>
          <p:nvSpPr>
            <p:cNvPr id="4" name="TextBox 4">
              <a:extLst>
                <a:ext uri="{FF2B5EF4-FFF2-40B4-BE49-F238E27FC236}">
                  <a16:creationId xmlns:a16="http://schemas.microsoft.com/office/drawing/2014/main" id="{B75DFFD1-EB90-B69E-9DA6-88828CE24A53}"/>
                </a:ext>
              </a:extLst>
            </p:cNvPr>
            <p:cNvSpPr txBox="1"/>
            <p:nvPr/>
          </p:nvSpPr>
          <p:spPr>
            <a:xfrm>
              <a:off x="0" y="-19050"/>
              <a:ext cx="5169753" cy="213606"/>
            </a:xfrm>
            <a:prstGeom prst="rect">
              <a:avLst/>
            </a:prstGeom>
          </p:spPr>
          <p:txBody>
            <a:bodyPr lIns="50800" tIns="50800" rIns="50800" bIns="50800" rtlCol="0" anchor="ctr"/>
            <a:lstStyle/>
            <a:p>
              <a:pPr algn="ctr">
                <a:lnSpc>
                  <a:spcPts val="1399"/>
                </a:lnSpc>
                <a:spcBef>
                  <a:spcPct val="0"/>
                </a:spcBef>
              </a:pPr>
              <a:endParaRPr/>
            </a:p>
          </p:txBody>
        </p:sp>
      </p:grpSp>
      <p:grpSp>
        <p:nvGrpSpPr>
          <p:cNvPr id="5" name="Group 5">
            <a:extLst>
              <a:ext uri="{FF2B5EF4-FFF2-40B4-BE49-F238E27FC236}">
                <a16:creationId xmlns:a16="http://schemas.microsoft.com/office/drawing/2014/main" id="{979260D0-7EB0-2017-AF44-B72AACE75893}"/>
              </a:ext>
            </a:extLst>
          </p:cNvPr>
          <p:cNvGrpSpPr/>
          <p:nvPr/>
        </p:nvGrpSpPr>
        <p:grpSpPr>
          <a:xfrm>
            <a:off x="0" y="-14327"/>
            <a:ext cx="10287000" cy="651243"/>
            <a:chOff x="0" y="0"/>
            <a:chExt cx="5169753" cy="327283"/>
          </a:xfrm>
        </p:grpSpPr>
        <p:sp>
          <p:nvSpPr>
            <p:cNvPr id="6" name="Freeform 6">
              <a:extLst>
                <a:ext uri="{FF2B5EF4-FFF2-40B4-BE49-F238E27FC236}">
                  <a16:creationId xmlns:a16="http://schemas.microsoft.com/office/drawing/2014/main" id="{E0CEF926-767D-92B6-922A-C468CAB7170D}"/>
                </a:ext>
              </a:extLst>
            </p:cNvPr>
            <p:cNvSpPr/>
            <p:nvPr/>
          </p:nvSpPr>
          <p:spPr>
            <a:xfrm>
              <a:off x="0" y="0"/>
              <a:ext cx="5169753" cy="327283"/>
            </a:xfrm>
            <a:custGeom>
              <a:avLst/>
              <a:gdLst/>
              <a:ahLst/>
              <a:cxnLst/>
              <a:rect l="l" t="t" r="r" b="b"/>
              <a:pathLst>
                <a:path w="5169753" h="327283">
                  <a:moveTo>
                    <a:pt x="0" y="0"/>
                  </a:moveTo>
                  <a:lnTo>
                    <a:pt x="5169753" y="0"/>
                  </a:lnTo>
                  <a:lnTo>
                    <a:pt x="5169753" y="327283"/>
                  </a:lnTo>
                  <a:lnTo>
                    <a:pt x="0" y="327283"/>
                  </a:lnTo>
                  <a:close/>
                </a:path>
              </a:pathLst>
            </a:custGeom>
            <a:solidFill>
              <a:srgbClr val="000000"/>
            </a:solidFill>
          </p:spPr>
          <p:txBody>
            <a:bodyPr/>
            <a:lstStyle/>
            <a:p>
              <a:endParaRPr lang="en-IN"/>
            </a:p>
          </p:txBody>
        </p:sp>
        <p:sp>
          <p:nvSpPr>
            <p:cNvPr id="7" name="TextBox 7">
              <a:extLst>
                <a:ext uri="{FF2B5EF4-FFF2-40B4-BE49-F238E27FC236}">
                  <a16:creationId xmlns:a16="http://schemas.microsoft.com/office/drawing/2014/main" id="{B3FD3B4E-91AF-25A6-7D2F-AD2829F6CFBC}"/>
                </a:ext>
              </a:extLst>
            </p:cNvPr>
            <p:cNvSpPr txBox="1"/>
            <p:nvPr/>
          </p:nvSpPr>
          <p:spPr>
            <a:xfrm>
              <a:off x="0" y="-19050"/>
              <a:ext cx="5169753" cy="346333"/>
            </a:xfrm>
            <a:prstGeom prst="rect">
              <a:avLst/>
            </a:prstGeom>
          </p:spPr>
          <p:txBody>
            <a:bodyPr lIns="50800" tIns="50800" rIns="50800" bIns="50800" rtlCol="0" anchor="ctr"/>
            <a:lstStyle/>
            <a:p>
              <a:pPr algn="ctr">
                <a:lnSpc>
                  <a:spcPts val="1399"/>
                </a:lnSpc>
                <a:spcBef>
                  <a:spcPct val="0"/>
                </a:spcBef>
              </a:pPr>
              <a:endParaRPr/>
            </a:p>
          </p:txBody>
        </p:sp>
      </p:grpSp>
      <p:grpSp>
        <p:nvGrpSpPr>
          <p:cNvPr id="8" name="Group 8">
            <a:extLst>
              <a:ext uri="{FF2B5EF4-FFF2-40B4-BE49-F238E27FC236}">
                <a16:creationId xmlns:a16="http://schemas.microsoft.com/office/drawing/2014/main" id="{122428C4-2299-6B9D-54BB-D4F9CDD5E949}"/>
              </a:ext>
            </a:extLst>
          </p:cNvPr>
          <p:cNvGrpSpPr/>
          <p:nvPr/>
        </p:nvGrpSpPr>
        <p:grpSpPr>
          <a:xfrm>
            <a:off x="3903074" y="-14327"/>
            <a:ext cx="2480852" cy="651243"/>
            <a:chOff x="0" y="0"/>
            <a:chExt cx="3307803" cy="868323"/>
          </a:xfrm>
        </p:grpSpPr>
        <p:sp>
          <p:nvSpPr>
            <p:cNvPr id="9" name="Freeform 9">
              <a:extLst>
                <a:ext uri="{FF2B5EF4-FFF2-40B4-BE49-F238E27FC236}">
                  <a16:creationId xmlns:a16="http://schemas.microsoft.com/office/drawing/2014/main" id="{E1E5A826-D3A4-6ABE-6595-F7BB5A4E8416}"/>
                </a:ext>
              </a:extLst>
            </p:cNvPr>
            <p:cNvSpPr/>
            <p:nvPr/>
          </p:nvSpPr>
          <p:spPr>
            <a:xfrm>
              <a:off x="0" y="0"/>
              <a:ext cx="794159" cy="868323"/>
            </a:xfrm>
            <a:custGeom>
              <a:avLst/>
              <a:gdLst/>
              <a:ahLst/>
              <a:cxnLst/>
              <a:rect l="l" t="t" r="r" b="b"/>
              <a:pathLst>
                <a:path w="794159" h="868323">
                  <a:moveTo>
                    <a:pt x="0" y="0"/>
                  </a:moveTo>
                  <a:lnTo>
                    <a:pt x="794159" y="0"/>
                  </a:lnTo>
                  <a:lnTo>
                    <a:pt x="794159" y="868323"/>
                  </a:lnTo>
                  <a:lnTo>
                    <a:pt x="0" y="868323"/>
                  </a:lnTo>
                  <a:lnTo>
                    <a:pt x="0" y="0"/>
                  </a:lnTo>
                  <a:close/>
                </a:path>
              </a:pathLst>
            </a:custGeom>
            <a:blipFill>
              <a:blip r:embed="rId2"/>
              <a:stretch>
                <a:fillRect r="-9338"/>
              </a:stretch>
            </a:blipFill>
          </p:spPr>
          <p:txBody>
            <a:bodyPr/>
            <a:lstStyle/>
            <a:p>
              <a:endParaRPr lang="en-IN"/>
            </a:p>
          </p:txBody>
        </p:sp>
        <p:sp>
          <p:nvSpPr>
            <p:cNvPr id="10" name="Freeform 10">
              <a:extLst>
                <a:ext uri="{FF2B5EF4-FFF2-40B4-BE49-F238E27FC236}">
                  <a16:creationId xmlns:a16="http://schemas.microsoft.com/office/drawing/2014/main" id="{0BDFA55E-5E38-5317-D825-30E50F102200}"/>
                </a:ext>
              </a:extLst>
            </p:cNvPr>
            <p:cNvSpPr/>
            <p:nvPr/>
          </p:nvSpPr>
          <p:spPr>
            <a:xfrm>
              <a:off x="895759" y="0"/>
              <a:ext cx="2412045" cy="849221"/>
            </a:xfrm>
            <a:custGeom>
              <a:avLst/>
              <a:gdLst/>
              <a:ahLst/>
              <a:cxnLst/>
              <a:rect l="l" t="t" r="r" b="b"/>
              <a:pathLst>
                <a:path w="2412045" h="849221">
                  <a:moveTo>
                    <a:pt x="0" y="0"/>
                  </a:moveTo>
                  <a:lnTo>
                    <a:pt x="2412044" y="0"/>
                  </a:lnTo>
                  <a:lnTo>
                    <a:pt x="2412044" y="849221"/>
                  </a:lnTo>
                  <a:lnTo>
                    <a:pt x="0" y="849221"/>
                  </a:lnTo>
                  <a:lnTo>
                    <a:pt x="0" y="0"/>
                  </a:lnTo>
                  <a:close/>
                </a:path>
              </a:pathLst>
            </a:custGeom>
            <a:blipFill>
              <a:blip r:embed="rId3"/>
              <a:stretch>
                <a:fillRect l="-5490"/>
              </a:stretch>
            </a:blipFill>
          </p:spPr>
          <p:txBody>
            <a:bodyPr/>
            <a:lstStyle/>
            <a:p>
              <a:endParaRPr lang="en-IN"/>
            </a:p>
          </p:txBody>
        </p:sp>
      </p:grpSp>
      <p:sp>
        <p:nvSpPr>
          <p:cNvPr id="11" name="TextBox 11">
            <a:extLst>
              <a:ext uri="{FF2B5EF4-FFF2-40B4-BE49-F238E27FC236}">
                <a16:creationId xmlns:a16="http://schemas.microsoft.com/office/drawing/2014/main" id="{0F7509D8-2601-3ED4-1FA4-A7006DFA9F09}"/>
              </a:ext>
            </a:extLst>
          </p:cNvPr>
          <p:cNvSpPr txBox="1"/>
          <p:nvPr/>
        </p:nvSpPr>
        <p:spPr>
          <a:xfrm>
            <a:off x="344218" y="712536"/>
            <a:ext cx="8301178" cy="394339"/>
          </a:xfrm>
          <a:prstGeom prst="rect">
            <a:avLst/>
          </a:prstGeom>
        </p:spPr>
        <p:txBody>
          <a:bodyPr lIns="0" tIns="0" rIns="0" bIns="0" rtlCol="0" anchor="t">
            <a:spAutoFit/>
          </a:bodyPr>
          <a:lstStyle/>
          <a:p>
            <a:pPr>
              <a:lnSpc>
                <a:spcPts val="3203"/>
              </a:lnSpc>
            </a:pPr>
            <a:r>
              <a:rPr lang="en-US" sz="2250" b="1">
                <a:solidFill>
                  <a:srgbClr val="000000"/>
                </a:solidFill>
                <a:latin typeface="Garet"/>
                <a:ea typeface="Garet"/>
                <a:cs typeface="Garet"/>
                <a:sym typeface="Garet"/>
              </a:rPr>
              <a:t>Mock Frames(Partial Implementation)</a:t>
            </a:r>
            <a:endParaRPr lang="en-US" sz="2250" b="1">
              <a:latin typeface="Garet"/>
            </a:endParaRPr>
          </a:p>
        </p:txBody>
      </p:sp>
      <p:pic>
        <p:nvPicPr>
          <p:cNvPr id="14" name="Picture 13">
            <a:extLst>
              <a:ext uri="{FF2B5EF4-FFF2-40B4-BE49-F238E27FC236}">
                <a16:creationId xmlns:a16="http://schemas.microsoft.com/office/drawing/2014/main" id="{54F5CF87-84C9-5AA4-5C10-88E631F577B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24000" y="1100058"/>
            <a:ext cx="6799944" cy="3824969"/>
          </a:xfrm>
          <a:prstGeom prst="rect">
            <a:avLst/>
          </a:prstGeom>
        </p:spPr>
      </p:pic>
    </p:spTree>
    <p:extLst>
      <p:ext uri="{BB962C8B-B14F-4D97-AF65-F5344CB8AC3E}">
        <p14:creationId xmlns:p14="http://schemas.microsoft.com/office/powerpoint/2010/main" val="25716209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5004014"/>
            <a:ext cx="10287000" cy="387136"/>
            <a:chOff x="0" y="0"/>
            <a:chExt cx="5169753" cy="194556"/>
          </a:xfrm>
        </p:grpSpPr>
        <p:sp>
          <p:nvSpPr>
            <p:cNvPr id="3" name="Freeform 3"/>
            <p:cNvSpPr/>
            <p:nvPr/>
          </p:nvSpPr>
          <p:spPr>
            <a:xfrm>
              <a:off x="0" y="0"/>
              <a:ext cx="5169753" cy="194556"/>
            </a:xfrm>
            <a:custGeom>
              <a:avLst/>
              <a:gdLst/>
              <a:ahLst/>
              <a:cxnLst/>
              <a:rect l="l" t="t" r="r" b="b"/>
              <a:pathLst>
                <a:path w="5169753" h="194556">
                  <a:moveTo>
                    <a:pt x="0" y="0"/>
                  </a:moveTo>
                  <a:lnTo>
                    <a:pt x="5169753" y="0"/>
                  </a:lnTo>
                  <a:lnTo>
                    <a:pt x="5169753" y="194556"/>
                  </a:lnTo>
                  <a:lnTo>
                    <a:pt x="0" y="194556"/>
                  </a:lnTo>
                  <a:close/>
                </a:path>
              </a:pathLst>
            </a:custGeom>
            <a:solidFill>
              <a:srgbClr val="000000"/>
            </a:solidFill>
          </p:spPr>
          <p:txBody>
            <a:bodyPr/>
            <a:lstStyle/>
            <a:p>
              <a:endParaRPr lang="en-IN"/>
            </a:p>
          </p:txBody>
        </p:sp>
        <p:sp>
          <p:nvSpPr>
            <p:cNvPr id="4" name="TextBox 4"/>
            <p:cNvSpPr txBox="1"/>
            <p:nvPr/>
          </p:nvSpPr>
          <p:spPr>
            <a:xfrm>
              <a:off x="0" y="-19050"/>
              <a:ext cx="5169753" cy="213606"/>
            </a:xfrm>
            <a:prstGeom prst="rect">
              <a:avLst/>
            </a:prstGeom>
          </p:spPr>
          <p:txBody>
            <a:bodyPr lIns="50800" tIns="50800" rIns="50800" bIns="50800" rtlCol="0" anchor="ctr"/>
            <a:lstStyle/>
            <a:p>
              <a:pPr algn="ctr">
                <a:lnSpc>
                  <a:spcPts val="1399"/>
                </a:lnSpc>
                <a:spcBef>
                  <a:spcPct val="0"/>
                </a:spcBef>
              </a:pPr>
              <a:endParaRPr/>
            </a:p>
          </p:txBody>
        </p:sp>
      </p:grpSp>
      <p:grpSp>
        <p:nvGrpSpPr>
          <p:cNvPr id="5" name="Group 5"/>
          <p:cNvGrpSpPr/>
          <p:nvPr/>
        </p:nvGrpSpPr>
        <p:grpSpPr>
          <a:xfrm>
            <a:off x="0" y="-14327"/>
            <a:ext cx="10287000" cy="651243"/>
            <a:chOff x="0" y="0"/>
            <a:chExt cx="5169753" cy="327283"/>
          </a:xfrm>
        </p:grpSpPr>
        <p:sp>
          <p:nvSpPr>
            <p:cNvPr id="6" name="Freeform 6"/>
            <p:cNvSpPr/>
            <p:nvPr/>
          </p:nvSpPr>
          <p:spPr>
            <a:xfrm>
              <a:off x="0" y="0"/>
              <a:ext cx="5169753" cy="327283"/>
            </a:xfrm>
            <a:custGeom>
              <a:avLst/>
              <a:gdLst/>
              <a:ahLst/>
              <a:cxnLst/>
              <a:rect l="l" t="t" r="r" b="b"/>
              <a:pathLst>
                <a:path w="5169753" h="327283">
                  <a:moveTo>
                    <a:pt x="0" y="0"/>
                  </a:moveTo>
                  <a:lnTo>
                    <a:pt x="5169753" y="0"/>
                  </a:lnTo>
                  <a:lnTo>
                    <a:pt x="5169753" y="327283"/>
                  </a:lnTo>
                  <a:lnTo>
                    <a:pt x="0" y="327283"/>
                  </a:lnTo>
                  <a:close/>
                </a:path>
              </a:pathLst>
            </a:custGeom>
            <a:solidFill>
              <a:srgbClr val="000000"/>
            </a:solidFill>
          </p:spPr>
          <p:txBody>
            <a:bodyPr/>
            <a:lstStyle/>
            <a:p>
              <a:endParaRPr lang="en-IN"/>
            </a:p>
          </p:txBody>
        </p:sp>
        <p:sp>
          <p:nvSpPr>
            <p:cNvPr id="7" name="TextBox 7"/>
            <p:cNvSpPr txBox="1"/>
            <p:nvPr/>
          </p:nvSpPr>
          <p:spPr>
            <a:xfrm>
              <a:off x="0" y="-19050"/>
              <a:ext cx="5169753" cy="346333"/>
            </a:xfrm>
            <a:prstGeom prst="rect">
              <a:avLst/>
            </a:prstGeom>
          </p:spPr>
          <p:txBody>
            <a:bodyPr lIns="50800" tIns="50800" rIns="50800" bIns="50800" rtlCol="0" anchor="ctr"/>
            <a:lstStyle/>
            <a:p>
              <a:pPr algn="ctr">
                <a:lnSpc>
                  <a:spcPts val="1399"/>
                </a:lnSpc>
                <a:spcBef>
                  <a:spcPct val="0"/>
                </a:spcBef>
              </a:pPr>
              <a:endParaRPr/>
            </a:p>
          </p:txBody>
        </p:sp>
      </p:grpSp>
      <p:grpSp>
        <p:nvGrpSpPr>
          <p:cNvPr id="8" name="Group 8"/>
          <p:cNvGrpSpPr/>
          <p:nvPr/>
        </p:nvGrpSpPr>
        <p:grpSpPr>
          <a:xfrm>
            <a:off x="3903074" y="-14327"/>
            <a:ext cx="2480852" cy="651243"/>
            <a:chOff x="0" y="0"/>
            <a:chExt cx="3307803" cy="868323"/>
          </a:xfrm>
        </p:grpSpPr>
        <p:sp>
          <p:nvSpPr>
            <p:cNvPr id="9" name="Freeform 9"/>
            <p:cNvSpPr/>
            <p:nvPr/>
          </p:nvSpPr>
          <p:spPr>
            <a:xfrm>
              <a:off x="0" y="0"/>
              <a:ext cx="794159" cy="868323"/>
            </a:xfrm>
            <a:custGeom>
              <a:avLst/>
              <a:gdLst/>
              <a:ahLst/>
              <a:cxnLst/>
              <a:rect l="l" t="t" r="r" b="b"/>
              <a:pathLst>
                <a:path w="794159" h="868323">
                  <a:moveTo>
                    <a:pt x="0" y="0"/>
                  </a:moveTo>
                  <a:lnTo>
                    <a:pt x="794159" y="0"/>
                  </a:lnTo>
                  <a:lnTo>
                    <a:pt x="794159" y="868323"/>
                  </a:lnTo>
                  <a:lnTo>
                    <a:pt x="0" y="868323"/>
                  </a:lnTo>
                  <a:lnTo>
                    <a:pt x="0" y="0"/>
                  </a:lnTo>
                  <a:close/>
                </a:path>
              </a:pathLst>
            </a:custGeom>
            <a:blipFill>
              <a:blip r:embed="rId2"/>
              <a:stretch>
                <a:fillRect r="-9338"/>
              </a:stretch>
            </a:blipFill>
          </p:spPr>
          <p:txBody>
            <a:bodyPr/>
            <a:lstStyle/>
            <a:p>
              <a:endParaRPr lang="en-IN"/>
            </a:p>
          </p:txBody>
        </p:sp>
        <p:sp>
          <p:nvSpPr>
            <p:cNvPr id="10" name="Freeform 10"/>
            <p:cNvSpPr/>
            <p:nvPr/>
          </p:nvSpPr>
          <p:spPr>
            <a:xfrm>
              <a:off x="895759" y="0"/>
              <a:ext cx="2412045" cy="849221"/>
            </a:xfrm>
            <a:custGeom>
              <a:avLst/>
              <a:gdLst/>
              <a:ahLst/>
              <a:cxnLst/>
              <a:rect l="l" t="t" r="r" b="b"/>
              <a:pathLst>
                <a:path w="2412045" h="849221">
                  <a:moveTo>
                    <a:pt x="0" y="0"/>
                  </a:moveTo>
                  <a:lnTo>
                    <a:pt x="2412044" y="0"/>
                  </a:lnTo>
                  <a:lnTo>
                    <a:pt x="2412044" y="849221"/>
                  </a:lnTo>
                  <a:lnTo>
                    <a:pt x="0" y="849221"/>
                  </a:lnTo>
                  <a:lnTo>
                    <a:pt x="0" y="0"/>
                  </a:lnTo>
                  <a:close/>
                </a:path>
              </a:pathLst>
            </a:custGeom>
            <a:blipFill>
              <a:blip r:embed="rId3"/>
              <a:stretch>
                <a:fillRect l="-5490"/>
              </a:stretch>
            </a:blipFill>
          </p:spPr>
          <p:txBody>
            <a:bodyPr/>
            <a:lstStyle/>
            <a:p>
              <a:endParaRPr lang="en-IN"/>
            </a:p>
          </p:txBody>
        </p:sp>
      </p:grpSp>
      <p:sp>
        <p:nvSpPr>
          <p:cNvPr id="11" name="TextBox 11"/>
          <p:cNvSpPr txBox="1"/>
          <p:nvPr/>
        </p:nvSpPr>
        <p:spPr>
          <a:xfrm>
            <a:off x="344218" y="712536"/>
            <a:ext cx="8301178" cy="394339"/>
          </a:xfrm>
          <a:prstGeom prst="rect">
            <a:avLst/>
          </a:prstGeom>
        </p:spPr>
        <p:txBody>
          <a:bodyPr lIns="0" tIns="0" rIns="0" bIns="0" rtlCol="0" anchor="t">
            <a:spAutoFit/>
          </a:bodyPr>
          <a:lstStyle/>
          <a:p>
            <a:pPr>
              <a:lnSpc>
                <a:spcPts val="3203"/>
              </a:lnSpc>
            </a:pPr>
            <a:r>
              <a:rPr lang="en-US" sz="2250" b="1">
                <a:solidFill>
                  <a:srgbClr val="000000"/>
                </a:solidFill>
                <a:latin typeface="Garet"/>
                <a:ea typeface="Garet"/>
                <a:cs typeface="Garet"/>
                <a:sym typeface="Garet"/>
              </a:rPr>
              <a:t>Mock Frames(Partial Implementation)</a:t>
            </a:r>
            <a:endParaRPr lang="en-US" sz="2250" b="1">
              <a:latin typeface="Garet"/>
            </a:endParaRPr>
          </a:p>
        </p:txBody>
      </p:sp>
      <p:pic>
        <p:nvPicPr>
          <p:cNvPr id="12" name="Picture 11" descr="A screenshot of a computer screen&#10;&#10;AI-generated content may be incorrect.">
            <a:extLst>
              <a:ext uri="{FF2B5EF4-FFF2-40B4-BE49-F238E27FC236}">
                <a16:creationId xmlns:a16="http://schemas.microsoft.com/office/drawing/2014/main" id="{4AD80DA5-EA0E-2990-DD1A-E3FA2ECF420D}"/>
              </a:ext>
            </a:extLst>
          </p:cNvPr>
          <p:cNvPicPr>
            <a:picLocks noChangeAspect="1"/>
          </p:cNvPicPr>
          <p:nvPr/>
        </p:nvPicPr>
        <p:blipFill>
          <a:blip r:embed="rId4"/>
          <a:stretch>
            <a:fillRect/>
          </a:stretch>
        </p:blipFill>
        <p:spPr>
          <a:xfrm>
            <a:off x="1842921" y="1103525"/>
            <a:ext cx="6808328" cy="382757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4769124"/>
            <a:ext cx="10287000" cy="622026"/>
            <a:chOff x="0" y="0"/>
            <a:chExt cx="5169753" cy="312600"/>
          </a:xfrm>
        </p:grpSpPr>
        <p:sp>
          <p:nvSpPr>
            <p:cNvPr id="3" name="Freeform 3"/>
            <p:cNvSpPr/>
            <p:nvPr/>
          </p:nvSpPr>
          <p:spPr>
            <a:xfrm>
              <a:off x="0" y="0"/>
              <a:ext cx="5169753" cy="312600"/>
            </a:xfrm>
            <a:custGeom>
              <a:avLst/>
              <a:gdLst/>
              <a:ahLst/>
              <a:cxnLst/>
              <a:rect l="l" t="t" r="r" b="b"/>
              <a:pathLst>
                <a:path w="5169753" h="312600">
                  <a:moveTo>
                    <a:pt x="0" y="0"/>
                  </a:moveTo>
                  <a:lnTo>
                    <a:pt x="5169753" y="0"/>
                  </a:lnTo>
                  <a:lnTo>
                    <a:pt x="5169753" y="312600"/>
                  </a:lnTo>
                  <a:lnTo>
                    <a:pt x="0" y="312600"/>
                  </a:lnTo>
                  <a:close/>
                </a:path>
              </a:pathLst>
            </a:custGeom>
            <a:solidFill>
              <a:srgbClr val="000000"/>
            </a:solidFill>
          </p:spPr>
          <p:txBody>
            <a:bodyPr/>
            <a:lstStyle/>
            <a:p>
              <a:endParaRPr lang="en-IN"/>
            </a:p>
          </p:txBody>
        </p:sp>
        <p:sp>
          <p:nvSpPr>
            <p:cNvPr id="4" name="TextBox 4"/>
            <p:cNvSpPr txBox="1"/>
            <p:nvPr/>
          </p:nvSpPr>
          <p:spPr>
            <a:xfrm>
              <a:off x="0" y="-19050"/>
              <a:ext cx="5169753" cy="331650"/>
            </a:xfrm>
            <a:prstGeom prst="rect">
              <a:avLst/>
            </a:prstGeom>
          </p:spPr>
          <p:txBody>
            <a:bodyPr lIns="50800" tIns="50800" rIns="50800" bIns="50800" rtlCol="0" anchor="ctr"/>
            <a:lstStyle/>
            <a:p>
              <a:pPr algn="ctr">
                <a:lnSpc>
                  <a:spcPts val="1399"/>
                </a:lnSpc>
                <a:spcBef>
                  <a:spcPct val="0"/>
                </a:spcBef>
              </a:pPr>
              <a:endParaRPr/>
            </a:p>
          </p:txBody>
        </p:sp>
      </p:grpSp>
      <p:sp>
        <p:nvSpPr>
          <p:cNvPr id="5" name="TextBox 5"/>
          <p:cNvSpPr txBox="1"/>
          <p:nvPr/>
        </p:nvSpPr>
        <p:spPr>
          <a:xfrm>
            <a:off x="197256" y="1886850"/>
            <a:ext cx="10039850" cy="1015919"/>
          </a:xfrm>
          <a:prstGeom prst="rect">
            <a:avLst/>
          </a:prstGeom>
        </p:spPr>
        <p:txBody>
          <a:bodyPr lIns="0" tIns="0" rIns="0" bIns="0" rtlCol="0" anchor="t">
            <a:spAutoFit/>
          </a:bodyPr>
          <a:lstStyle/>
          <a:p>
            <a:pPr algn="ctr">
              <a:lnSpc>
                <a:spcPts val="7377"/>
              </a:lnSpc>
            </a:pPr>
            <a:r>
              <a:rPr lang="en-US" sz="9600" b="1">
                <a:solidFill>
                  <a:srgbClr val="000000"/>
                </a:solidFill>
                <a:latin typeface="Montserrat Bold"/>
                <a:ea typeface="Montserrat Bold"/>
                <a:cs typeface="Montserrat Bold"/>
                <a:sym typeface="Montserrat Bold"/>
              </a:rPr>
              <a:t>Thank You!</a:t>
            </a:r>
            <a:endParaRPr lang="en-US" sz="9600" b="1">
              <a:solidFill>
                <a:srgbClr val="000000"/>
              </a:solidFill>
              <a:latin typeface="Montserrat Bold"/>
              <a:ea typeface="Montserrat Bold"/>
              <a:cs typeface="Montserrat Bold"/>
            </a:endParaRPr>
          </a:p>
        </p:txBody>
      </p:sp>
      <p:sp>
        <p:nvSpPr>
          <p:cNvPr id="6" name="TextBox 6"/>
          <p:cNvSpPr txBox="1"/>
          <p:nvPr/>
        </p:nvSpPr>
        <p:spPr>
          <a:xfrm>
            <a:off x="3724721" y="3259463"/>
            <a:ext cx="2837557" cy="1974258"/>
          </a:xfrm>
          <a:prstGeom prst="rect">
            <a:avLst/>
          </a:prstGeom>
        </p:spPr>
        <p:txBody>
          <a:bodyPr lIns="0" tIns="0" rIns="0" bIns="0" rtlCol="0" anchor="t">
            <a:spAutoFit/>
          </a:bodyPr>
          <a:lstStyle/>
          <a:p>
            <a:pPr algn="ctr">
              <a:lnSpc>
                <a:spcPts val="5151"/>
              </a:lnSpc>
            </a:pPr>
            <a:r>
              <a:rPr lang="en-US" sz="3650">
                <a:solidFill>
                  <a:srgbClr val="000000"/>
                </a:solidFill>
                <a:latin typeface="Garet"/>
                <a:ea typeface="Garet"/>
                <a:cs typeface="Garet"/>
                <a:sym typeface="Garet"/>
              </a:rPr>
              <a:t>Team Debuggers</a:t>
            </a:r>
            <a:endParaRPr lang="en-US" sz="3679">
              <a:solidFill>
                <a:srgbClr val="000000"/>
              </a:solidFill>
              <a:latin typeface="Garet"/>
              <a:ea typeface="Garet"/>
              <a:cs typeface="Garet"/>
              <a:sym typeface="Garet"/>
            </a:endParaRPr>
          </a:p>
          <a:p>
            <a:pPr algn="ctr">
              <a:lnSpc>
                <a:spcPts val="5151"/>
              </a:lnSpc>
            </a:pPr>
            <a:endParaRPr lang="en-US" sz="3650">
              <a:solidFill>
                <a:srgbClr val="000000"/>
              </a:solidFill>
              <a:latin typeface="Garet"/>
              <a:ea typeface="Garet"/>
              <a:cs typeface="Garet"/>
            </a:endParaRPr>
          </a:p>
        </p:txBody>
      </p:sp>
      <p:grpSp>
        <p:nvGrpSpPr>
          <p:cNvPr id="8" name="Group 8"/>
          <p:cNvGrpSpPr/>
          <p:nvPr/>
        </p:nvGrpSpPr>
        <p:grpSpPr>
          <a:xfrm>
            <a:off x="0" y="-14327"/>
            <a:ext cx="10287000" cy="1291577"/>
            <a:chOff x="0" y="0"/>
            <a:chExt cx="5169753" cy="649085"/>
          </a:xfrm>
        </p:grpSpPr>
        <p:sp>
          <p:nvSpPr>
            <p:cNvPr id="9" name="Freeform 9"/>
            <p:cNvSpPr/>
            <p:nvPr/>
          </p:nvSpPr>
          <p:spPr>
            <a:xfrm>
              <a:off x="0" y="0"/>
              <a:ext cx="5169753" cy="649085"/>
            </a:xfrm>
            <a:custGeom>
              <a:avLst/>
              <a:gdLst/>
              <a:ahLst/>
              <a:cxnLst/>
              <a:rect l="l" t="t" r="r" b="b"/>
              <a:pathLst>
                <a:path w="5169753" h="649085">
                  <a:moveTo>
                    <a:pt x="0" y="0"/>
                  </a:moveTo>
                  <a:lnTo>
                    <a:pt x="5169753" y="0"/>
                  </a:lnTo>
                  <a:lnTo>
                    <a:pt x="5169753" y="649085"/>
                  </a:lnTo>
                  <a:lnTo>
                    <a:pt x="0" y="649085"/>
                  </a:lnTo>
                  <a:close/>
                </a:path>
              </a:pathLst>
            </a:custGeom>
            <a:solidFill>
              <a:srgbClr val="000000"/>
            </a:solidFill>
          </p:spPr>
          <p:txBody>
            <a:bodyPr/>
            <a:lstStyle/>
            <a:p>
              <a:endParaRPr lang="en-IN"/>
            </a:p>
          </p:txBody>
        </p:sp>
        <p:sp>
          <p:nvSpPr>
            <p:cNvPr id="10" name="TextBox 10"/>
            <p:cNvSpPr txBox="1"/>
            <p:nvPr/>
          </p:nvSpPr>
          <p:spPr>
            <a:xfrm>
              <a:off x="0" y="-19050"/>
              <a:ext cx="5169753" cy="668135"/>
            </a:xfrm>
            <a:prstGeom prst="rect">
              <a:avLst/>
            </a:prstGeom>
          </p:spPr>
          <p:txBody>
            <a:bodyPr lIns="50800" tIns="50800" rIns="50800" bIns="50800" rtlCol="0" anchor="ctr"/>
            <a:lstStyle/>
            <a:p>
              <a:pPr algn="ctr">
                <a:lnSpc>
                  <a:spcPts val="1399"/>
                </a:lnSpc>
                <a:spcBef>
                  <a:spcPct val="0"/>
                </a:spcBef>
              </a:pPr>
              <a:endParaRPr/>
            </a:p>
          </p:txBody>
        </p:sp>
      </p:grpSp>
      <p:grpSp>
        <p:nvGrpSpPr>
          <p:cNvPr id="11" name="Group 11"/>
          <p:cNvGrpSpPr/>
          <p:nvPr/>
        </p:nvGrpSpPr>
        <p:grpSpPr>
          <a:xfrm>
            <a:off x="3542524" y="191852"/>
            <a:ext cx="3349313" cy="879220"/>
            <a:chOff x="0" y="0"/>
            <a:chExt cx="4465751" cy="1172293"/>
          </a:xfrm>
        </p:grpSpPr>
        <p:sp>
          <p:nvSpPr>
            <p:cNvPr id="12" name="Freeform 12"/>
            <p:cNvSpPr/>
            <p:nvPr/>
          </p:nvSpPr>
          <p:spPr>
            <a:xfrm>
              <a:off x="0" y="0"/>
              <a:ext cx="1072166" cy="1172293"/>
            </a:xfrm>
            <a:custGeom>
              <a:avLst/>
              <a:gdLst/>
              <a:ahLst/>
              <a:cxnLst/>
              <a:rect l="l" t="t" r="r" b="b"/>
              <a:pathLst>
                <a:path w="1072166" h="1172293">
                  <a:moveTo>
                    <a:pt x="0" y="0"/>
                  </a:moveTo>
                  <a:lnTo>
                    <a:pt x="1072166" y="0"/>
                  </a:lnTo>
                  <a:lnTo>
                    <a:pt x="1072166" y="1172293"/>
                  </a:lnTo>
                  <a:lnTo>
                    <a:pt x="0" y="1172293"/>
                  </a:lnTo>
                  <a:lnTo>
                    <a:pt x="0" y="0"/>
                  </a:lnTo>
                  <a:close/>
                </a:path>
              </a:pathLst>
            </a:custGeom>
            <a:blipFill>
              <a:blip r:embed="rId2"/>
              <a:stretch>
                <a:fillRect r="-9338"/>
              </a:stretch>
            </a:blipFill>
          </p:spPr>
          <p:txBody>
            <a:bodyPr/>
            <a:lstStyle/>
            <a:p>
              <a:endParaRPr lang="en-IN"/>
            </a:p>
          </p:txBody>
        </p:sp>
        <p:sp>
          <p:nvSpPr>
            <p:cNvPr id="13" name="Freeform 13"/>
            <p:cNvSpPr/>
            <p:nvPr/>
          </p:nvSpPr>
          <p:spPr>
            <a:xfrm>
              <a:off x="1209333" y="0"/>
              <a:ext cx="3256418" cy="1146504"/>
            </a:xfrm>
            <a:custGeom>
              <a:avLst/>
              <a:gdLst/>
              <a:ahLst/>
              <a:cxnLst/>
              <a:rect l="l" t="t" r="r" b="b"/>
              <a:pathLst>
                <a:path w="3256418" h="1146504">
                  <a:moveTo>
                    <a:pt x="0" y="0"/>
                  </a:moveTo>
                  <a:lnTo>
                    <a:pt x="3256418" y="0"/>
                  </a:lnTo>
                  <a:lnTo>
                    <a:pt x="3256418" y="1146504"/>
                  </a:lnTo>
                  <a:lnTo>
                    <a:pt x="0" y="1146504"/>
                  </a:lnTo>
                  <a:lnTo>
                    <a:pt x="0" y="0"/>
                  </a:lnTo>
                  <a:close/>
                </a:path>
              </a:pathLst>
            </a:custGeom>
            <a:blipFill>
              <a:blip r:embed="rId3"/>
              <a:stretch>
                <a:fillRect l="-5490"/>
              </a:stretch>
            </a:blipFill>
          </p:spPr>
          <p:txBody>
            <a:bodyPr/>
            <a:lstStyle/>
            <a:p>
              <a:endParaRPr lang="en-IN"/>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activity xmlns="ffca2e19-0881-4083-b8f9-01a6c709386b"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4DE7B2D185878945BFB9A9E0B3B2944B" ma:contentTypeVersion="11" ma:contentTypeDescription="Create a new document." ma:contentTypeScope="" ma:versionID="be813f107e991db683440c994ce9e2bc">
  <xsd:schema xmlns:xsd="http://www.w3.org/2001/XMLSchema" xmlns:xs="http://www.w3.org/2001/XMLSchema" xmlns:p="http://schemas.microsoft.com/office/2006/metadata/properties" xmlns:ns3="ffca2e19-0881-4083-b8f9-01a6c709386b" targetNamespace="http://schemas.microsoft.com/office/2006/metadata/properties" ma:root="true" ma:fieldsID="07b714e7fceae3646d72c93736b7995b" ns3:_="">
    <xsd:import namespace="ffca2e19-0881-4083-b8f9-01a6c709386b"/>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ObjectDetectorVersions" minOccurs="0"/>
                <xsd:element ref="ns3:MediaServiceSystemTags" minOccurs="0"/>
                <xsd:element ref="ns3:MediaServiceOCR" minOccurs="0"/>
                <xsd:element ref="ns3:MediaServiceGenerationTime" minOccurs="0"/>
                <xsd:element ref="ns3:MediaServiceEventHashCode" minOccurs="0"/>
                <xsd:element ref="ns3:MediaLengthInSecond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ca2e19-0881-4083-b8f9-01a6c709386b"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_activity" ma:index="18"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30B49B1-AF6E-40B0-AC1C-79BF8F181FBA}">
  <ds:schemaRefs>
    <ds:schemaRef ds:uri="http://schemas.microsoft.com/sharepoint/v3/contenttype/forms"/>
  </ds:schemaRefs>
</ds:datastoreItem>
</file>

<file path=customXml/itemProps2.xml><?xml version="1.0" encoding="utf-8"?>
<ds:datastoreItem xmlns:ds="http://schemas.openxmlformats.org/officeDocument/2006/customXml" ds:itemID="{84A09226-4D0B-4DBF-9E22-B2F2B2883FAF}">
  <ds:schemaRefs>
    <ds:schemaRef ds:uri="ffca2e19-0881-4083-b8f9-01a6c709386b"/>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130B5312-8C11-43FB-9E24-5E9C490BCF97}">
  <ds:schemaRefs>
    <ds:schemaRef ds:uri="ffca2e19-0881-4083-b8f9-01a6c709386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0</TotalTime>
  <Words>657</Words>
  <Application>Microsoft Office PowerPoint</Application>
  <PresentationFormat>Custom</PresentationFormat>
  <Paragraphs>74</Paragraphs>
  <Slides>11</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vt:i4>
      </vt:variant>
    </vt:vector>
  </HeadingPairs>
  <TitlesOfParts>
    <vt:vector size="20" baseType="lpstr">
      <vt:lpstr>Arial,Sans-Serif</vt:lpstr>
      <vt:lpstr>Montserrat Bold</vt:lpstr>
      <vt:lpstr>Calibri</vt:lpstr>
      <vt:lpstr>Arial</vt:lpstr>
      <vt:lpstr>Wingdings</vt:lpstr>
      <vt:lpstr>Garet</vt:lpstr>
      <vt:lpstr>League Spartan</vt:lpstr>
      <vt:lpstr>Montserrat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AI-Verse PPT Template</dc:title>
  <cp:lastModifiedBy>HARISH</cp:lastModifiedBy>
  <cp:revision>51</cp:revision>
  <dcterms:created xsi:type="dcterms:W3CDTF">2006-08-16T00:00:00Z</dcterms:created>
  <dcterms:modified xsi:type="dcterms:W3CDTF">2025-12-31T13:14:37Z</dcterms:modified>
  <dc:identifier>DAG79ArSZVM</dc:identifier>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0x0101004DE7B2D185878945BFB9A9E0B3B2944B</vt:lpwstr>
  </property>
</Properties>
</file>