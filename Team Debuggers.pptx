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66" r:id="rId8"/>
    <p:sldId id="260" r:id="rId9"/>
    <p:sldId id="259" r:id="rId10"/>
    <p:sldId id="261" r:id="rId11"/>
    <p:sldId id="262" r:id="rId12"/>
    <p:sldId id="268" r:id="rId13"/>
    <p:sldId id="269" r:id="rId14"/>
    <p:sldId id="264" r:id="rId15"/>
  </p:sldIdLst>
  <p:sldSz cx="10287000" cy="5384800"/>
  <p:notesSz cx="6858000" cy="9144000"/>
  <p:embeddedFontLst>
    <p:embeddedFont>
      <p:font typeface="Garet" panose="020B0604020202020204" charset="0"/>
      <p:regular r:id="rId16"/>
    </p:embeddedFont>
    <p:embeddedFont>
      <p:font typeface="League Spartan" panose="020B0604020202020204" charset="0"/>
      <p:regular r:id="rId17"/>
    </p:embeddedFont>
    <p:embeddedFont>
      <p:font typeface="Montserrat" panose="00000500000000000000" pitchFamily="2" charset="0"/>
      <p:regular r:id="rId18"/>
      <p:bold r:id="rId19"/>
      <p:italic r:id="rId20"/>
      <p:boldItalic r:id="rId21"/>
    </p:embeddedFont>
    <p:embeddedFont>
      <p:font typeface="Montserrat Bold" panose="00000800000000000000"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E5834A-3A95-9FDE-967B-5BACAC690C43}" v="7" dt="2025-12-29T15:44:52.084"/>
    <p1510:client id="{05DFB81D-CBF1-41BB-656F-38E2A17A2BE4}" v="5" dt="2025-12-29T13:20:12.367"/>
    <p1510:client id="{0B2B408A-A233-9CA4-C897-CA9302C15316}" v="144" dt="2025-12-31T06:28:16.143"/>
    <p1510:client id="{2E7C9A49-8FB3-B522-4F7B-67E187CC7765}" v="104" dt="2025-12-29T16:05:14.777"/>
    <p1510:client id="{3C74F20E-1645-6595-1006-F298A440E3D1}" v="36" dt="2025-12-29T15:02:24.602"/>
    <p1510:client id="{5A6242C7-AB41-034C-2026-D011331ECACF}" v="2" dt="2025-12-29T18:07:16.445"/>
    <p1510:client id="{64E985D1-61B8-7F2E-1B7F-80BC638FA194}" v="230" dt="2025-12-30T18:13:07.691"/>
    <p1510:client id="{728B5566-AA33-EB73-5A94-995236288C7D}" v="312" dt="2025-12-30T17:38:19.580"/>
    <p1510:client id="{810F9097-F9B7-3349-5B0B-E89D277467D8}" v="35" dt="2025-12-29T17:23:26.755"/>
    <p1510:client id="{81202651-7E7B-E872-5F24-830D8FB30EC1}" v="376" dt="2025-12-29T09:42:51.317"/>
    <p1510:client id="{82B08627-F5FF-6F67-AD74-99F8A6F10D03}" v="10" dt="2025-12-29T15:53:25.263"/>
    <p1510:client id="{86E66C52-5444-58D7-8EFD-20A9CA56206C}" v="152" dt="2025-12-31T06:13:43.088"/>
    <p1510:client id="{C71A2C7B-CBF1-7419-8504-63CBF863E056}" v="7" dt="2025-12-31T04:51:03.737"/>
    <p1510:client id="{D5D1687E-400E-7175-E5AA-8E47F2B5D572}" v="1" dt="2025-12-29T19:02:37.418"/>
    <p1510:client id="{D6F4CC9C-03B3-577D-22EF-6EB4AC6CCEA2}" v="77" dt="2025-12-30T17:28:48.872"/>
    <p1510:client id="{D8843E71-A2B4-3793-BA5A-A36680DCCA07}" v="440" dt="2025-12-29T14:20:26.451"/>
    <p1510:client id="{E8E3CC8A-3655-CD62-F0A0-A25FE3C12D7E}" v="28" dt="2025-12-31T07:25:16.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312"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4927473"/>
            <a:ext cx="10287000" cy="463677"/>
            <a:chOff x="0" y="0"/>
            <a:chExt cx="5169753" cy="233022"/>
          </a:xfrm>
        </p:grpSpPr>
        <p:sp>
          <p:nvSpPr>
            <p:cNvPr id="3" name="Freeform 3"/>
            <p:cNvSpPr/>
            <p:nvPr/>
          </p:nvSpPr>
          <p:spPr>
            <a:xfrm>
              <a:off x="0" y="0"/>
              <a:ext cx="5169753" cy="233022"/>
            </a:xfrm>
            <a:custGeom>
              <a:avLst/>
              <a:gdLst/>
              <a:ahLst/>
              <a:cxnLst/>
              <a:rect l="l" t="t" r="r" b="b"/>
              <a:pathLst>
                <a:path w="5169753" h="233022">
                  <a:moveTo>
                    <a:pt x="0" y="0"/>
                  </a:moveTo>
                  <a:lnTo>
                    <a:pt x="5169753" y="0"/>
                  </a:lnTo>
                  <a:lnTo>
                    <a:pt x="5169753" y="233022"/>
                  </a:lnTo>
                  <a:lnTo>
                    <a:pt x="0" y="233022"/>
                  </a:lnTo>
                  <a:close/>
                </a:path>
              </a:pathLst>
            </a:custGeom>
            <a:solidFill>
              <a:srgbClr val="FFFFFF"/>
            </a:solidFill>
          </p:spPr>
          <p:txBody>
            <a:bodyPr/>
            <a:lstStyle/>
            <a:p>
              <a:endParaRPr lang="en-IN"/>
            </a:p>
          </p:txBody>
        </p:sp>
        <p:sp>
          <p:nvSpPr>
            <p:cNvPr id="4" name="TextBox 4"/>
            <p:cNvSpPr txBox="1"/>
            <p:nvPr/>
          </p:nvSpPr>
          <p:spPr>
            <a:xfrm>
              <a:off x="0" y="-19050"/>
              <a:ext cx="5169753" cy="252072"/>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0"/>
            <a:ext cx="10287000" cy="2539588"/>
            <a:chOff x="0" y="0"/>
            <a:chExt cx="5169753" cy="1276275"/>
          </a:xfrm>
        </p:grpSpPr>
        <p:sp>
          <p:nvSpPr>
            <p:cNvPr id="6" name="Freeform 6"/>
            <p:cNvSpPr/>
            <p:nvPr/>
          </p:nvSpPr>
          <p:spPr>
            <a:xfrm>
              <a:off x="0" y="0"/>
              <a:ext cx="5169753" cy="1276275"/>
            </a:xfrm>
            <a:custGeom>
              <a:avLst/>
              <a:gdLst/>
              <a:ahLst/>
              <a:cxnLst/>
              <a:rect l="l" t="t" r="r" b="b"/>
              <a:pathLst>
                <a:path w="5169753" h="1276275">
                  <a:moveTo>
                    <a:pt x="0" y="0"/>
                  </a:moveTo>
                  <a:lnTo>
                    <a:pt x="5169753" y="0"/>
                  </a:lnTo>
                  <a:lnTo>
                    <a:pt x="5169753" y="1276275"/>
                  </a:lnTo>
                  <a:lnTo>
                    <a:pt x="0" y="1276275"/>
                  </a:lnTo>
                  <a:close/>
                </a:path>
              </a:pathLst>
            </a:custGeom>
            <a:solidFill>
              <a:srgbClr val="FFFFFF"/>
            </a:solidFill>
          </p:spPr>
          <p:txBody>
            <a:bodyPr/>
            <a:lstStyle/>
            <a:p>
              <a:endParaRPr lang="en-IN"/>
            </a:p>
          </p:txBody>
        </p:sp>
        <p:sp>
          <p:nvSpPr>
            <p:cNvPr id="7" name="TextBox 7"/>
            <p:cNvSpPr txBox="1"/>
            <p:nvPr/>
          </p:nvSpPr>
          <p:spPr>
            <a:xfrm>
              <a:off x="0" y="-19050"/>
              <a:ext cx="5169753" cy="1295325"/>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9100468" y="200532"/>
            <a:ext cx="956040" cy="343825"/>
            <a:chOff x="0" y="0"/>
            <a:chExt cx="1274720" cy="458433"/>
          </a:xfrm>
        </p:grpSpPr>
        <p:sp>
          <p:nvSpPr>
            <p:cNvPr id="9" name="Freeform 9"/>
            <p:cNvSpPr/>
            <p:nvPr/>
          </p:nvSpPr>
          <p:spPr>
            <a:xfrm>
              <a:off x="375415" y="26673"/>
              <a:ext cx="899305" cy="431760"/>
            </a:xfrm>
            <a:custGeom>
              <a:avLst/>
              <a:gdLst/>
              <a:ahLst/>
              <a:cxnLst/>
              <a:rect l="l" t="t" r="r" b="b"/>
              <a:pathLst>
                <a:path w="899305" h="431760">
                  <a:moveTo>
                    <a:pt x="0" y="0"/>
                  </a:moveTo>
                  <a:lnTo>
                    <a:pt x="899305" y="0"/>
                  </a:lnTo>
                  <a:lnTo>
                    <a:pt x="899305" y="431760"/>
                  </a:lnTo>
                  <a:lnTo>
                    <a:pt x="0" y="431760"/>
                  </a:lnTo>
                  <a:lnTo>
                    <a:pt x="0" y="0"/>
                  </a:lnTo>
                  <a:close/>
                </a:path>
              </a:pathLst>
            </a:custGeom>
            <a:blipFill>
              <a:blip r:embed="rId2"/>
              <a:stretch>
                <a:fillRect l="-42914"/>
              </a:stretch>
            </a:blipFill>
          </p:spPr>
          <p:txBody>
            <a:bodyPr/>
            <a:lstStyle/>
            <a:p>
              <a:endParaRPr lang="en-IN"/>
            </a:p>
          </p:txBody>
        </p:sp>
        <p:sp>
          <p:nvSpPr>
            <p:cNvPr id="10" name="Freeform 10"/>
            <p:cNvSpPr/>
            <p:nvPr/>
          </p:nvSpPr>
          <p:spPr>
            <a:xfrm>
              <a:off x="0" y="0"/>
              <a:ext cx="385934" cy="431760"/>
            </a:xfrm>
            <a:custGeom>
              <a:avLst/>
              <a:gdLst/>
              <a:ahLst/>
              <a:cxnLst/>
              <a:rect l="l" t="t" r="r" b="b"/>
              <a:pathLst>
                <a:path w="385934" h="431760">
                  <a:moveTo>
                    <a:pt x="0" y="0"/>
                  </a:moveTo>
                  <a:lnTo>
                    <a:pt x="385934" y="0"/>
                  </a:lnTo>
                  <a:lnTo>
                    <a:pt x="385934" y="431760"/>
                  </a:lnTo>
                  <a:lnTo>
                    <a:pt x="0" y="431760"/>
                  </a:lnTo>
                  <a:lnTo>
                    <a:pt x="0" y="0"/>
                  </a:lnTo>
                  <a:close/>
                </a:path>
              </a:pathLst>
            </a:custGeom>
            <a:blipFill>
              <a:blip r:embed="rId3"/>
              <a:stretch>
                <a:fillRect r="-233020"/>
              </a:stretch>
            </a:blipFill>
          </p:spPr>
          <p:txBody>
            <a:bodyPr/>
            <a:lstStyle/>
            <a:p>
              <a:endParaRPr lang="en-IN"/>
            </a:p>
          </p:txBody>
        </p:sp>
      </p:grpSp>
      <p:sp>
        <p:nvSpPr>
          <p:cNvPr id="11" name="Freeform 11"/>
          <p:cNvSpPr/>
          <p:nvPr/>
        </p:nvSpPr>
        <p:spPr>
          <a:xfrm>
            <a:off x="205679" y="196940"/>
            <a:ext cx="1550158" cy="351008"/>
          </a:xfrm>
          <a:custGeom>
            <a:avLst/>
            <a:gdLst/>
            <a:ahLst/>
            <a:cxnLst/>
            <a:rect l="l" t="t" r="r" b="b"/>
            <a:pathLst>
              <a:path w="1550158" h="351008">
                <a:moveTo>
                  <a:pt x="0" y="0"/>
                </a:moveTo>
                <a:lnTo>
                  <a:pt x="1550158" y="0"/>
                </a:lnTo>
                <a:lnTo>
                  <a:pt x="1550158" y="351008"/>
                </a:lnTo>
                <a:lnTo>
                  <a:pt x="0" y="351008"/>
                </a:lnTo>
                <a:lnTo>
                  <a:pt x="0" y="0"/>
                </a:lnTo>
                <a:close/>
              </a:path>
            </a:pathLst>
          </a:custGeom>
          <a:blipFill>
            <a:blip r:embed="rId4"/>
            <a:stretch>
              <a:fillRect t="-30203" b="-35555"/>
            </a:stretch>
          </a:blipFill>
        </p:spPr>
        <p:txBody>
          <a:bodyPr/>
          <a:lstStyle/>
          <a:p>
            <a:endParaRPr lang="en-IN"/>
          </a:p>
        </p:txBody>
      </p:sp>
      <p:sp>
        <p:nvSpPr>
          <p:cNvPr id="12" name="Freeform 12"/>
          <p:cNvSpPr/>
          <p:nvPr/>
        </p:nvSpPr>
        <p:spPr>
          <a:xfrm>
            <a:off x="7680076" y="139934"/>
            <a:ext cx="721155" cy="471903"/>
          </a:xfrm>
          <a:custGeom>
            <a:avLst/>
            <a:gdLst/>
            <a:ahLst/>
            <a:cxnLst/>
            <a:rect l="l" t="t" r="r" b="b"/>
            <a:pathLst>
              <a:path w="721155" h="471903">
                <a:moveTo>
                  <a:pt x="0" y="0"/>
                </a:moveTo>
                <a:lnTo>
                  <a:pt x="721155" y="0"/>
                </a:lnTo>
                <a:lnTo>
                  <a:pt x="721155" y="471903"/>
                </a:lnTo>
                <a:lnTo>
                  <a:pt x="0" y="471903"/>
                </a:lnTo>
                <a:lnTo>
                  <a:pt x="0" y="0"/>
                </a:lnTo>
                <a:close/>
              </a:path>
            </a:pathLst>
          </a:custGeom>
          <a:blipFill>
            <a:blip r:embed="rId5"/>
            <a:stretch>
              <a:fillRect t="-18481" b="-34337"/>
            </a:stretch>
          </a:blipFill>
        </p:spPr>
        <p:txBody>
          <a:bodyPr/>
          <a:lstStyle/>
          <a:p>
            <a:endParaRPr lang="en-IN"/>
          </a:p>
        </p:txBody>
      </p:sp>
      <p:sp>
        <p:nvSpPr>
          <p:cNvPr id="13" name="Freeform 13"/>
          <p:cNvSpPr/>
          <p:nvPr/>
        </p:nvSpPr>
        <p:spPr>
          <a:xfrm>
            <a:off x="4031651" y="243629"/>
            <a:ext cx="1117453" cy="285865"/>
          </a:xfrm>
          <a:custGeom>
            <a:avLst/>
            <a:gdLst/>
            <a:ahLst/>
            <a:cxnLst/>
            <a:rect l="l" t="t" r="r" b="b"/>
            <a:pathLst>
              <a:path w="1117453" h="285865">
                <a:moveTo>
                  <a:pt x="0" y="0"/>
                </a:moveTo>
                <a:lnTo>
                  <a:pt x="1117453" y="0"/>
                </a:lnTo>
                <a:lnTo>
                  <a:pt x="1117453" y="285865"/>
                </a:lnTo>
                <a:lnTo>
                  <a:pt x="0" y="285865"/>
                </a:lnTo>
                <a:lnTo>
                  <a:pt x="0" y="0"/>
                </a:lnTo>
                <a:close/>
              </a:path>
            </a:pathLst>
          </a:custGeom>
          <a:blipFill>
            <a:blip r:embed="rId6"/>
            <a:stretch>
              <a:fillRect t="-13850"/>
            </a:stretch>
          </a:blipFill>
        </p:spPr>
        <p:txBody>
          <a:bodyPr/>
          <a:lstStyle/>
          <a:p>
            <a:endParaRPr lang="en-IN"/>
          </a:p>
        </p:txBody>
      </p:sp>
      <p:sp>
        <p:nvSpPr>
          <p:cNvPr id="14" name="Freeform 14"/>
          <p:cNvSpPr/>
          <p:nvPr/>
        </p:nvSpPr>
        <p:spPr>
          <a:xfrm>
            <a:off x="2343143" y="203822"/>
            <a:ext cx="1101202" cy="344126"/>
          </a:xfrm>
          <a:custGeom>
            <a:avLst/>
            <a:gdLst/>
            <a:ahLst/>
            <a:cxnLst/>
            <a:rect l="l" t="t" r="r" b="b"/>
            <a:pathLst>
              <a:path w="1101202" h="344126">
                <a:moveTo>
                  <a:pt x="0" y="0"/>
                </a:moveTo>
                <a:lnTo>
                  <a:pt x="1101202" y="0"/>
                </a:lnTo>
                <a:lnTo>
                  <a:pt x="1101202" y="344126"/>
                </a:lnTo>
                <a:lnTo>
                  <a:pt x="0" y="344126"/>
                </a:lnTo>
                <a:lnTo>
                  <a:pt x="0" y="0"/>
                </a:lnTo>
                <a:close/>
              </a:path>
            </a:pathLst>
          </a:custGeom>
          <a:blipFill>
            <a:blip r:embed="rId7"/>
            <a:stretch>
              <a:fillRect/>
            </a:stretch>
          </a:blipFill>
        </p:spPr>
        <p:txBody>
          <a:bodyPr/>
          <a:lstStyle/>
          <a:p>
            <a:endParaRPr lang="en-IN"/>
          </a:p>
        </p:txBody>
      </p:sp>
      <p:grpSp>
        <p:nvGrpSpPr>
          <p:cNvPr id="15" name="Group 15"/>
          <p:cNvGrpSpPr/>
          <p:nvPr/>
        </p:nvGrpSpPr>
        <p:grpSpPr>
          <a:xfrm>
            <a:off x="5736410" y="210678"/>
            <a:ext cx="1356360" cy="289549"/>
            <a:chOff x="0" y="0"/>
            <a:chExt cx="1808480" cy="386065"/>
          </a:xfrm>
        </p:grpSpPr>
        <p:sp>
          <p:nvSpPr>
            <p:cNvPr id="16" name="Freeform 16"/>
            <p:cNvSpPr/>
            <p:nvPr/>
          </p:nvSpPr>
          <p:spPr>
            <a:xfrm>
              <a:off x="1371321" y="0"/>
              <a:ext cx="437159" cy="386065"/>
            </a:xfrm>
            <a:custGeom>
              <a:avLst/>
              <a:gdLst/>
              <a:ahLst/>
              <a:cxnLst/>
              <a:rect l="l" t="t" r="r" b="b"/>
              <a:pathLst>
                <a:path w="437159" h="386065">
                  <a:moveTo>
                    <a:pt x="0" y="0"/>
                  </a:moveTo>
                  <a:lnTo>
                    <a:pt x="437159" y="0"/>
                  </a:lnTo>
                  <a:lnTo>
                    <a:pt x="437159" y="386065"/>
                  </a:lnTo>
                  <a:lnTo>
                    <a:pt x="0" y="386065"/>
                  </a:lnTo>
                  <a:lnTo>
                    <a:pt x="0" y="0"/>
                  </a:lnTo>
                  <a:close/>
                </a:path>
              </a:pathLst>
            </a:custGeom>
            <a:blipFill>
              <a:blip r:embed="rId8"/>
              <a:stretch>
                <a:fillRect b="-10438"/>
              </a:stretch>
            </a:blipFill>
          </p:spPr>
          <p:txBody>
            <a:bodyPr/>
            <a:lstStyle/>
            <a:p>
              <a:endParaRPr lang="en-IN"/>
            </a:p>
          </p:txBody>
        </p:sp>
        <p:sp>
          <p:nvSpPr>
            <p:cNvPr id="17" name="TextBox 17"/>
            <p:cNvSpPr txBox="1"/>
            <p:nvPr/>
          </p:nvSpPr>
          <p:spPr>
            <a:xfrm>
              <a:off x="0" y="111175"/>
              <a:ext cx="1400755" cy="168959"/>
            </a:xfrm>
            <a:prstGeom prst="rect">
              <a:avLst/>
            </a:prstGeom>
          </p:spPr>
          <p:txBody>
            <a:bodyPr lIns="0" tIns="0" rIns="0" bIns="0" rtlCol="0" anchor="t">
              <a:spAutoFit/>
            </a:bodyPr>
            <a:lstStyle/>
            <a:p>
              <a:pPr algn="r">
                <a:lnSpc>
                  <a:spcPts val="1099"/>
                </a:lnSpc>
                <a:spcBef>
                  <a:spcPct val="0"/>
                </a:spcBef>
              </a:pPr>
              <a:r>
                <a:rPr lang="en-US" sz="785">
                  <a:solidFill>
                    <a:srgbClr val="000000"/>
                  </a:solidFill>
                  <a:latin typeface="League Spartan"/>
                  <a:ea typeface="League Spartan"/>
                  <a:cs typeface="League Spartan"/>
                  <a:sym typeface="League Spartan"/>
                </a:rPr>
                <a:t>IETE Student Forum</a:t>
              </a:r>
            </a:p>
          </p:txBody>
        </p:sp>
        <p:sp>
          <p:nvSpPr>
            <p:cNvPr id="18" name="TextBox 18"/>
            <p:cNvSpPr txBox="1"/>
            <p:nvPr/>
          </p:nvSpPr>
          <p:spPr>
            <a:xfrm>
              <a:off x="118941" y="276210"/>
              <a:ext cx="1227269" cy="102280"/>
            </a:xfrm>
            <a:prstGeom prst="rect">
              <a:avLst/>
            </a:prstGeom>
          </p:spPr>
          <p:txBody>
            <a:bodyPr lIns="0" tIns="0" rIns="0" bIns="0" rtlCol="0" anchor="t">
              <a:spAutoFit/>
            </a:bodyPr>
            <a:lstStyle/>
            <a:p>
              <a:pPr algn="r">
                <a:lnSpc>
                  <a:spcPts val="607"/>
                </a:lnSpc>
                <a:spcBef>
                  <a:spcPct val="0"/>
                </a:spcBef>
              </a:pPr>
              <a:r>
                <a:rPr lang="en-US" sz="433">
                  <a:solidFill>
                    <a:srgbClr val="FF914D"/>
                  </a:solidFill>
                  <a:latin typeface="League Spartan"/>
                  <a:ea typeface="League Spartan"/>
                  <a:cs typeface="League Spartan"/>
                  <a:sym typeface="League Spartan"/>
                </a:rPr>
                <a:t>Amrita Vishwa Vidyapeetham</a:t>
              </a:r>
            </a:p>
          </p:txBody>
        </p:sp>
      </p:grpSp>
      <p:sp>
        <p:nvSpPr>
          <p:cNvPr id="19" name="Freeform 19"/>
          <p:cNvSpPr/>
          <p:nvPr/>
        </p:nvSpPr>
        <p:spPr>
          <a:xfrm>
            <a:off x="235177" y="834078"/>
            <a:ext cx="1671851" cy="1671851"/>
          </a:xfrm>
          <a:custGeom>
            <a:avLst/>
            <a:gdLst/>
            <a:ahLst/>
            <a:cxnLst/>
            <a:rect l="l" t="t" r="r" b="b"/>
            <a:pathLst>
              <a:path w="1671851" h="1671851">
                <a:moveTo>
                  <a:pt x="0" y="0"/>
                </a:moveTo>
                <a:lnTo>
                  <a:pt x="1671851" y="0"/>
                </a:lnTo>
                <a:lnTo>
                  <a:pt x="1671851" y="1671851"/>
                </a:lnTo>
                <a:lnTo>
                  <a:pt x="0" y="1671851"/>
                </a:lnTo>
                <a:lnTo>
                  <a:pt x="0" y="0"/>
                </a:lnTo>
                <a:close/>
              </a:path>
            </a:pathLst>
          </a:custGeom>
          <a:blipFill>
            <a:blip r:embed="rId9"/>
            <a:stretch>
              <a:fillRect/>
            </a:stretch>
          </a:blipFill>
        </p:spPr>
        <p:txBody>
          <a:bodyPr/>
          <a:lstStyle/>
          <a:p>
            <a:endParaRPr lang="en-IN"/>
          </a:p>
        </p:txBody>
      </p:sp>
      <p:sp>
        <p:nvSpPr>
          <p:cNvPr id="20" name="Freeform 20"/>
          <p:cNvSpPr/>
          <p:nvPr/>
        </p:nvSpPr>
        <p:spPr>
          <a:xfrm>
            <a:off x="1996179" y="834078"/>
            <a:ext cx="4418411" cy="1548871"/>
          </a:xfrm>
          <a:custGeom>
            <a:avLst/>
            <a:gdLst/>
            <a:ahLst/>
            <a:cxnLst/>
            <a:rect l="l" t="t" r="r" b="b"/>
            <a:pathLst>
              <a:path w="4418411" h="1548871">
                <a:moveTo>
                  <a:pt x="0" y="0"/>
                </a:moveTo>
                <a:lnTo>
                  <a:pt x="4418411" y="0"/>
                </a:lnTo>
                <a:lnTo>
                  <a:pt x="4418411" y="1548870"/>
                </a:lnTo>
                <a:lnTo>
                  <a:pt x="0" y="1548870"/>
                </a:lnTo>
                <a:lnTo>
                  <a:pt x="0" y="0"/>
                </a:lnTo>
                <a:close/>
              </a:path>
            </a:pathLst>
          </a:custGeom>
          <a:blipFill>
            <a:blip r:embed="rId10"/>
            <a:stretch>
              <a:fillRect l="-5164"/>
            </a:stretch>
          </a:blipFill>
        </p:spPr>
        <p:txBody>
          <a:bodyPr/>
          <a:lstStyle/>
          <a:p>
            <a:endParaRPr lang="en-IN"/>
          </a:p>
        </p:txBody>
      </p:sp>
      <p:sp>
        <p:nvSpPr>
          <p:cNvPr id="21" name="TextBox 21"/>
          <p:cNvSpPr txBox="1"/>
          <p:nvPr/>
        </p:nvSpPr>
        <p:spPr>
          <a:xfrm>
            <a:off x="539115" y="3490309"/>
            <a:ext cx="5446149" cy="356572"/>
          </a:xfrm>
          <a:prstGeom prst="rect">
            <a:avLst/>
          </a:prstGeom>
        </p:spPr>
        <p:txBody>
          <a:bodyPr wrap="square" lIns="0" tIns="0" rIns="0" bIns="0" rtlCol="0" anchor="t">
            <a:spAutoFit/>
          </a:bodyPr>
          <a:lstStyle/>
          <a:p>
            <a:pPr>
              <a:lnSpc>
                <a:spcPts val="3008"/>
              </a:lnSpc>
            </a:pPr>
            <a:r>
              <a:rPr lang="en-US" sz="2100" dirty="0">
                <a:solidFill>
                  <a:srgbClr val="FFFFFF"/>
                </a:solidFill>
                <a:latin typeface="Montserrat"/>
                <a:ea typeface="Montserrat"/>
                <a:cs typeface="Montserrat"/>
                <a:sym typeface="Montserrat"/>
              </a:rPr>
              <a:t>Team Leader Name : Harish Manukonda</a:t>
            </a:r>
            <a:endParaRPr lang="en-US" sz="2148" dirty="0">
              <a:solidFill>
                <a:srgbClr val="FFFFFF"/>
              </a:solidFill>
              <a:latin typeface="Montserrat"/>
              <a:ea typeface="Montserrat"/>
              <a:cs typeface="Montserrat"/>
            </a:endParaRPr>
          </a:p>
        </p:txBody>
      </p:sp>
      <p:sp>
        <p:nvSpPr>
          <p:cNvPr id="22" name="TextBox 22"/>
          <p:cNvSpPr txBox="1"/>
          <p:nvPr/>
        </p:nvSpPr>
        <p:spPr>
          <a:xfrm>
            <a:off x="539115" y="3016074"/>
            <a:ext cx="5461080" cy="355097"/>
          </a:xfrm>
          <a:prstGeom prst="rect">
            <a:avLst/>
          </a:prstGeom>
        </p:spPr>
        <p:txBody>
          <a:bodyPr wrap="square" lIns="0" tIns="0" rIns="0" bIns="0" rtlCol="0" anchor="t">
            <a:spAutoFit/>
          </a:bodyPr>
          <a:lstStyle/>
          <a:p>
            <a:pPr>
              <a:lnSpc>
                <a:spcPts val="3008"/>
              </a:lnSpc>
            </a:pPr>
            <a:r>
              <a:rPr lang="en-US" sz="2100" dirty="0">
                <a:solidFill>
                  <a:srgbClr val="FFFFFF"/>
                </a:solidFill>
                <a:latin typeface="Montserrat"/>
                <a:ea typeface="Montserrat"/>
                <a:cs typeface="Montserrat"/>
                <a:sym typeface="Montserrat"/>
              </a:rPr>
              <a:t>Team Name :  Team Debuggers</a:t>
            </a:r>
            <a:endParaRPr lang="en-US" sz="2148" dirty="0">
              <a:solidFill>
                <a:srgbClr val="FFFFFF"/>
              </a:solidFill>
              <a:latin typeface="Montserrat"/>
              <a:ea typeface="Montserrat"/>
              <a:cs typeface="Montserrat"/>
              <a:sym typeface="Montserrat"/>
            </a:endParaRPr>
          </a:p>
        </p:txBody>
      </p:sp>
      <p:sp>
        <p:nvSpPr>
          <p:cNvPr id="23" name="TextBox 23"/>
          <p:cNvSpPr txBox="1"/>
          <p:nvPr/>
        </p:nvSpPr>
        <p:spPr>
          <a:xfrm>
            <a:off x="539115" y="3969865"/>
            <a:ext cx="5233455" cy="356572"/>
          </a:xfrm>
          <a:prstGeom prst="rect">
            <a:avLst/>
          </a:prstGeom>
        </p:spPr>
        <p:txBody>
          <a:bodyPr wrap="square" lIns="0" tIns="0" rIns="0" bIns="0" rtlCol="0" anchor="t">
            <a:spAutoFit/>
          </a:bodyPr>
          <a:lstStyle/>
          <a:p>
            <a:pPr>
              <a:lnSpc>
                <a:spcPts val="3008"/>
              </a:lnSpc>
            </a:pPr>
            <a:r>
              <a:rPr lang="en-US" sz="2100" dirty="0">
                <a:solidFill>
                  <a:srgbClr val="FFFFFF"/>
                </a:solidFill>
                <a:latin typeface="Montserrat"/>
                <a:ea typeface="Montserrat"/>
                <a:cs typeface="Montserrat"/>
                <a:sym typeface="Montserrat"/>
              </a:rPr>
              <a:t>Track : Agentic AI</a:t>
            </a:r>
            <a:endParaRPr lang="en-US" sz="2148"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2" name="TextBox 11">
            <a:extLst>
              <a:ext uri="{FF2B5EF4-FFF2-40B4-BE49-F238E27FC236}">
                <a16:creationId xmlns:a16="http://schemas.microsoft.com/office/drawing/2014/main" id="{8B5929E0-6655-1118-BE7D-184BA1E75FDA}"/>
              </a:ext>
            </a:extLst>
          </p:cNvPr>
          <p:cNvSpPr txBox="1"/>
          <p:nvPr/>
        </p:nvSpPr>
        <p:spPr>
          <a:xfrm>
            <a:off x="282046" y="1232269"/>
            <a:ext cx="9839376"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dirty="0">
                <a:latin typeface="Arial"/>
                <a:ea typeface="+mn-lt"/>
                <a:cs typeface="+mn-lt"/>
              </a:rPr>
              <a:t>AI-driven career readiness platform</a:t>
            </a:r>
            <a:r>
              <a:rPr lang="en-US" sz="1400" dirty="0">
                <a:latin typeface="Arial"/>
                <a:ea typeface="+mn-lt"/>
                <a:cs typeface="+mn-lt"/>
              </a:rPr>
              <a:t> for final-year students and early professionals preparing for technical roles.</a:t>
            </a:r>
            <a:endParaRPr lang="en-US" dirty="0">
              <a:latin typeface="Arial"/>
              <a:cs typeface="Arial"/>
            </a:endParaRPr>
          </a:p>
          <a:p>
            <a:pPr marL="285750" indent="-285750">
              <a:buFont typeface="Arial"/>
              <a:buChar char="•"/>
            </a:pPr>
            <a:r>
              <a:rPr lang="en-US" sz="1400" b="1" dirty="0">
                <a:latin typeface="Arial"/>
                <a:ea typeface="+mn-lt"/>
                <a:cs typeface="+mn-lt"/>
              </a:rPr>
              <a:t>End-to-end guidance</a:t>
            </a:r>
            <a:r>
              <a:rPr lang="en-US" sz="1400" dirty="0">
                <a:latin typeface="Arial"/>
                <a:ea typeface="+mn-lt"/>
                <a:cs typeface="+mn-lt"/>
              </a:rPr>
              <a:t>: skill evaluation → job readiness (structured &amp; measurable)</a:t>
            </a:r>
            <a:endParaRPr lang="en-US" dirty="0">
              <a:latin typeface="Arial"/>
              <a:cs typeface="Arial"/>
            </a:endParaRPr>
          </a:p>
          <a:p>
            <a:pPr marL="285750" indent="-285750">
              <a:buFont typeface="Arial"/>
              <a:buChar char="•"/>
            </a:pPr>
            <a:r>
              <a:rPr lang="en-US" sz="1400" b="1" dirty="0">
                <a:latin typeface="Arial"/>
                <a:ea typeface="+mn-lt"/>
                <a:cs typeface="+mn-lt"/>
              </a:rPr>
              <a:t>Initial profiling includes</a:t>
            </a:r>
            <a:r>
              <a:rPr lang="en-US" sz="1400" dirty="0">
                <a:latin typeface="Arial"/>
                <a:ea typeface="+mn-lt"/>
                <a:cs typeface="+mn-lt"/>
              </a:rPr>
              <a:t>:</a:t>
            </a:r>
            <a:endParaRPr lang="en-US" dirty="0">
              <a:latin typeface="Arial"/>
              <a:cs typeface="Arial"/>
            </a:endParaRPr>
          </a:p>
          <a:p>
            <a:r>
              <a:rPr lang="en-US" sz="1400" dirty="0">
                <a:latin typeface="Arial"/>
                <a:ea typeface="+mn-lt"/>
                <a:cs typeface="+mn-lt"/>
              </a:rPr>
              <a:t>                Resume analysis</a:t>
            </a:r>
            <a:endParaRPr lang="en-US" dirty="0">
              <a:latin typeface="Arial"/>
              <a:ea typeface="Calibri"/>
              <a:cs typeface="Calibri"/>
            </a:endParaRPr>
          </a:p>
          <a:p>
            <a:r>
              <a:rPr lang="en-US" sz="1400" dirty="0">
                <a:latin typeface="Arial"/>
                <a:ea typeface="+mn-lt"/>
                <a:cs typeface="+mn-lt"/>
              </a:rPr>
              <a:t>                Skill assessment</a:t>
            </a:r>
            <a:endParaRPr lang="en-US" dirty="0">
              <a:latin typeface="Arial"/>
              <a:ea typeface="Calibri"/>
              <a:cs typeface="Calibri"/>
            </a:endParaRPr>
          </a:p>
          <a:p>
            <a:r>
              <a:rPr lang="en-US" sz="1400" dirty="0">
                <a:latin typeface="Arial"/>
                <a:ea typeface="+mn-lt"/>
                <a:cs typeface="+mn-lt"/>
              </a:rPr>
              <a:t>                Market insights</a:t>
            </a:r>
            <a:endParaRPr lang="en-US" dirty="0">
              <a:latin typeface="Arial"/>
              <a:ea typeface="Calibri"/>
              <a:cs typeface="Calibri"/>
            </a:endParaRPr>
          </a:p>
          <a:p>
            <a:r>
              <a:rPr lang="en-US" sz="1400" dirty="0">
                <a:latin typeface="Arial"/>
                <a:ea typeface="+mn-lt"/>
                <a:cs typeface="+mn-lt"/>
              </a:rPr>
              <a:t>                Job / internship recommendations</a:t>
            </a:r>
            <a:endParaRPr lang="en-US" dirty="0">
              <a:latin typeface="Arial"/>
              <a:ea typeface="Calibri"/>
              <a:cs typeface="Calibri"/>
            </a:endParaRPr>
          </a:p>
          <a:p>
            <a:r>
              <a:rPr lang="en-US" sz="1400" dirty="0">
                <a:latin typeface="Arial"/>
                <a:ea typeface="+mn-lt"/>
                <a:cs typeface="+mn-lt"/>
              </a:rPr>
              <a:t>                Role-specific resume tailoring</a:t>
            </a:r>
            <a:endParaRPr lang="en-US" dirty="0">
              <a:latin typeface="Arial"/>
              <a:ea typeface="Calibri"/>
              <a:cs typeface="Calibri"/>
            </a:endParaRPr>
          </a:p>
          <a:p>
            <a:pPr marL="285750" indent="-285750">
              <a:buFont typeface="Arial"/>
              <a:buChar char="•"/>
            </a:pPr>
            <a:r>
              <a:rPr lang="en-US" sz="1400" b="1" dirty="0">
                <a:latin typeface="Arial"/>
                <a:ea typeface="+mn-lt"/>
                <a:cs typeface="+mn-lt"/>
              </a:rPr>
              <a:t>Three-level adaptive assessment framework</a:t>
            </a:r>
            <a:r>
              <a:rPr lang="en-US" sz="1400" dirty="0">
                <a:latin typeface="Arial"/>
                <a:ea typeface="+mn-lt"/>
                <a:cs typeface="+mn-lt"/>
              </a:rPr>
              <a:t>:</a:t>
            </a:r>
            <a:endParaRPr lang="en-US" dirty="0">
              <a:latin typeface="Arial"/>
              <a:cs typeface="Arial"/>
            </a:endParaRPr>
          </a:p>
          <a:p>
            <a:r>
              <a:rPr lang="en-US" sz="1400" dirty="0">
                <a:latin typeface="Arial"/>
                <a:ea typeface="+mn-lt"/>
                <a:cs typeface="+mn-lt"/>
              </a:rPr>
              <a:t>       Medium – MCQs</a:t>
            </a:r>
            <a:endParaRPr lang="en-US" dirty="0">
              <a:latin typeface="Arial"/>
              <a:ea typeface="Calibri"/>
              <a:cs typeface="Calibri"/>
            </a:endParaRPr>
          </a:p>
          <a:p>
            <a:r>
              <a:rPr lang="en-US" sz="1400" dirty="0">
                <a:latin typeface="Arial"/>
                <a:ea typeface="+mn-lt"/>
                <a:cs typeface="+mn-lt"/>
              </a:rPr>
              <a:t>               Hard – MCQs</a:t>
            </a:r>
            <a:endParaRPr lang="en-US" dirty="0">
              <a:latin typeface="Arial"/>
              <a:ea typeface="Calibri"/>
              <a:cs typeface="Calibri"/>
            </a:endParaRPr>
          </a:p>
          <a:p>
            <a:r>
              <a:rPr lang="en-US" sz="1400" dirty="0">
                <a:latin typeface="Arial"/>
                <a:ea typeface="+mn-lt"/>
                <a:cs typeface="+mn-lt"/>
              </a:rPr>
              <a:t>               Difficult – Coding</a:t>
            </a:r>
            <a:endParaRPr lang="en-US" dirty="0">
              <a:latin typeface="Arial"/>
              <a:ea typeface="Calibri"/>
              <a:cs typeface="Calibri"/>
            </a:endParaRPr>
          </a:p>
          <a:p>
            <a:pPr marL="285750" indent="-285750">
              <a:buFont typeface="Arial"/>
              <a:buChar char="•"/>
            </a:pPr>
            <a:r>
              <a:rPr lang="en-US" sz="1400" b="1" dirty="0">
                <a:latin typeface="Arial"/>
                <a:ea typeface="+mn-lt"/>
                <a:cs typeface="+mn-lt"/>
              </a:rPr>
              <a:t>Clear level-wise cutoffs with personalized feedback</a:t>
            </a:r>
            <a:r>
              <a:rPr lang="en-US" sz="1400" dirty="0">
                <a:latin typeface="Arial"/>
                <a:ea typeface="+mn-lt"/>
                <a:cs typeface="+mn-lt"/>
              </a:rPr>
              <a:t> based on the exact point of failure</a:t>
            </a:r>
            <a:endParaRPr lang="en-US" sz="1400" dirty="0">
              <a:latin typeface="Arial"/>
              <a:ea typeface="Calibri"/>
              <a:cs typeface="Calibri"/>
            </a:endParaRPr>
          </a:p>
          <a:p>
            <a:pPr marL="285750" indent="-285750">
              <a:buFont typeface="Arial"/>
              <a:buChar char="•"/>
            </a:pPr>
            <a:r>
              <a:rPr lang="en-US" sz="1400" b="1" dirty="0">
                <a:latin typeface="Arial"/>
                <a:ea typeface="+mn-lt"/>
                <a:cs typeface="+mn-lt"/>
              </a:rPr>
              <a:t>Targeted improvement guidance and AI-powered mock interviews</a:t>
            </a:r>
            <a:r>
              <a:rPr lang="en-US" sz="1400" dirty="0">
                <a:latin typeface="Arial"/>
                <a:ea typeface="+mn-lt"/>
                <a:cs typeface="+mn-lt"/>
              </a:rPr>
              <a:t> based on user performance</a:t>
            </a:r>
            <a:endParaRPr lang="en-US" sz="1400" dirty="0">
              <a:latin typeface="Arial"/>
              <a:ea typeface="Calibri"/>
              <a:cs typeface="Calibri"/>
            </a:endParaRPr>
          </a:p>
          <a:p>
            <a:pPr marL="285750" indent="-285750">
              <a:buFont typeface="Arial"/>
              <a:buChar char="•"/>
            </a:pPr>
            <a:r>
              <a:rPr lang="en-US" sz="1400" b="1" dirty="0">
                <a:latin typeface="Arial"/>
                <a:ea typeface="+mn-lt"/>
                <a:cs typeface="+mn-lt"/>
              </a:rPr>
              <a:t>Interview evaluation focuses on</a:t>
            </a:r>
            <a:r>
              <a:rPr lang="en-US" sz="1400" dirty="0">
                <a:latin typeface="Arial"/>
                <a:ea typeface="+mn-lt"/>
                <a:cs typeface="+mn-lt"/>
              </a:rPr>
              <a:t> communication, confidence, and professional behavior</a:t>
            </a:r>
            <a:endParaRPr lang="en-US" dirty="0">
              <a:latin typeface="Arial"/>
              <a:cs typeface="Arial"/>
            </a:endParaRPr>
          </a:p>
          <a:p>
            <a:pPr marL="285750" indent="-285750">
              <a:buFont typeface="Arial"/>
              <a:buChar char="•"/>
            </a:pPr>
            <a:r>
              <a:rPr lang="en-US" sz="1400" dirty="0">
                <a:latin typeface="Arial"/>
                <a:cs typeface="Arial"/>
              </a:rPr>
              <a:t>Designed to help users clearly understand </a:t>
            </a:r>
            <a:r>
              <a:rPr lang="en-US" sz="1400" b="1" dirty="0">
                <a:latin typeface="Arial"/>
                <a:cs typeface="Arial"/>
              </a:rPr>
              <a:t>where they are falling short</a:t>
            </a:r>
          </a:p>
        </p:txBody>
      </p:sp>
      <p:sp>
        <p:nvSpPr>
          <p:cNvPr id="11" name="TextBox 10">
            <a:extLst>
              <a:ext uri="{FF2B5EF4-FFF2-40B4-BE49-F238E27FC236}">
                <a16:creationId xmlns:a16="http://schemas.microsoft.com/office/drawing/2014/main" id="{CEB65F8E-0E7B-E457-7A04-855AF1F62329}"/>
              </a:ext>
            </a:extLst>
          </p:cNvPr>
          <p:cNvSpPr txBox="1"/>
          <p:nvPr/>
        </p:nvSpPr>
        <p:spPr>
          <a:xfrm>
            <a:off x="404502" y="685406"/>
            <a:ext cx="5741688" cy="4385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50" b="1" dirty="0">
                <a:latin typeface="Garet"/>
                <a:ea typeface="+mn-lt"/>
                <a:cs typeface="+mn-lt"/>
              </a:rPr>
              <a:t>Idea Overview</a:t>
            </a:r>
            <a:endParaRPr lang="en-US" sz="2250" b="1" dirty="0">
              <a:latin typeface="Gare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p:cNvSpPr txBox="1"/>
          <p:nvPr/>
        </p:nvSpPr>
        <p:spPr>
          <a:xfrm>
            <a:off x="268261" y="633330"/>
            <a:ext cx="8098139" cy="1118255"/>
          </a:xfrm>
          <a:prstGeom prst="rect">
            <a:avLst/>
          </a:prstGeom>
        </p:spPr>
        <p:txBody>
          <a:bodyPr wrap="square" lIns="0" tIns="0" rIns="0" bIns="0" rtlCol="0" anchor="t">
            <a:spAutoFit/>
          </a:bodyPr>
          <a:lstStyle/>
          <a:p>
            <a:pPr algn="just">
              <a:lnSpc>
                <a:spcPts val="3203"/>
              </a:lnSpc>
            </a:pPr>
            <a:r>
              <a:rPr lang="en-US" sz="2250" b="1">
                <a:solidFill>
                  <a:srgbClr val="000000"/>
                </a:solidFill>
                <a:latin typeface="Garet"/>
                <a:ea typeface="Garet"/>
                <a:cs typeface="Garet"/>
                <a:sym typeface="Garet"/>
              </a:rPr>
              <a:t>Opportunity</a:t>
            </a:r>
            <a:endParaRPr lang="en-US" sz="2250" b="1">
              <a:solidFill>
                <a:srgbClr val="000000"/>
              </a:solidFill>
              <a:latin typeface="Garet"/>
              <a:ea typeface="Garet"/>
              <a:cs typeface="Garet"/>
            </a:endParaRPr>
          </a:p>
          <a:p>
            <a:pPr lvl="1" algn="just"/>
            <a:endParaRPr lang="en-US" sz="1400" b="1">
              <a:solidFill>
                <a:srgbClr val="000000"/>
              </a:solidFill>
              <a:latin typeface="Arial"/>
              <a:ea typeface="Calibri"/>
              <a:cs typeface="Arial"/>
            </a:endParaRPr>
          </a:p>
          <a:p>
            <a:pPr lvl="2" algn="just"/>
            <a:endParaRPr lang="en-US">
              <a:latin typeface="Arial"/>
              <a:ea typeface="Calibri"/>
              <a:cs typeface="Arial"/>
            </a:endParaRPr>
          </a:p>
          <a:p>
            <a:pPr marL="285750" indent="-285750" algn="just">
              <a:buFont typeface="Wingdings"/>
              <a:buChar char="§"/>
            </a:pPr>
            <a:endParaRPr lang="en-US" sz="1400">
              <a:latin typeface="Arial"/>
              <a:ea typeface="Calibri"/>
              <a:cs typeface="Arial"/>
            </a:endParaRPr>
          </a:p>
        </p:txBody>
      </p:sp>
      <p:sp>
        <p:nvSpPr>
          <p:cNvPr id="12" name="TextBox 11">
            <a:extLst>
              <a:ext uri="{FF2B5EF4-FFF2-40B4-BE49-F238E27FC236}">
                <a16:creationId xmlns:a16="http://schemas.microsoft.com/office/drawing/2014/main" id="{FFCC7C1B-331F-F51A-7799-0DA88379AD36}"/>
              </a:ext>
            </a:extLst>
          </p:cNvPr>
          <p:cNvSpPr txBox="1"/>
          <p:nvPr/>
        </p:nvSpPr>
        <p:spPr>
          <a:xfrm>
            <a:off x="347743" y="1214657"/>
            <a:ext cx="9348502"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ea typeface="+mn-lt"/>
                <a:cs typeface="+mn-lt"/>
              </a:rPr>
              <a:t>1. How is our idea different?</a:t>
            </a:r>
            <a:br>
              <a:rPr lang="en-US" sz="1400" dirty="0">
                <a:latin typeface="Arial"/>
                <a:ea typeface="+mn-lt"/>
                <a:cs typeface="+mn-lt"/>
              </a:rPr>
            </a:br>
            <a:r>
              <a:rPr lang="en-US" sz="1400" dirty="0">
                <a:latin typeface="Arial"/>
                <a:ea typeface="+mn-lt"/>
                <a:cs typeface="+mn-lt"/>
              </a:rPr>
              <a:t> Our idea goes beyond generic career portals by offering a structured, multi-level evaluation system that compares candidates with profiles that actually get selected, rather than relying on isolated resume reviews or aptitude tests.</a:t>
            </a:r>
          </a:p>
          <a:p>
            <a:endParaRPr lang="en-US" sz="1400" dirty="0">
              <a:latin typeface="Arial"/>
              <a:ea typeface="Calibri"/>
              <a:cs typeface="Calibri"/>
            </a:endParaRPr>
          </a:p>
          <a:p>
            <a:r>
              <a:rPr lang="en-US" sz="1400" b="1" dirty="0">
                <a:latin typeface="Arial"/>
                <a:ea typeface="+mn-lt"/>
                <a:cs typeface="+mn-lt"/>
              </a:rPr>
              <a:t>2. How does it solve the problem?</a:t>
            </a:r>
            <a:br>
              <a:rPr lang="en-US" sz="1400" dirty="0">
                <a:latin typeface="Arial"/>
                <a:ea typeface="+mn-lt"/>
                <a:cs typeface="+mn-lt"/>
              </a:rPr>
            </a:br>
            <a:r>
              <a:rPr lang="en-US" sz="1400" dirty="0">
                <a:latin typeface="Arial"/>
                <a:ea typeface="+mn-lt"/>
                <a:cs typeface="+mn-lt"/>
              </a:rPr>
              <a:t> It measures real job readiness through progressive difficulty assessments and level-based feedback, helping users understand not just where they scored low, but why they fall short compared to candidates who get selected especially after repeated rejections without clarity on the exact gaps.</a:t>
            </a:r>
          </a:p>
          <a:p>
            <a:endParaRPr lang="en-US" sz="1400" dirty="0">
              <a:latin typeface="Arial"/>
              <a:ea typeface="Calibri"/>
              <a:cs typeface="Calibri"/>
            </a:endParaRPr>
          </a:p>
          <a:p>
            <a:r>
              <a:rPr lang="en-US" sz="1400" b="1" dirty="0">
                <a:latin typeface="Arial"/>
                <a:ea typeface="+mn-lt"/>
                <a:cs typeface="+mn-lt"/>
              </a:rPr>
              <a:t>3. USP of the solution</a:t>
            </a:r>
            <a:br>
              <a:rPr lang="en-US" sz="1400" dirty="0">
                <a:latin typeface="Arial"/>
                <a:ea typeface="+mn-lt"/>
                <a:cs typeface="+mn-lt"/>
              </a:rPr>
            </a:br>
            <a:r>
              <a:rPr lang="en-US" sz="1400" dirty="0">
                <a:latin typeface="Arial"/>
                <a:ea typeface="+mn-lt"/>
                <a:cs typeface="+mn-lt"/>
              </a:rPr>
              <a:t> • </a:t>
            </a:r>
            <a:r>
              <a:rPr lang="en-US" sz="1400" dirty="0">
                <a:latin typeface="Arial" panose="020B0604020202020204" pitchFamily="34" charset="0"/>
                <a:ea typeface="+mn-lt"/>
                <a:cs typeface="Arial" panose="020B0604020202020204" pitchFamily="34" charset="0"/>
              </a:rPr>
              <a:t>Competitor-aware, 3-level adaptive assessment with clear cutoffs</a:t>
            </a:r>
            <a:br>
              <a:rPr lang="en-US" sz="1400" dirty="0">
                <a:latin typeface="Arial" panose="020B0604020202020204" pitchFamily="34" charset="0"/>
                <a:ea typeface="+mn-lt"/>
                <a:cs typeface="Arial" panose="020B0604020202020204" pitchFamily="34" charset="0"/>
              </a:rPr>
            </a:br>
            <a:r>
              <a:rPr lang="en-US" sz="1400" dirty="0">
                <a:latin typeface="Arial" panose="020B0604020202020204" pitchFamily="34" charset="0"/>
                <a:ea typeface="+mn-lt"/>
                <a:cs typeface="Arial" panose="020B0604020202020204" pitchFamily="34" charset="0"/>
              </a:rPr>
              <a:t> • Personalized feedback tied to both performance and comparative gaps</a:t>
            </a:r>
            <a:br>
              <a:rPr lang="en-US" sz="1400" dirty="0">
                <a:latin typeface="Arial" panose="020B0604020202020204" pitchFamily="34" charset="0"/>
                <a:ea typeface="+mn-lt"/>
                <a:cs typeface="Arial" panose="020B0604020202020204" pitchFamily="34" charset="0"/>
              </a:rPr>
            </a:br>
            <a:r>
              <a:rPr lang="en-US" sz="1400" dirty="0">
                <a:latin typeface="Arial" panose="020B0604020202020204" pitchFamily="34" charset="0"/>
                <a:ea typeface="+mn-lt"/>
                <a:cs typeface="Arial" panose="020B0604020202020204" pitchFamily="34" charset="0"/>
              </a:rPr>
              <a:t> • Unified platform for resume analysis, skills validation, testing, and interview readiness</a:t>
            </a:r>
            <a:endParaRPr lang="en-US" sz="1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0ABD-6054-5BE4-E46A-ED3ED2BF9DD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AB4621-EE97-3DB9-AF72-073C4E5F1045}"/>
              </a:ext>
            </a:extLst>
          </p:cNvPr>
          <p:cNvGrpSpPr/>
          <p:nvPr/>
        </p:nvGrpSpPr>
        <p:grpSpPr>
          <a:xfrm>
            <a:off x="0" y="5004014"/>
            <a:ext cx="10287000" cy="387136"/>
            <a:chOff x="0" y="0"/>
            <a:chExt cx="5169753" cy="194556"/>
          </a:xfrm>
        </p:grpSpPr>
        <p:sp>
          <p:nvSpPr>
            <p:cNvPr id="3" name="Freeform 3">
              <a:extLst>
                <a:ext uri="{FF2B5EF4-FFF2-40B4-BE49-F238E27FC236}">
                  <a16:creationId xmlns:a16="http://schemas.microsoft.com/office/drawing/2014/main" id="{6D47EDA6-3B2F-1C38-BC4D-F248AE9C8BF7}"/>
                </a:ext>
              </a:extLst>
            </p:cNvPr>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a:extLst>
                <a:ext uri="{FF2B5EF4-FFF2-40B4-BE49-F238E27FC236}">
                  <a16:creationId xmlns:a16="http://schemas.microsoft.com/office/drawing/2014/main" id="{EEE08CDF-4531-58FF-9F16-3D5B9AEB13D0}"/>
                </a:ext>
              </a:extLst>
            </p:cNvPr>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a:extLst>
              <a:ext uri="{FF2B5EF4-FFF2-40B4-BE49-F238E27FC236}">
                <a16:creationId xmlns:a16="http://schemas.microsoft.com/office/drawing/2014/main" id="{27F819F6-8264-D0A4-7CC2-BBE61AB07172}"/>
              </a:ext>
            </a:extLst>
          </p:cNvPr>
          <p:cNvGrpSpPr/>
          <p:nvPr/>
        </p:nvGrpSpPr>
        <p:grpSpPr>
          <a:xfrm>
            <a:off x="0" y="-14327"/>
            <a:ext cx="10287000" cy="651243"/>
            <a:chOff x="0" y="0"/>
            <a:chExt cx="5169753" cy="327283"/>
          </a:xfrm>
        </p:grpSpPr>
        <p:sp>
          <p:nvSpPr>
            <p:cNvPr id="6" name="Freeform 6">
              <a:extLst>
                <a:ext uri="{FF2B5EF4-FFF2-40B4-BE49-F238E27FC236}">
                  <a16:creationId xmlns:a16="http://schemas.microsoft.com/office/drawing/2014/main" id="{5A02110B-F5E7-3BAD-AD33-9CD837895E72}"/>
                </a:ext>
              </a:extLst>
            </p:cNvPr>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a:extLst>
                <a:ext uri="{FF2B5EF4-FFF2-40B4-BE49-F238E27FC236}">
                  <a16:creationId xmlns:a16="http://schemas.microsoft.com/office/drawing/2014/main" id="{081F36BA-4E45-053A-2025-D22E44B2B72D}"/>
                </a:ext>
              </a:extLst>
            </p:cNvPr>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a:extLst>
              <a:ext uri="{FF2B5EF4-FFF2-40B4-BE49-F238E27FC236}">
                <a16:creationId xmlns:a16="http://schemas.microsoft.com/office/drawing/2014/main" id="{105E8BFE-FACA-F7B8-8823-8CF2DBC37DC5}"/>
              </a:ext>
            </a:extLst>
          </p:cNvPr>
          <p:cNvGrpSpPr/>
          <p:nvPr/>
        </p:nvGrpSpPr>
        <p:grpSpPr>
          <a:xfrm>
            <a:off x="3903074" y="-14327"/>
            <a:ext cx="2480852" cy="651243"/>
            <a:chOff x="0" y="0"/>
            <a:chExt cx="3307803" cy="868323"/>
          </a:xfrm>
        </p:grpSpPr>
        <p:sp>
          <p:nvSpPr>
            <p:cNvPr id="9" name="Freeform 9">
              <a:extLst>
                <a:ext uri="{FF2B5EF4-FFF2-40B4-BE49-F238E27FC236}">
                  <a16:creationId xmlns:a16="http://schemas.microsoft.com/office/drawing/2014/main" id="{4FCBF062-7F1D-5A67-88F7-70BDAE37902C}"/>
                </a:ext>
              </a:extLst>
            </p:cNvPr>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a:extLst>
                <a:ext uri="{FF2B5EF4-FFF2-40B4-BE49-F238E27FC236}">
                  <a16:creationId xmlns:a16="http://schemas.microsoft.com/office/drawing/2014/main" id="{4092A6AA-2C55-2B94-5F8F-72B3F484CDFB}"/>
                </a:ext>
              </a:extLst>
            </p:cNvPr>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a:extLst>
              <a:ext uri="{FF2B5EF4-FFF2-40B4-BE49-F238E27FC236}">
                <a16:creationId xmlns:a16="http://schemas.microsoft.com/office/drawing/2014/main" id="{67FB8573-3762-07B5-F80F-CECE5B3198E6}"/>
              </a:ext>
            </a:extLst>
          </p:cNvPr>
          <p:cNvSpPr txBox="1"/>
          <p:nvPr/>
        </p:nvSpPr>
        <p:spPr>
          <a:xfrm>
            <a:off x="202790" y="637505"/>
            <a:ext cx="9883721" cy="5001369"/>
          </a:xfrm>
          <a:prstGeom prst="rect">
            <a:avLst/>
          </a:prstGeom>
        </p:spPr>
        <p:txBody>
          <a:bodyPr wrap="square" lIns="0" tIns="0" rIns="0" bIns="0" rtlCol="0" anchor="t">
            <a:spAutoFit/>
          </a:bodyPr>
          <a:lstStyle/>
          <a:p>
            <a:r>
              <a:rPr lang="en-US" sz="2250" b="1" dirty="0">
                <a:latin typeface="Garet"/>
                <a:ea typeface="+mn-lt"/>
                <a:cs typeface="+mn-lt"/>
              </a:rPr>
              <a:t>Breaking the Career Black Box: Digital Twin vs Ghost Competitors </a:t>
            </a:r>
            <a:endParaRPr lang="en-US" sz="2250" b="1" dirty="0">
              <a:latin typeface="Garet"/>
              <a:ea typeface="Calibri"/>
              <a:cs typeface="Calibri"/>
            </a:endParaRPr>
          </a:p>
          <a:p>
            <a:pPr algn="just"/>
            <a:endParaRPr lang="en-US" sz="1400" b="1" dirty="0">
              <a:latin typeface="Arial"/>
              <a:ea typeface="Calibri"/>
              <a:cs typeface="Calibri"/>
            </a:endParaRPr>
          </a:p>
          <a:p>
            <a:pPr algn="just"/>
            <a:r>
              <a:rPr lang="en-US" sz="1400" b="1" dirty="0">
                <a:latin typeface="Arial"/>
                <a:cs typeface="Arial"/>
              </a:rPr>
              <a:t>Problem</a:t>
            </a:r>
            <a:endParaRPr lang="en-US" sz="1400" dirty="0">
              <a:latin typeface="Arial"/>
              <a:ea typeface="Calibri"/>
              <a:cs typeface="Arial"/>
            </a:endParaRPr>
          </a:p>
          <a:p>
            <a:pPr marL="285750" indent="-285750" algn="just">
              <a:buFont typeface="Arial"/>
              <a:buChar char="•"/>
            </a:pPr>
            <a:r>
              <a:rPr lang="en-US" sz="1400" dirty="0">
                <a:latin typeface="Arial"/>
                <a:ea typeface="+mn-lt"/>
                <a:cs typeface="+mn-lt"/>
              </a:rPr>
              <a:t>Candidates satisfy job requirements yet get rejected because hiring operates as a </a:t>
            </a:r>
            <a:r>
              <a:rPr lang="en-US" sz="1400" b="1" dirty="0">
                <a:latin typeface="Arial"/>
                <a:ea typeface="+mn-lt"/>
                <a:cs typeface="+mn-lt"/>
              </a:rPr>
              <a:t>black box</a:t>
            </a:r>
            <a:r>
              <a:rPr lang="en-US" sz="1400" dirty="0">
                <a:latin typeface="Arial"/>
                <a:ea typeface="+mn-lt"/>
                <a:cs typeface="+mn-lt"/>
              </a:rPr>
              <a:t>, hiding real competition and the actual signals used for selection.</a:t>
            </a:r>
          </a:p>
          <a:p>
            <a:pPr algn="just"/>
            <a:endParaRPr lang="en-US" sz="1400" b="1" dirty="0">
              <a:latin typeface="Arial"/>
              <a:ea typeface="Calibri"/>
              <a:cs typeface="Calibri"/>
            </a:endParaRPr>
          </a:p>
          <a:p>
            <a:pPr algn="just"/>
            <a:r>
              <a:rPr lang="en-US" sz="1400" b="1" dirty="0">
                <a:latin typeface="Arial"/>
                <a:cs typeface="Arial"/>
              </a:rPr>
              <a:t>Our Approach</a:t>
            </a:r>
            <a:endParaRPr lang="en-US" sz="1400" dirty="0">
              <a:latin typeface="Arial"/>
              <a:ea typeface="Calibri"/>
              <a:cs typeface="Arial"/>
            </a:endParaRPr>
          </a:p>
          <a:p>
            <a:pPr marL="285750" indent="-285750" algn="just">
              <a:buFont typeface="Arial"/>
              <a:buChar char="•"/>
            </a:pPr>
            <a:r>
              <a:rPr lang="en-US" sz="1400" dirty="0">
                <a:latin typeface="Arial"/>
                <a:ea typeface="+mn-lt"/>
                <a:cs typeface="+mn-lt"/>
              </a:rPr>
              <a:t>Using the </a:t>
            </a:r>
            <a:r>
              <a:rPr lang="en-US" sz="1400" i="1" dirty="0">
                <a:latin typeface="Arial"/>
                <a:ea typeface="+mn-lt"/>
                <a:cs typeface="+mn-lt"/>
              </a:rPr>
              <a:t>Entity Recognition in Resumes</a:t>
            </a:r>
            <a:r>
              <a:rPr lang="en-US" sz="1400" dirty="0">
                <a:latin typeface="Arial"/>
                <a:ea typeface="+mn-lt"/>
                <a:cs typeface="+mn-lt"/>
              </a:rPr>
              <a:t> (Kaggle, JSON) dataset, we construct a </a:t>
            </a:r>
            <a:r>
              <a:rPr lang="en-US" sz="1400" b="1" dirty="0">
                <a:latin typeface="Arial"/>
                <a:ea typeface="+mn-lt"/>
                <a:cs typeface="+mn-lt"/>
              </a:rPr>
              <a:t>Digital Twin</a:t>
            </a:r>
            <a:r>
              <a:rPr lang="en-US" sz="1400" dirty="0">
                <a:latin typeface="Arial"/>
                <a:ea typeface="+mn-lt"/>
                <a:cs typeface="+mn-lt"/>
              </a:rPr>
              <a:t> of the candidate and a </a:t>
            </a:r>
            <a:r>
              <a:rPr lang="en-US" sz="1400" b="1" dirty="0">
                <a:latin typeface="Arial"/>
                <a:ea typeface="+mn-lt"/>
                <a:cs typeface="+mn-lt"/>
              </a:rPr>
              <a:t>Ghost Twin</a:t>
            </a:r>
            <a:r>
              <a:rPr lang="en-US" sz="1400" dirty="0">
                <a:latin typeface="Arial"/>
                <a:ea typeface="+mn-lt"/>
                <a:cs typeface="+mn-lt"/>
              </a:rPr>
              <a:t> from successful profiles, then </a:t>
            </a:r>
            <a:r>
              <a:rPr lang="en-US" sz="1400" b="1" dirty="0">
                <a:latin typeface="Arial"/>
                <a:ea typeface="+mn-lt"/>
                <a:cs typeface="+mn-lt"/>
              </a:rPr>
              <a:t>compare both to expose the Hidden Wall</a:t>
            </a:r>
            <a:r>
              <a:rPr lang="en-US" sz="1400" dirty="0">
                <a:latin typeface="Arial"/>
                <a:ea typeface="+mn-lt"/>
                <a:cs typeface="+mn-lt"/>
              </a:rPr>
              <a:t>—the exact gaps blocking selection.</a:t>
            </a:r>
            <a:endParaRPr lang="en-US" sz="1400" dirty="0">
              <a:latin typeface="Arial"/>
              <a:ea typeface="Calibri"/>
              <a:cs typeface="Calibri"/>
            </a:endParaRPr>
          </a:p>
          <a:p>
            <a:pPr algn="just"/>
            <a:endParaRPr lang="en-US" sz="1400" dirty="0">
              <a:latin typeface="Arial"/>
              <a:ea typeface="+mn-lt"/>
              <a:cs typeface="+mn-lt"/>
            </a:endParaRPr>
          </a:p>
          <a:p>
            <a:pPr algn="just"/>
            <a:r>
              <a:rPr lang="en-US" sz="1400" b="1" dirty="0">
                <a:latin typeface="Arial"/>
                <a:cs typeface="Arial"/>
              </a:rPr>
              <a:t>Outcome</a:t>
            </a:r>
            <a:endParaRPr lang="en-US" sz="1400" dirty="0">
              <a:latin typeface="Arial"/>
              <a:ea typeface="Calibri"/>
              <a:cs typeface="Arial"/>
            </a:endParaRPr>
          </a:p>
          <a:p>
            <a:pPr marL="285750" indent="-285750" algn="just">
              <a:buFont typeface="Arial"/>
              <a:buChar char="•"/>
            </a:pPr>
            <a:r>
              <a:rPr lang="en-US" sz="1400" b="1" dirty="0">
                <a:latin typeface="Arial"/>
                <a:ea typeface="+mn-lt"/>
                <a:cs typeface="+mn-lt"/>
              </a:rPr>
              <a:t>Clear explanation of career gaps based on real hiring standards</a:t>
            </a:r>
            <a:r>
              <a:rPr lang="en-US" sz="1400" dirty="0">
                <a:latin typeface="Arial"/>
                <a:ea typeface="+mn-lt"/>
                <a:cs typeface="+mn-lt"/>
              </a:rPr>
              <a:t> mapped to real hiring benchmarks, along with a </a:t>
            </a:r>
            <a:r>
              <a:rPr lang="en-US" sz="1400" b="1" dirty="0">
                <a:latin typeface="Arial"/>
                <a:ea typeface="+mn-lt"/>
                <a:cs typeface="+mn-lt"/>
              </a:rPr>
              <a:t>Success Probability score</a:t>
            </a:r>
            <a:r>
              <a:rPr lang="en-US" sz="1400" dirty="0">
                <a:latin typeface="Arial"/>
                <a:ea typeface="+mn-lt"/>
                <a:cs typeface="+mn-lt"/>
              </a:rPr>
              <a:t> and clear, role-specific guidance on what to improve next.</a:t>
            </a:r>
          </a:p>
          <a:p>
            <a:pPr marL="285750" indent="-285750" algn="just">
              <a:buFont typeface="Arial"/>
              <a:buChar char="•"/>
            </a:pPr>
            <a:endParaRPr lang="en-US" sz="1400" dirty="0">
              <a:latin typeface="Arial"/>
              <a:ea typeface="Calibri"/>
              <a:cs typeface="Calibri"/>
            </a:endParaRPr>
          </a:p>
          <a:p>
            <a:pPr algn="just">
              <a:buFont typeface="Arial"/>
            </a:pPr>
            <a:r>
              <a:rPr lang="en-US" sz="1400" b="1" dirty="0">
                <a:latin typeface="Arial"/>
                <a:ea typeface="Calibri"/>
                <a:cs typeface="Arial"/>
              </a:rPr>
              <a:t>Why This Is Novel</a:t>
            </a:r>
            <a:endParaRPr lang="en-US" sz="1400" dirty="0">
              <a:latin typeface="Arial"/>
              <a:ea typeface="Calibri"/>
              <a:cs typeface="Arial"/>
            </a:endParaRPr>
          </a:p>
          <a:p>
            <a:pPr marL="285750" indent="-285750" algn="just">
              <a:buFont typeface="Arial,Sans-Serif"/>
              <a:buChar char="•"/>
            </a:pPr>
            <a:r>
              <a:rPr lang="en-US" sz="1400" dirty="0">
                <a:latin typeface="Arial"/>
                <a:ea typeface="Calibri"/>
                <a:cs typeface="Arial"/>
              </a:rPr>
              <a:t>Unlike </a:t>
            </a:r>
            <a:r>
              <a:rPr lang="en-US" sz="1400" b="1" dirty="0">
                <a:latin typeface="Arial"/>
                <a:ea typeface="Calibri"/>
                <a:cs typeface="Arial"/>
              </a:rPr>
              <a:t>generic AI mentors</a:t>
            </a:r>
            <a:r>
              <a:rPr lang="en-US" sz="1400" dirty="0">
                <a:latin typeface="Arial"/>
                <a:ea typeface="Calibri"/>
                <a:cs typeface="Arial"/>
              </a:rPr>
              <a:t>, this approach is </a:t>
            </a:r>
            <a:r>
              <a:rPr lang="en-US" sz="1400" b="1" dirty="0">
                <a:latin typeface="Arial"/>
                <a:ea typeface="Calibri"/>
                <a:cs typeface="Arial"/>
              </a:rPr>
              <a:t>competitor-aware</a:t>
            </a:r>
            <a:r>
              <a:rPr lang="en-US" sz="1400" dirty="0">
                <a:latin typeface="Arial"/>
                <a:ea typeface="Calibri"/>
                <a:cs typeface="Arial"/>
              </a:rPr>
              <a:t>, </a:t>
            </a:r>
            <a:r>
              <a:rPr lang="en-US" sz="1400" dirty="0">
                <a:latin typeface="Arial"/>
                <a:ea typeface="Calibri"/>
                <a:cs typeface="Calibri"/>
              </a:rPr>
              <a:t>showing candidates how close they are to selection instead of giving </a:t>
            </a:r>
            <a:r>
              <a:rPr lang="en-US" sz="1400" b="1" dirty="0">
                <a:latin typeface="Arial"/>
                <a:ea typeface="Calibri"/>
                <a:cs typeface="Calibri"/>
              </a:rPr>
              <a:t>generic advice.</a:t>
            </a:r>
            <a:endParaRPr lang="en-US" b="1" dirty="0">
              <a:latin typeface="Arial"/>
              <a:cs typeface="Arial"/>
            </a:endParaRPr>
          </a:p>
          <a:p>
            <a:pPr marL="285750" indent="-285750" algn="just">
              <a:buFont typeface="Arial"/>
              <a:buChar char="•"/>
            </a:pPr>
            <a:endParaRPr lang="en-US" sz="1400" dirty="0">
              <a:ea typeface="Calibri"/>
              <a:cs typeface="Calibri"/>
            </a:endParaRPr>
          </a:p>
          <a:p>
            <a:pPr algn="just"/>
            <a:endParaRPr lang="en-US" sz="1400" dirty="0">
              <a:latin typeface="Calibri"/>
              <a:ea typeface="Calibri"/>
              <a:cs typeface="Calibri"/>
            </a:endParaRPr>
          </a:p>
          <a:p>
            <a:pPr algn="just">
              <a:buFont typeface="Arial"/>
            </a:pPr>
            <a:endParaRPr lang="en-US" sz="1400" dirty="0">
              <a:latin typeface="Calibri"/>
              <a:ea typeface="Calibri"/>
              <a:cs typeface="Calibri"/>
            </a:endParaRPr>
          </a:p>
          <a:p>
            <a:pPr algn="just"/>
            <a:endParaRPr lang="en-US" sz="1400" b="1" dirty="0">
              <a:latin typeface="Arial"/>
              <a:ea typeface="Calibri"/>
              <a:cs typeface="Calibri"/>
            </a:endParaRPr>
          </a:p>
        </p:txBody>
      </p:sp>
    </p:spTree>
    <p:extLst>
      <p:ext uri="{BB962C8B-B14F-4D97-AF65-F5344CB8AC3E}">
        <p14:creationId xmlns:p14="http://schemas.microsoft.com/office/powerpoint/2010/main" val="2883406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p:cNvSpPr txBox="1"/>
          <p:nvPr/>
        </p:nvSpPr>
        <p:spPr>
          <a:xfrm>
            <a:off x="435764" y="724930"/>
            <a:ext cx="6296302" cy="806183"/>
          </a:xfrm>
          <a:prstGeom prst="rect">
            <a:avLst/>
          </a:prstGeom>
        </p:spPr>
        <p:txBody>
          <a:bodyPr lIns="0" tIns="0" rIns="0" bIns="0" rtlCol="0" anchor="t">
            <a:spAutoFit/>
          </a:bodyPr>
          <a:lstStyle/>
          <a:p>
            <a:pPr algn="just">
              <a:lnSpc>
                <a:spcPts val="3203"/>
              </a:lnSpc>
            </a:pPr>
            <a:r>
              <a:rPr lang="en-US" sz="2250" b="1">
                <a:latin typeface="Garet"/>
                <a:ea typeface="Garet"/>
                <a:cs typeface="Garet"/>
                <a:sym typeface="Garet"/>
              </a:rPr>
              <a:t>Process flow diagram </a:t>
            </a:r>
            <a:endParaRPr lang="en-US" sz="2250" b="1">
              <a:latin typeface="Garet"/>
            </a:endParaRPr>
          </a:p>
          <a:p>
            <a:pPr algn="just">
              <a:lnSpc>
                <a:spcPts val="3203"/>
              </a:lnSpc>
            </a:pPr>
            <a:endParaRPr lang="en-US" sz="2288">
              <a:solidFill>
                <a:srgbClr val="000000"/>
              </a:solidFill>
              <a:latin typeface="Garet"/>
              <a:ea typeface="Garet"/>
              <a:cs typeface="Garet"/>
            </a:endParaRPr>
          </a:p>
        </p:txBody>
      </p:sp>
      <p:pic>
        <p:nvPicPr>
          <p:cNvPr id="14" name="Picture 13" descr="A diagram of a career builder&#10;&#10;AI-generated content may be incorrect.">
            <a:extLst>
              <a:ext uri="{FF2B5EF4-FFF2-40B4-BE49-F238E27FC236}">
                <a16:creationId xmlns:a16="http://schemas.microsoft.com/office/drawing/2014/main" id="{79730809-0287-28A7-4EBC-4E617AFFFBFE}"/>
              </a:ext>
            </a:extLst>
          </p:cNvPr>
          <p:cNvPicPr>
            <a:picLocks noChangeAspect="1"/>
          </p:cNvPicPr>
          <p:nvPr/>
        </p:nvPicPr>
        <p:blipFill>
          <a:blip r:embed="rId4"/>
          <a:srcRect t="-73" r="12686"/>
          <a:stretch>
            <a:fillRect/>
          </a:stretch>
        </p:blipFill>
        <p:spPr>
          <a:xfrm>
            <a:off x="2652473" y="1127136"/>
            <a:ext cx="5871786" cy="3793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p:cNvSpPr txBox="1"/>
          <p:nvPr/>
        </p:nvSpPr>
        <p:spPr>
          <a:xfrm>
            <a:off x="602108" y="1126159"/>
            <a:ext cx="6601853" cy="3531736"/>
          </a:xfrm>
          <a:prstGeom prst="rect">
            <a:avLst/>
          </a:prstGeom>
        </p:spPr>
        <p:txBody>
          <a:bodyPr wrap="square" lIns="0" tIns="0" rIns="0" bIns="0" rtlCol="0" anchor="t">
            <a:spAutoFit/>
          </a:bodyPr>
          <a:lstStyle/>
          <a:p>
            <a:pPr algn="just"/>
            <a:r>
              <a:rPr lang="en-US" sz="2250" b="1" dirty="0">
                <a:solidFill>
                  <a:srgbClr val="000000"/>
                </a:solidFill>
                <a:latin typeface="Garet" panose="020B0604020202020204" charset="0"/>
                <a:ea typeface="+mn-lt"/>
                <a:cs typeface="+mn-lt"/>
                <a:sym typeface="Garet"/>
              </a:rPr>
              <a:t>Planned Features &amp; System Capabilities</a:t>
            </a:r>
            <a:endParaRPr lang="en-US" sz="2250" dirty="0">
              <a:latin typeface="Garet" panose="020B0604020202020204" charset="0"/>
              <a:ea typeface="Calibri"/>
              <a:cs typeface="Calibri"/>
            </a:endParaRPr>
          </a:p>
          <a:p>
            <a:pPr algn="just"/>
            <a:endParaRPr lang="en-US" sz="2250" b="1" dirty="0">
              <a:solidFill>
                <a:srgbClr val="000000"/>
              </a:solidFill>
              <a:latin typeface="Calibri"/>
              <a:ea typeface="+mn-lt"/>
              <a:cs typeface="+mn-lt"/>
              <a:sym typeface="Garet"/>
            </a:endParaRPr>
          </a:p>
          <a:p>
            <a:pPr marL="285750" indent="-285750" algn="just">
              <a:buFont typeface="Arial"/>
              <a:buChar char="•"/>
            </a:pPr>
            <a:r>
              <a:rPr lang="en-US" sz="1400" b="1" dirty="0">
                <a:solidFill>
                  <a:srgbClr val="000000"/>
                </a:solidFill>
                <a:latin typeface="Arial"/>
                <a:ea typeface="+mn-lt"/>
                <a:cs typeface="+mn-lt"/>
                <a:sym typeface="Garet"/>
              </a:rPr>
              <a:t>AI-based resume analysis</a:t>
            </a:r>
            <a:r>
              <a:rPr lang="en-US" sz="1400" dirty="0">
                <a:solidFill>
                  <a:srgbClr val="000000"/>
                </a:solidFill>
                <a:latin typeface="Arial"/>
                <a:ea typeface="+mn-lt"/>
                <a:cs typeface="+mn-lt"/>
                <a:sym typeface="Garet"/>
              </a:rPr>
              <a:t> for skill extraction and understanding</a:t>
            </a:r>
            <a:endParaRPr lang="en-US" sz="1400" dirty="0">
              <a:latin typeface="Arial"/>
              <a:ea typeface="+mn-lt"/>
              <a:cs typeface="+mn-lt"/>
            </a:endParaRPr>
          </a:p>
          <a:p>
            <a:pPr marL="285750" indent="-285750" algn="just">
              <a:buFont typeface="Arial"/>
              <a:buChar char="•"/>
            </a:pPr>
            <a:r>
              <a:rPr lang="en-US" sz="1400" b="1" dirty="0">
                <a:solidFill>
                  <a:srgbClr val="000000"/>
                </a:solidFill>
                <a:latin typeface="Arial"/>
                <a:ea typeface="+mn-lt"/>
                <a:cs typeface="+mn-lt"/>
              </a:rPr>
              <a:t>Digital Twin based career gap diagnosis</a:t>
            </a:r>
            <a:r>
              <a:rPr lang="en-US" sz="1400" dirty="0">
                <a:solidFill>
                  <a:srgbClr val="000000"/>
                </a:solidFill>
                <a:latin typeface="Arial"/>
                <a:ea typeface="+mn-lt"/>
                <a:cs typeface="+mn-lt"/>
              </a:rPr>
              <a:t> using structured resume data</a:t>
            </a:r>
            <a:endParaRPr lang="en-US" sz="1400" dirty="0">
              <a:latin typeface="Arial"/>
              <a:ea typeface="+mn-lt"/>
              <a:cs typeface="+mn-lt"/>
            </a:endParaRPr>
          </a:p>
          <a:p>
            <a:pPr marL="285750" indent="-285750" algn="just">
              <a:buFont typeface="Arial"/>
              <a:buChar char="•"/>
            </a:pPr>
            <a:r>
              <a:rPr lang="en-US" sz="1400" b="1" dirty="0">
                <a:solidFill>
                  <a:srgbClr val="000000"/>
                </a:solidFill>
                <a:latin typeface="Arial"/>
                <a:ea typeface="+mn-lt"/>
                <a:cs typeface="+mn-lt"/>
                <a:sym typeface="Garet"/>
              </a:rPr>
              <a:t>Career goal selection support</a:t>
            </a:r>
            <a:r>
              <a:rPr lang="en-US" sz="1400" dirty="0">
                <a:solidFill>
                  <a:srgbClr val="000000"/>
                </a:solidFill>
                <a:latin typeface="Arial"/>
                <a:ea typeface="+mn-lt"/>
                <a:cs typeface="+mn-lt"/>
                <a:sym typeface="Garet"/>
              </a:rPr>
              <a:t> with role-specific guidance</a:t>
            </a:r>
            <a:endParaRPr lang="en-US" sz="1400" dirty="0">
              <a:latin typeface="Arial"/>
              <a:ea typeface="+mn-lt"/>
              <a:cs typeface="+mn-lt"/>
            </a:endParaRPr>
          </a:p>
          <a:p>
            <a:pPr marL="285750" indent="-285750" algn="just">
              <a:buFont typeface="Arial"/>
              <a:buChar char="•"/>
            </a:pPr>
            <a:r>
              <a:rPr lang="en-US" sz="1400" b="1" dirty="0">
                <a:solidFill>
                  <a:srgbClr val="000000"/>
                </a:solidFill>
                <a:latin typeface="Arial"/>
                <a:ea typeface="+mn-lt"/>
                <a:cs typeface="+mn-lt"/>
                <a:sym typeface="Garet"/>
              </a:rPr>
              <a:t>Market insight integration</a:t>
            </a:r>
            <a:r>
              <a:rPr lang="en-US" sz="1400" dirty="0">
                <a:solidFill>
                  <a:srgbClr val="000000"/>
                </a:solidFill>
                <a:latin typeface="Arial"/>
                <a:ea typeface="+mn-lt"/>
                <a:cs typeface="+mn-lt"/>
                <a:sym typeface="Garet"/>
              </a:rPr>
              <a:t> for relevant job and internship discovery</a:t>
            </a:r>
            <a:endParaRPr lang="en-US" sz="1400" dirty="0">
              <a:latin typeface="Arial"/>
              <a:cs typeface="Arial"/>
            </a:endParaRPr>
          </a:p>
          <a:p>
            <a:pPr marL="285750" indent="-285750" algn="just">
              <a:buFont typeface="Arial"/>
              <a:buChar char="•"/>
            </a:pPr>
            <a:r>
              <a:rPr lang="en-US" sz="1400" b="1" dirty="0">
                <a:solidFill>
                  <a:srgbClr val="000000"/>
                </a:solidFill>
                <a:latin typeface="Arial"/>
                <a:ea typeface="+mn-lt"/>
                <a:cs typeface="+mn-lt"/>
                <a:sym typeface="Garet"/>
              </a:rPr>
              <a:t>Resume tailoring assistance</a:t>
            </a:r>
            <a:r>
              <a:rPr lang="en-US" sz="1400" dirty="0">
                <a:solidFill>
                  <a:srgbClr val="000000"/>
                </a:solidFill>
                <a:latin typeface="Arial"/>
                <a:ea typeface="+mn-lt"/>
                <a:cs typeface="+mn-lt"/>
                <a:sym typeface="Garet"/>
              </a:rPr>
              <a:t> aligned to chosen roles</a:t>
            </a:r>
            <a:endParaRPr lang="en-US" sz="1400" dirty="0">
              <a:latin typeface="Arial"/>
              <a:cs typeface="Arial"/>
            </a:endParaRPr>
          </a:p>
          <a:p>
            <a:pPr marL="285750" indent="-285750" algn="just">
              <a:buFont typeface="Arial"/>
              <a:buChar char="•"/>
            </a:pPr>
            <a:r>
              <a:rPr lang="en-US" sz="1400" b="1" dirty="0">
                <a:solidFill>
                  <a:srgbClr val="000000"/>
                </a:solidFill>
                <a:latin typeface="Arial"/>
                <a:ea typeface="+mn-lt"/>
                <a:cs typeface="+mn-lt"/>
                <a:sym typeface="Garet"/>
              </a:rPr>
              <a:t>3-level adaptive skill assessment framework</a:t>
            </a:r>
            <a:r>
              <a:rPr lang="en-US" sz="1400" dirty="0">
                <a:solidFill>
                  <a:srgbClr val="000000"/>
                </a:solidFill>
                <a:latin typeface="Arial"/>
                <a:ea typeface="+mn-lt"/>
                <a:cs typeface="+mn-lt"/>
                <a:sym typeface="Garet"/>
              </a:rPr>
              <a:t> with clear cutoffs</a:t>
            </a:r>
            <a:endParaRPr lang="en-US" sz="1400" dirty="0">
              <a:latin typeface="Arial"/>
              <a:ea typeface="+mn-lt"/>
              <a:cs typeface="+mn-lt"/>
            </a:endParaRPr>
          </a:p>
          <a:p>
            <a:pPr marL="285750" indent="-285750" algn="just">
              <a:buFont typeface="Arial"/>
              <a:buChar char="•"/>
            </a:pPr>
            <a:r>
              <a:rPr lang="en-US" sz="1400" b="1" dirty="0">
                <a:solidFill>
                  <a:srgbClr val="000000"/>
                </a:solidFill>
                <a:latin typeface="Arial"/>
                <a:ea typeface="+mn-lt"/>
                <a:cs typeface="+mn-lt"/>
                <a:sym typeface="Garet"/>
              </a:rPr>
              <a:t>Level-based feedback mechanism</a:t>
            </a:r>
            <a:r>
              <a:rPr lang="en-US" sz="1400" dirty="0">
                <a:solidFill>
                  <a:srgbClr val="000000"/>
                </a:solidFill>
                <a:latin typeface="Arial"/>
                <a:ea typeface="+mn-lt"/>
                <a:cs typeface="+mn-lt"/>
                <a:sym typeface="Garet"/>
              </a:rPr>
              <a:t> with targeted improvement suggestions</a:t>
            </a:r>
            <a:endParaRPr lang="en-US" sz="1400" dirty="0">
              <a:latin typeface="Arial"/>
              <a:cs typeface="Arial"/>
            </a:endParaRPr>
          </a:p>
          <a:p>
            <a:pPr marL="285750" indent="-285750" algn="just">
              <a:buFont typeface="Arial"/>
              <a:buChar char="•"/>
            </a:pPr>
            <a:r>
              <a:rPr lang="en-US" sz="1400" b="1" dirty="0">
                <a:solidFill>
                  <a:srgbClr val="000000"/>
                </a:solidFill>
                <a:latin typeface="Arial"/>
                <a:ea typeface="+mn-lt"/>
                <a:cs typeface="+mn-lt"/>
                <a:sym typeface="Garet"/>
              </a:rPr>
              <a:t>AI-powered mock interview module</a:t>
            </a:r>
            <a:r>
              <a:rPr lang="en-US" sz="1400" dirty="0">
                <a:solidFill>
                  <a:srgbClr val="000000"/>
                </a:solidFill>
                <a:latin typeface="Arial"/>
                <a:ea typeface="+mn-lt"/>
                <a:cs typeface="+mn-lt"/>
                <a:sym typeface="Garet"/>
              </a:rPr>
              <a:t> for advanced-stage candidates</a:t>
            </a:r>
            <a:endParaRPr lang="en-US" sz="1400" dirty="0">
              <a:latin typeface="Arial"/>
              <a:sym typeface="Garet"/>
            </a:endParaRPr>
          </a:p>
          <a:p>
            <a:pPr algn="just"/>
            <a:endParaRPr lang="en-US" sz="2250" b="1" dirty="0">
              <a:solidFill>
                <a:srgbClr val="000000"/>
              </a:solidFill>
              <a:latin typeface="Calibri"/>
              <a:ea typeface="+mn-lt"/>
              <a:cs typeface="+mn-lt"/>
              <a:sym typeface="Garet"/>
            </a:endParaRPr>
          </a:p>
          <a:p>
            <a:pPr marL="285750" indent="-285750" algn="just">
              <a:buFont typeface="Arial"/>
              <a:buChar char="•"/>
            </a:pPr>
            <a:endParaRPr lang="en-US" sz="1400" dirty="0">
              <a:latin typeface="Arial"/>
              <a:ea typeface="Calibri"/>
              <a:cs typeface="Calibri"/>
            </a:endParaRPr>
          </a:p>
          <a:p>
            <a:pPr algn="just"/>
            <a:br>
              <a:rPr lang="en-US" dirty="0"/>
            </a:br>
            <a:endParaRPr lang="en-US" dirty="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65" y="5112818"/>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p:cNvSpPr txBox="1"/>
          <p:nvPr/>
        </p:nvSpPr>
        <p:spPr>
          <a:xfrm>
            <a:off x="1157033" y="1268489"/>
            <a:ext cx="6535438" cy="4447371"/>
          </a:xfrm>
          <a:prstGeom prst="rect">
            <a:avLst/>
          </a:prstGeom>
        </p:spPr>
        <p:txBody>
          <a:bodyPr wrap="square" lIns="0" tIns="0" rIns="0" bIns="0" rtlCol="0" anchor="t">
            <a:spAutoFit/>
          </a:bodyPr>
          <a:lstStyle/>
          <a:p>
            <a:pPr marL="285750" indent="-285750">
              <a:buFont typeface="Arial"/>
              <a:buChar char="•"/>
            </a:pPr>
            <a:r>
              <a:rPr lang="en-US" sz="1200" b="1">
                <a:solidFill>
                  <a:srgbClr val="000000"/>
                </a:solidFill>
                <a:latin typeface="Arial"/>
                <a:cs typeface="Arial"/>
              </a:rPr>
              <a:t>LLM – Qwen-3 (8B) via </a:t>
            </a:r>
            <a:r>
              <a:rPr lang="en-US" sz="1200" b="1" err="1">
                <a:solidFill>
                  <a:srgbClr val="000000"/>
                </a:solidFill>
                <a:latin typeface="Arial"/>
                <a:cs typeface="Arial"/>
              </a:rPr>
              <a:t>Ollama</a:t>
            </a:r>
            <a:br>
              <a:rPr lang="en-US" sz="1200" b="1">
                <a:latin typeface="Arial"/>
                <a:cs typeface="Arial"/>
              </a:rPr>
            </a:br>
            <a:r>
              <a:rPr lang="en-US" sz="1200" b="1">
                <a:solidFill>
                  <a:srgbClr val="000000"/>
                </a:solidFill>
                <a:latin typeface="Arial"/>
                <a:cs typeface="Arial"/>
              </a:rPr>
              <a:t> </a:t>
            </a:r>
            <a:r>
              <a:rPr lang="en-US" sz="1200">
                <a:solidFill>
                  <a:srgbClr val="000000"/>
                </a:solidFill>
                <a:latin typeface="Arial"/>
                <a:cs typeface="Arial"/>
              </a:rPr>
              <a:t>→ Resume analysis, skill evaluation, feedback &amp; interview questions</a:t>
            </a:r>
            <a:br>
              <a:rPr lang="en-US" sz="1200" b="1">
                <a:latin typeface="Arial"/>
                <a:cs typeface="Arial"/>
              </a:rPr>
            </a:br>
            <a:endParaRPr lang="en-US" sz="1200" b="1">
              <a:solidFill>
                <a:srgbClr val="000000"/>
              </a:solidFill>
              <a:latin typeface="Arial"/>
              <a:cs typeface="Arial"/>
            </a:endParaRPr>
          </a:p>
          <a:p>
            <a:pPr marL="285750" indent="-285750">
              <a:buFont typeface="Arial"/>
              <a:buChar char="•"/>
            </a:pPr>
            <a:r>
              <a:rPr lang="en-US" sz="1200" b="1">
                <a:solidFill>
                  <a:srgbClr val="000000"/>
                </a:solidFill>
                <a:latin typeface="Arial"/>
                <a:cs typeface="Arial"/>
              </a:rPr>
              <a:t>Agentic AI (Think → Plan → Act)</a:t>
            </a:r>
            <a:br>
              <a:rPr lang="en-US" sz="1200" b="1">
                <a:latin typeface="Arial"/>
                <a:cs typeface="Arial"/>
              </a:rPr>
            </a:br>
            <a:r>
              <a:rPr lang="en-US" sz="1200" b="1">
                <a:solidFill>
                  <a:srgbClr val="000000"/>
                </a:solidFill>
                <a:latin typeface="Arial"/>
                <a:cs typeface="Arial"/>
              </a:rPr>
              <a:t> </a:t>
            </a:r>
            <a:r>
              <a:rPr lang="en-US" sz="1200">
                <a:solidFill>
                  <a:srgbClr val="000000"/>
                </a:solidFill>
                <a:latin typeface="Arial"/>
                <a:cs typeface="Arial"/>
              </a:rPr>
              <a:t>→ Understand profile, plan tests, guide next steps</a:t>
            </a:r>
            <a:br>
              <a:rPr lang="en-US" sz="1200" b="1">
                <a:latin typeface="Arial"/>
                <a:cs typeface="Arial"/>
              </a:rPr>
            </a:br>
            <a:endParaRPr lang="en-US" sz="1200" b="1">
              <a:latin typeface="Arial"/>
              <a:cs typeface="Arial"/>
            </a:endParaRPr>
          </a:p>
          <a:p>
            <a:pPr marL="285750" indent="-285750">
              <a:buFont typeface="Arial"/>
              <a:buChar char="•"/>
            </a:pPr>
            <a:r>
              <a:rPr lang="en-US" sz="1200" b="1">
                <a:solidFill>
                  <a:srgbClr val="000000"/>
                </a:solidFill>
                <a:latin typeface="Arial"/>
                <a:cs typeface="Arial"/>
              </a:rPr>
              <a:t>Rule-Based Logic</a:t>
            </a:r>
            <a:br>
              <a:rPr lang="en-US" sz="1200" b="1">
                <a:latin typeface="Arial"/>
                <a:cs typeface="Arial"/>
              </a:rPr>
            </a:br>
            <a:r>
              <a:rPr lang="en-US" sz="1200">
                <a:solidFill>
                  <a:srgbClr val="000000"/>
                </a:solidFill>
                <a:latin typeface="Arial"/>
                <a:cs typeface="Arial"/>
              </a:rPr>
              <a:t> → Cutoff decisions using simple if-else (clear &amp; explainable)</a:t>
            </a:r>
            <a:br>
              <a:rPr lang="en-US" sz="1200" b="1">
                <a:latin typeface="Arial"/>
                <a:cs typeface="Arial"/>
              </a:rPr>
            </a:br>
            <a:endParaRPr lang="en-US" sz="1200" b="1">
              <a:solidFill>
                <a:srgbClr val="000000"/>
              </a:solidFill>
              <a:latin typeface="Arial"/>
              <a:cs typeface="Arial"/>
            </a:endParaRPr>
          </a:p>
          <a:p>
            <a:pPr marL="285750" indent="-285750">
              <a:buFont typeface="Arial"/>
              <a:buChar char="•"/>
            </a:pPr>
            <a:r>
              <a:rPr lang="en-US" sz="1200" b="1">
                <a:solidFill>
                  <a:srgbClr val="000000"/>
                </a:solidFill>
                <a:latin typeface="Arial"/>
                <a:cs typeface="Arial"/>
              </a:rPr>
              <a:t>NLP</a:t>
            </a:r>
            <a:br>
              <a:rPr lang="en-US" sz="1200" b="1">
                <a:latin typeface="Arial"/>
                <a:cs typeface="Arial"/>
              </a:rPr>
            </a:br>
            <a:r>
              <a:rPr lang="en-US" sz="1200">
                <a:solidFill>
                  <a:srgbClr val="000000"/>
                </a:solidFill>
                <a:latin typeface="Arial"/>
                <a:cs typeface="Arial"/>
              </a:rPr>
              <a:t> → Resume + answer understanding, personalized guidance</a:t>
            </a:r>
            <a:br>
              <a:rPr lang="en-US" sz="1200" b="1">
                <a:latin typeface="Arial"/>
                <a:cs typeface="Arial"/>
              </a:rPr>
            </a:br>
            <a:endParaRPr lang="en-US" sz="1200" b="1">
              <a:latin typeface="Arial"/>
              <a:cs typeface="Arial"/>
            </a:endParaRPr>
          </a:p>
          <a:p>
            <a:pPr marL="285750" indent="-285750">
              <a:buFont typeface="Arial"/>
              <a:buChar char="•"/>
            </a:pPr>
            <a:r>
              <a:rPr lang="en-US" sz="1200" b="1">
                <a:solidFill>
                  <a:srgbClr val="000000"/>
                </a:solidFill>
                <a:latin typeface="Arial"/>
                <a:cs typeface="Arial"/>
              </a:rPr>
              <a:t>CV + Speech Analysis (Mock Interview)</a:t>
            </a:r>
            <a:br>
              <a:rPr lang="en-US" sz="1200" b="1">
                <a:latin typeface="Arial"/>
                <a:cs typeface="Arial"/>
              </a:rPr>
            </a:br>
            <a:r>
              <a:rPr lang="en-US" sz="1200" b="1">
                <a:solidFill>
                  <a:srgbClr val="000000"/>
                </a:solidFill>
                <a:latin typeface="Arial"/>
                <a:cs typeface="Arial"/>
              </a:rPr>
              <a:t> </a:t>
            </a:r>
            <a:r>
              <a:rPr lang="en-US" sz="1200">
                <a:solidFill>
                  <a:srgbClr val="000000"/>
                </a:solidFill>
                <a:latin typeface="Arial"/>
                <a:cs typeface="Arial"/>
              </a:rPr>
              <a:t>→ Posture, confidence &amp; communication via camera and microphone</a:t>
            </a:r>
            <a:br>
              <a:rPr lang="en-US" sz="1200" b="1">
                <a:latin typeface="Arial"/>
                <a:cs typeface="Arial"/>
              </a:rPr>
            </a:br>
            <a:endParaRPr lang="en-US" sz="1200" b="1">
              <a:solidFill>
                <a:srgbClr val="000000"/>
              </a:solidFill>
              <a:latin typeface="Arial"/>
              <a:cs typeface="Arial"/>
            </a:endParaRPr>
          </a:p>
          <a:p>
            <a:pPr marL="285750" indent="-285750">
              <a:buFont typeface="Arial"/>
              <a:buChar char="•"/>
            </a:pPr>
            <a:r>
              <a:rPr lang="en-US" sz="1200" b="1">
                <a:solidFill>
                  <a:srgbClr val="000000"/>
                </a:solidFill>
                <a:latin typeface="Arial"/>
                <a:cs typeface="Arial"/>
              </a:rPr>
              <a:t>Tech Stack</a:t>
            </a:r>
            <a:br>
              <a:rPr lang="en-US" sz="1200" b="1">
                <a:latin typeface="Arial"/>
                <a:cs typeface="Arial"/>
              </a:rPr>
            </a:br>
            <a:r>
              <a:rPr lang="en-US" sz="1200">
                <a:solidFill>
                  <a:srgbClr val="000000"/>
                </a:solidFill>
                <a:latin typeface="Arial"/>
                <a:cs typeface="Arial"/>
              </a:rPr>
              <a:t> → Flask + HTML/CSS/JS</a:t>
            </a:r>
            <a:endParaRPr lang="en-US" sz="1200">
              <a:latin typeface="Arial"/>
              <a:ea typeface="Calibri"/>
              <a:cs typeface="Arial"/>
            </a:endParaRPr>
          </a:p>
          <a:p>
            <a:pPr marL="285750" indent="-285750">
              <a:buFont typeface="Arial"/>
              <a:buChar char="•"/>
            </a:pPr>
            <a:endParaRPr lang="en-US" sz="1200">
              <a:solidFill>
                <a:srgbClr val="000000"/>
              </a:solidFill>
              <a:latin typeface="Arial"/>
              <a:ea typeface="+mn-lt"/>
              <a:cs typeface="Arial"/>
            </a:endParaRPr>
          </a:p>
          <a:p>
            <a:pPr>
              <a:buFont typeface="Arial"/>
              <a:buChar char="•"/>
            </a:pPr>
            <a:r>
              <a:rPr lang="en-US" sz="1400" b="1">
                <a:solidFill>
                  <a:srgbClr val="000000"/>
                </a:solidFill>
                <a:latin typeface="Arial"/>
                <a:ea typeface="+mn-lt"/>
                <a:cs typeface="+mn-lt"/>
              </a:rPr>
              <a:t>       Dataset:</a:t>
            </a:r>
            <a:endParaRPr lang="en-US" sz="1400" b="1">
              <a:solidFill>
                <a:srgbClr val="000000"/>
              </a:solidFill>
              <a:latin typeface="Arial"/>
              <a:ea typeface="+mn-lt"/>
              <a:cs typeface="Arial"/>
            </a:endParaRPr>
          </a:p>
          <a:p>
            <a:r>
              <a:rPr lang="en-US" sz="1200">
                <a:solidFill>
                  <a:srgbClr val="000000"/>
                </a:solidFill>
                <a:latin typeface="Arial"/>
                <a:ea typeface="+mn-lt"/>
                <a:cs typeface="Arial"/>
              </a:rPr>
              <a:t>       → </a:t>
            </a:r>
            <a:r>
              <a:rPr lang="en-US" sz="1200" i="1">
                <a:latin typeface="Arial" panose="020B0604020202020204" pitchFamily="34" charset="0"/>
                <a:cs typeface="Arial" panose="020B0604020202020204" pitchFamily="34" charset="0"/>
              </a:rPr>
              <a:t>Entity Recognition in Resumes</a:t>
            </a:r>
            <a:r>
              <a:rPr lang="en-US" sz="1200">
                <a:latin typeface="Arial" panose="020B0604020202020204" pitchFamily="34" charset="0"/>
                <a:cs typeface="Arial" panose="020B0604020202020204" pitchFamily="34" charset="0"/>
              </a:rPr>
              <a:t> (Kaggle) for </a:t>
            </a:r>
            <a:r>
              <a:rPr lang="en-US" sz="1200" b="1">
                <a:latin typeface="Arial" panose="020B0604020202020204" pitchFamily="34" charset="0"/>
                <a:cs typeface="Arial" panose="020B0604020202020204" pitchFamily="34" charset="0"/>
              </a:rPr>
              <a:t>skill, role, and feature extraction</a:t>
            </a:r>
            <a:endParaRPr lang="en-US" sz="1200">
              <a:latin typeface="Arial" panose="020B0604020202020204" pitchFamily="34" charset="0"/>
              <a:ea typeface="Calibri"/>
              <a:cs typeface="Arial" panose="020B0604020202020204" pitchFamily="34" charset="0"/>
            </a:endParaRPr>
          </a:p>
          <a:p>
            <a:pPr marL="285750" indent="-285750" algn="l">
              <a:buFont typeface="Arial"/>
              <a:buChar char="•"/>
            </a:pPr>
            <a:endParaRPr lang="en-US" sz="1200">
              <a:solidFill>
                <a:srgbClr val="000000"/>
              </a:solidFill>
              <a:latin typeface="Arial"/>
              <a:ea typeface="Garet"/>
              <a:cs typeface="Arial"/>
            </a:endParaRPr>
          </a:p>
          <a:p>
            <a:endParaRPr lang="en-US" sz="1200">
              <a:solidFill>
                <a:srgbClr val="000000"/>
              </a:solidFill>
              <a:latin typeface="Arial"/>
              <a:ea typeface="Calibri"/>
              <a:cs typeface="Arial"/>
            </a:endParaRPr>
          </a:p>
          <a:p>
            <a:pPr>
              <a:lnSpc>
                <a:spcPts val="3203"/>
              </a:lnSpc>
            </a:pPr>
            <a:endParaRPr lang="en-US" sz="1200">
              <a:solidFill>
                <a:srgbClr val="000000"/>
              </a:solidFill>
              <a:latin typeface="Garet"/>
              <a:ea typeface="Calibri"/>
              <a:cs typeface="Calibri"/>
            </a:endParaRPr>
          </a:p>
        </p:txBody>
      </p:sp>
      <p:sp>
        <p:nvSpPr>
          <p:cNvPr id="12" name="TextBox 11">
            <a:extLst>
              <a:ext uri="{FF2B5EF4-FFF2-40B4-BE49-F238E27FC236}">
                <a16:creationId xmlns:a16="http://schemas.microsoft.com/office/drawing/2014/main" id="{7A0CC6A2-BFFC-2385-62C9-49E808D2311E}"/>
              </a:ext>
            </a:extLst>
          </p:cNvPr>
          <p:cNvSpPr txBox="1"/>
          <p:nvPr/>
        </p:nvSpPr>
        <p:spPr>
          <a:xfrm>
            <a:off x="426462" y="734128"/>
            <a:ext cx="6178052" cy="4385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50" b="1" dirty="0">
                <a:latin typeface="Garet"/>
                <a:ea typeface="+mn-lt"/>
                <a:cs typeface="+mn-lt"/>
              </a:rPr>
              <a:t>AI Technologies Planned &amp; In Use</a:t>
            </a:r>
            <a:endParaRPr lang="en-US" dirty="0">
              <a:latin typeface="Gare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004014"/>
            <a:ext cx="10287000" cy="387136"/>
            <a:chOff x="0" y="0"/>
            <a:chExt cx="5169753" cy="194556"/>
          </a:xfrm>
        </p:grpSpPr>
        <p:sp>
          <p:nvSpPr>
            <p:cNvPr id="3" name="Freeform 3"/>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p:cNvGrpSpPr/>
          <p:nvPr/>
        </p:nvGrpSpPr>
        <p:grpSpPr>
          <a:xfrm>
            <a:off x="0" y="-14327"/>
            <a:ext cx="10287000" cy="651243"/>
            <a:chOff x="0" y="0"/>
            <a:chExt cx="5169753" cy="327283"/>
          </a:xfrm>
        </p:grpSpPr>
        <p:sp>
          <p:nvSpPr>
            <p:cNvPr id="6" name="Freeform 6"/>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p:cNvGrpSpPr/>
          <p:nvPr/>
        </p:nvGrpSpPr>
        <p:grpSpPr>
          <a:xfrm>
            <a:off x="3903074" y="-14327"/>
            <a:ext cx="2480852" cy="651243"/>
            <a:chOff x="0" y="0"/>
            <a:chExt cx="3307803" cy="868323"/>
          </a:xfrm>
        </p:grpSpPr>
        <p:sp>
          <p:nvSpPr>
            <p:cNvPr id="9" name="Freeform 9"/>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p:cNvSpPr txBox="1"/>
          <p:nvPr/>
        </p:nvSpPr>
        <p:spPr>
          <a:xfrm>
            <a:off x="255806" y="776787"/>
            <a:ext cx="8301178" cy="806183"/>
          </a:xfrm>
          <a:prstGeom prst="rect">
            <a:avLst/>
          </a:prstGeom>
        </p:spPr>
        <p:txBody>
          <a:bodyPr lIns="0" tIns="0" rIns="0" bIns="0" rtlCol="0" anchor="t">
            <a:spAutoFit/>
          </a:bodyPr>
          <a:lstStyle/>
          <a:p>
            <a:pPr algn="l">
              <a:lnSpc>
                <a:spcPts val="3203"/>
              </a:lnSpc>
            </a:pPr>
            <a:r>
              <a:rPr lang="en-US" sz="2250" b="1">
                <a:solidFill>
                  <a:srgbClr val="000000"/>
                </a:solidFill>
                <a:latin typeface="Garet"/>
                <a:ea typeface="Garet"/>
                <a:cs typeface="Garet"/>
                <a:sym typeface="Garet"/>
              </a:rPr>
              <a:t>Architecture diagram of the proposed solution</a:t>
            </a:r>
            <a:endParaRPr lang="en-US" sz="2250" b="1">
              <a:solidFill>
                <a:srgbClr val="000000"/>
              </a:solidFill>
              <a:latin typeface="Garet"/>
              <a:ea typeface="Garet"/>
              <a:cs typeface="Garet"/>
            </a:endParaRPr>
          </a:p>
          <a:p>
            <a:pPr algn="l">
              <a:lnSpc>
                <a:spcPts val="3203"/>
              </a:lnSpc>
            </a:pPr>
            <a:endParaRPr lang="en-US" sz="2288">
              <a:solidFill>
                <a:srgbClr val="000000"/>
              </a:solidFill>
              <a:latin typeface="Garet"/>
              <a:ea typeface="Garet"/>
              <a:cs typeface="Garet"/>
              <a:sym typeface="Garet"/>
            </a:endParaRPr>
          </a:p>
        </p:txBody>
      </p:sp>
      <p:pic>
        <p:nvPicPr>
          <p:cNvPr id="12" name="Picture 11" descr="A diagram of a software development process&#10;&#10;AI-generated content may be incorrect.">
            <a:extLst>
              <a:ext uri="{FF2B5EF4-FFF2-40B4-BE49-F238E27FC236}">
                <a16:creationId xmlns:a16="http://schemas.microsoft.com/office/drawing/2014/main" id="{DB4D93FA-29EC-5107-052E-A3663D0EF5D9}"/>
              </a:ext>
            </a:extLst>
          </p:cNvPr>
          <p:cNvPicPr>
            <a:picLocks noChangeAspect="1"/>
          </p:cNvPicPr>
          <p:nvPr/>
        </p:nvPicPr>
        <p:blipFill>
          <a:blip r:embed="rId4"/>
          <a:srcRect l="6147" r="140"/>
          <a:stretch>
            <a:fillRect/>
          </a:stretch>
        </p:blipFill>
        <p:spPr>
          <a:xfrm>
            <a:off x="2281825" y="1344001"/>
            <a:ext cx="5862635" cy="35544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A6DBF-F0D6-698A-823E-5C72026428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DA02E3-F567-38BF-60D1-7025F48A5220}"/>
              </a:ext>
            </a:extLst>
          </p:cNvPr>
          <p:cNvGrpSpPr/>
          <p:nvPr/>
        </p:nvGrpSpPr>
        <p:grpSpPr>
          <a:xfrm>
            <a:off x="0" y="5004014"/>
            <a:ext cx="10287000" cy="387136"/>
            <a:chOff x="0" y="0"/>
            <a:chExt cx="5169753" cy="194556"/>
          </a:xfrm>
        </p:grpSpPr>
        <p:sp>
          <p:nvSpPr>
            <p:cNvPr id="3" name="Freeform 3">
              <a:extLst>
                <a:ext uri="{FF2B5EF4-FFF2-40B4-BE49-F238E27FC236}">
                  <a16:creationId xmlns:a16="http://schemas.microsoft.com/office/drawing/2014/main" id="{E836FB1F-CFEF-C4FB-0D02-E9305E1A7A16}"/>
                </a:ext>
              </a:extLst>
            </p:cNvPr>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a:extLst>
                <a:ext uri="{FF2B5EF4-FFF2-40B4-BE49-F238E27FC236}">
                  <a16:creationId xmlns:a16="http://schemas.microsoft.com/office/drawing/2014/main" id="{A7009ABB-C6E3-1AC4-2FB2-56C461B563D1}"/>
                </a:ext>
              </a:extLst>
            </p:cNvPr>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a:extLst>
              <a:ext uri="{FF2B5EF4-FFF2-40B4-BE49-F238E27FC236}">
                <a16:creationId xmlns:a16="http://schemas.microsoft.com/office/drawing/2014/main" id="{1533B819-A7A8-AB11-2B42-806675E33371}"/>
              </a:ext>
            </a:extLst>
          </p:cNvPr>
          <p:cNvGrpSpPr/>
          <p:nvPr/>
        </p:nvGrpSpPr>
        <p:grpSpPr>
          <a:xfrm>
            <a:off x="0" y="-14327"/>
            <a:ext cx="10287000" cy="651243"/>
            <a:chOff x="0" y="0"/>
            <a:chExt cx="5169753" cy="327283"/>
          </a:xfrm>
        </p:grpSpPr>
        <p:sp>
          <p:nvSpPr>
            <p:cNvPr id="6" name="Freeform 6">
              <a:extLst>
                <a:ext uri="{FF2B5EF4-FFF2-40B4-BE49-F238E27FC236}">
                  <a16:creationId xmlns:a16="http://schemas.microsoft.com/office/drawing/2014/main" id="{67F97ED7-D03A-5345-1407-486C535B775F}"/>
                </a:ext>
              </a:extLst>
            </p:cNvPr>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a:extLst>
                <a:ext uri="{FF2B5EF4-FFF2-40B4-BE49-F238E27FC236}">
                  <a16:creationId xmlns:a16="http://schemas.microsoft.com/office/drawing/2014/main" id="{CC2E6B23-398D-7716-7FD6-A8C7515C67F8}"/>
                </a:ext>
              </a:extLst>
            </p:cNvPr>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a:extLst>
              <a:ext uri="{FF2B5EF4-FFF2-40B4-BE49-F238E27FC236}">
                <a16:creationId xmlns:a16="http://schemas.microsoft.com/office/drawing/2014/main" id="{9CD06169-B4AD-8394-BA55-156540E4FEA1}"/>
              </a:ext>
            </a:extLst>
          </p:cNvPr>
          <p:cNvGrpSpPr/>
          <p:nvPr/>
        </p:nvGrpSpPr>
        <p:grpSpPr>
          <a:xfrm>
            <a:off x="3903074" y="-14327"/>
            <a:ext cx="2480852" cy="651243"/>
            <a:chOff x="0" y="0"/>
            <a:chExt cx="3307803" cy="868323"/>
          </a:xfrm>
        </p:grpSpPr>
        <p:sp>
          <p:nvSpPr>
            <p:cNvPr id="9" name="Freeform 9">
              <a:extLst>
                <a:ext uri="{FF2B5EF4-FFF2-40B4-BE49-F238E27FC236}">
                  <a16:creationId xmlns:a16="http://schemas.microsoft.com/office/drawing/2014/main" id="{8D3F43D1-5AB9-2B58-C9DF-EB665C6451D6}"/>
                </a:ext>
              </a:extLst>
            </p:cNvPr>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a:extLst>
                <a:ext uri="{FF2B5EF4-FFF2-40B4-BE49-F238E27FC236}">
                  <a16:creationId xmlns:a16="http://schemas.microsoft.com/office/drawing/2014/main" id="{26E63AE6-D2F5-ECF9-C1B7-62845CF1AD5C}"/>
                </a:ext>
              </a:extLst>
            </p:cNvPr>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a:extLst>
              <a:ext uri="{FF2B5EF4-FFF2-40B4-BE49-F238E27FC236}">
                <a16:creationId xmlns:a16="http://schemas.microsoft.com/office/drawing/2014/main" id="{03F6032A-F290-4913-2000-F8365BD81538}"/>
              </a:ext>
            </a:extLst>
          </p:cNvPr>
          <p:cNvSpPr txBox="1"/>
          <p:nvPr/>
        </p:nvSpPr>
        <p:spPr>
          <a:xfrm>
            <a:off x="344218" y="712536"/>
            <a:ext cx="8301178" cy="394339"/>
          </a:xfrm>
          <a:prstGeom prst="rect">
            <a:avLst/>
          </a:prstGeom>
        </p:spPr>
        <p:txBody>
          <a:bodyPr lIns="0" tIns="0" rIns="0" bIns="0" rtlCol="0" anchor="t">
            <a:spAutoFit/>
          </a:bodyPr>
          <a:lstStyle/>
          <a:p>
            <a:pPr>
              <a:lnSpc>
                <a:spcPts val="3203"/>
              </a:lnSpc>
            </a:pPr>
            <a:r>
              <a:rPr lang="en-US" sz="2250" b="1" dirty="0">
                <a:solidFill>
                  <a:srgbClr val="000000"/>
                </a:solidFill>
                <a:latin typeface="Garet"/>
                <a:ea typeface="Garet"/>
                <a:cs typeface="Garet"/>
                <a:sym typeface="Garet"/>
              </a:rPr>
              <a:t>Mock Frames(Partial Implementation)</a:t>
            </a:r>
            <a:endParaRPr lang="en-US" sz="2250" b="1" dirty="0">
              <a:latin typeface="Garet"/>
            </a:endParaRPr>
          </a:p>
        </p:txBody>
      </p:sp>
      <p:pic>
        <p:nvPicPr>
          <p:cNvPr id="16" name="Picture 15" descr="A screenshot of a computer">
            <a:extLst>
              <a:ext uri="{FF2B5EF4-FFF2-40B4-BE49-F238E27FC236}">
                <a16:creationId xmlns:a16="http://schemas.microsoft.com/office/drawing/2014/main" id="{52DFF140-BB48-2E5A-7602-9C995744E5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581" y="1835507"/>
            <a:ext cx="3338048" cy="1681879"/>
          </a:xfrm>
          <a:prstGeom prst="rect">
            <a:avLst/>
          </a:prstGeom>
        </p:spPr>
      </p:pic>
      <p:pic>
        <p:nvPicPr>
          <p:cNvPr id="18" name="Picture 17" descr="A screenshot of a computer&#10;&#10;AI-generated content may be incorrect.">
            <a:extLst>
              <a:ext uri="{FF2B5EF4-FFF2-40B4-BE49-F238E27FC236}">
                <a16:creationId xmlns:a16="http://schemas.microsoft.com/office/drawing/2014/main" id="{21B0FEBB-7713-BA6D-C38C-DA09CDE402B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7364" y="1317230"/>
            <a:ext cx="3002993" cy="1515258"/>
          </a:xfrm>
          <a:prstGeom prst="rect">
            <a:avLst/>
          </a:prstGeom>
        </p:spPr>
      </p:pic>
      <p:pic>
        <p:nvPicPr>
          <p:cNvPr id="20" name="Picture 19" descr="A screenshot of a computer program&#10;&#10;AI-generated content may be incorrect.">
            <a:extLst>
              <a:ext uri="{FF2B5EF4-FFF2-40B4-BE49-F238E27FC236}">
                <a16:creationId xmlns:a16="http://schemas.microsoft.com/office/drawing/2014/main" id="{0A7E75EC-935E-68BE-EA61-6102680F440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37363" y="3388894"/>
            <a:ext cx="3002993" cy="1516663"/>
          </a:xfrm>
          <a:prstGeom prst="rect">
            <a:avLst/>
          </a:prstGeom>
        </p:spPr>
      </p:pic>
      <p:sp>
        <p:nvSpPr>
          <p:cNvPr id="22" name="TextBox 21">
            <a:extLst>
              <a:ext uri="{FF2B5EF4-FFF2-40B4-BE49-F238E27FC236}">
                <a16:creationId xmlns:a16="http://schemas.microsoft.com/office/drawing/2014/main" id="{64C59582-79D7-B1BD-72C0-BCF8DE3523CA}"/>
              </a:ext>
            </a:extLst>
          </p:cNvPr>
          <p:cNvSpPr txBox="1"/>
          <p:nvPr/>
        </p:nvSpPr>
        <p:spPr>
          <a:xfrm>
            <a:off x="674327" y="3663503"/>
            <a:ext cx="3709436" cy="461665"/>
          </a:xfrm>
          <a:prstGeom prst="rect">
            <a:avLst/>
          </a:prstGeom>
          <a:noFill/>
        </p:spPr>
        <p:txBody>
          <a:bodyPr wrap="square" rtlCol="0">
            <a:spAutoFit/>
          </a:bodyPr>
          <a:lstStyle/>
          <a:p>
            <a:r>
              <a:rPr lang="en-US" sz="1200" dirty="0"/>
              <a:t>Allows users to select and confirm their desired career path for personalized guidance.</a:t>
            </a:r>
            <a:endParaRPr lang="en-IN" sz="1200" dirty="0"/>
          </a:p>
        </p:txBody>
      </p:sp>
      <p:cxnSp>
        <p:nvCxnSpPr>
          <p:cNvPr id="24" name="Straight Arrow Connector 23">
            <a:extLst>
              <a:ext uri="{FF2B5EF4-FFF2-40B4-BE49-F238E27FC236}">
                <a16:creationId xmlns:a16="http://schemas.microsoft.com/office/drawing/2014/main" id="{785744E2-708C-D16F-0A25-CBC189EEC699}"/>
              </a:ext>
            </a:extLst>
          </p:cNvPr>
          <p:cNvCxnSpPr>
            <a:cxnSpLocks/>
            <a:stCxn id="16" idx="3"/>
            <a:endCxn id="18" idx="1"/>
          </p:cNvCxnSpPr>
          <p:nvPr/>
        </p:nvCxnSpPr>
        <p:spPr>
          <a:xfrm flipV="1">
            <a:off x="4106629" y="2074859"/>
            <a:ext cx="1130735" cy="60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DF7E548-66C4-81A4-5CBD-E13BCE050F21}"/>
              </a:ext>
            </a:extLst>
          </p:cNvPr>
          <p:cNvCxnSpPr>
            <a:cxnSpLocks/>
            <a:stCxn id="18" idx="2"/>
            <a:endCxn id="20" idx="0"/>
          </p:cNvCxnSpPr>
          <p:nvPr/>
        </p:nvCxnSpPr>
        <p:spPr>
          <a:xfrm flipH="1">
            <a:off x="6738860" y="2832488"/>
            <a:ext cx="1" cy="5564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0ED3DAA3-A713-6DA9-1213-678944CCD523}"/>
              </a:ext>
            </a:extLst>
          </p:cNvPr>
          <p:cNvSpPr txBox="1"/>
          <p:nvPr/>
        </p:nvSpPr>
        <p:spPr>
          <a:xfrm>
            <a:off x="8240358" y="1420009"/>
            <a:ext cx="1984786" cy="830997"/>
          </a:xfrm>
          <a:prstGeom prst="rect">
            <a:avLst/>
          </a:prstGeom>
          <a:noFill/>
        </p:spPr>
        <p:txBody>
          <a:bodyPr wrap="square" rtlCol="0">
            <a:spAutoFit/>
          </a:bodyPr>
          <a:lstStyle/>
          <a:p>
            <a:r>
              <a:rPr lang="en-US" sz="1200" dirty="0"/>
              <a:t>Enables users to upload their resume and access AI powered resume analysis features.</a:t>
            </a:r>
            <a:endParaRPr lang="en-IN" sz="1200" dirty="0"/>
          </a:p>
        </p:txBody>
      </p:sp>
      <p:sp>
        <p:nvSpPr>
          <p:cNvPr id="35" name="TextBox 34">
            <a:extLst>
              <a:ext uri="{FF2B5EF4-FFF2-40B4-BE49-F238E27FC236}">
                <a16:creationId xmlns:a16="http://schemas.microsoft.com/office/drawing/2014/main" id="{F7B1AECB-1479-1F51-09C2-6A178D35E045}"/>
              </a:ext>
            </a:extLst>
          </p:cNvPr>
          <p:cNvSpPr txBox="1"/>
          <p:nvPr/>
        </p:nvSpPr>
        <p:spPr>
          <a:xfrm>
            <a:off x="8302215" y="3423659"/>
            <a:ext cx="1984785" cy="1015663"/>
          </a:xfrm>
          <a:prstGeom prst="rect">
            <a:avLst/>
          </a:prstGeom>
          <a:noFill/>
        </p:spPr>
        <p:txBody>
          <a:bodyPr wrap="square" rtlCol="0">
            <a:spAutoFit/>
          </a:bodyPr>
          <a:lstStyle/>
          <a:p>
            <a:r>
              <a:rPr lang="en-US" sz="1200" dirty="0"/>
              <a:t>Displays detailed backend analysis of skills, strengths, gaps and career recommendations generated by the system</a:t>
            </a:r>
            <a:endParaRPr lang="en-IN" sz="1200" dirty="0"/>
          </a:p>
        </p:txBody>
      </p:sp>
    </p:spTree>
    <p:extLst>
      <p:ext uri="{BB962C8B-B14F-4D97-AF65-F5344CB8AC3E}">
        <p14:creationId xmlns:p14="http://schemas.microsoft.com/office/powerpoint/2010/main" val="1271813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2B768-4336-BC1B-407C-A569FDE2411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2057DEE-FBBF-C1B4-C1E4-57E83581F819}"/>
              </a:ext>
            </a:extLst>
          </p:cNvPr>
          <p:cNvGrpSpPr/>
          <p:nvPr/>
        </p:nvGrpSpPr>
        <p:grpSpPr>
          <a:xfrm>
            <a:off x="0" y="5004014"/>
            <a:ext cx="10287000" cy="387136"/>
            <a:chOff x="0" y="0"/>
            <a:chExt cx="5169753" cy="194556"/>
          </a:xfrm>
        </p:grpSpPr>
        <p:sp>
          <p:nvSpPr>
            <p:cNvPr id="3" name="Freeform 3">
              <a:extLst>
                <a:ext uri="{FF2B5EF4-FFF2-40B4-BE49-F238E27FC236}">
                  <a16:creationId xmlns:a16="http://schemas.microsoft.com/office/drawing/2014/main" id="{8DFA12B7-0F09-C520-9748-E0DD6526377A}"/>
                </a:ext>
              </a:extLst>
            </p:cNvPr>
            <p:cNvSpPr/>
            <p:nvPr/>
          </p:nvSpPr>
          <p:spPr>
            <a:xfrm>
              <a:off x="0" y="0"/>
              <a:ext cx="5169753" cy="194556"/>
            </a:xfrm>
            <a:custGeom>
              <a:avLst/>
              <a:gdLst/>
              <a:ahLst/>
              <a:cxnLst/>
              <a:rect l="l" t="t" r="r" b="b"/>
              <a:pathLst>
                <a:path w="5169753" h="194556">
                  <a:moveTo>
                    <a:pt x="0" y="0"/>
                  </a:moveTo>
                  <a:lnTo>
                    <a:pt x="5169753" y="0"/>
                  </a:lnTo>
                  <a:lnTo>
                    <a:pt x="5169753" y="194556"/>
                  </a:lnTo>
                  <a:lnTo>
                    <a:pt x="0" y="194556"/>
                  </a:lnTo>
                  <a:close/>
                </a:path>
              </a:pathLst>
            </a:custGeom>
            <a:solidFill>
              <a:srgbClr val="000000"/>
            </a:solidFill>
          </p:spPr>
          <p:txBody>
            <a:bodyPr/>
            <a:lstStyle/>
            <a:p>
              <a:endParaRPr lang="en-IN"/>
            </a:p>
          </p:txBody>
        </p:sp>
        <p:sp>
          <p:nvSpPr>
            <p:cNvPr id="4" name="TextBox 4">
              <a:extLst>
                <a:ext uri="{FF2B5EF4-FFF2-40B4-BE49-F238E27FC236}">
                  <a16:creationId xmlns:a16="http://schemas.microsoft.com/office/drawing/2014/main" id="{A0874CC7-57D7-0E8A-85E8-5F4D8A47D75B}"/>
                </a:ext>
              </a:extLst>
            </p:cNvPr>
            <p:cNvSpPr txBox="1"/>
            <p:nvPr/>
          </p:nvSpPr>
          <p:spPr>
            <a:xfrm>
              <a:off x="0" y="-19050"/>
              <a:ext cx="5169753" cy="213606"/>
            </a:xfrm>
            <a:prstGeom prst="rect">
              <a:avLst/>
            </a:prstGeom>
          </p:spPr>
          <p:txBody>
            <a:bodyPr lIns="50800" tIns="50800" rIns="50800" bIns="50800" rtlCol="0" anchor="ctr"/>
            <a:lstStyle/>
            <a:p>
              <a:pPr algn="ctr">
                <a:lnSpc>
                  <a:spcPts val="1399"/>
                </a:lnSpc>
                <a:spcBef>
                  <a:spcPct val="0"/>
                </a:spcBef>
              </a:pPr>
              <a:endParaRPr/>
            </a:p>
          </p:txBody>
        </p:sp>
      </p:grpSp>
      <p:grpSp>
        <p:nvGrpSpPr>
          <p:cNvPr id="5" name="Group 5">
            <a:extLst>
              <a:ext uri="{FF2B5EF4-FFF2-40B4-BE49-F238E27FC236}">
                <a16:creationId xmlns:a16="http://schemas.microsoft.com/office/drawing/2014/main" id="{F394E7AD-4206-C853-979B-4584FAA36811}"/>
              </a:ext>
            </a:extLst>
          </p:cNvPr>
          <p:cNvGrpSpPr/>
          <p:nvPr/>
        </p:nvGrpSpPr>
        <p:grpSpPr>
          <a:xfrm>
            <a:off x="0" y="-14327"/>
            <a:ext cx="10287000" cy="651243"/>
            <a:chOff x="0" y="0"/>
            <a:chExt cx="5169753" cy="327283"/>
          </a:xfrm>
        </p:grpSpPr>
        <p:sp>
          <p:nvSpPr>
            <p:cNvPr id="6" name="Freeform 6">
              <a:extLst>
                <a:ext uri="{FF2B5EF4-FFF2-40B4-BE49-F238E27FC236}">
                  <a16:creationId xmlns:a16="http://schemas.microsoft.com/office/drawing/2014/main" id="{35BE46D5-9C8D-8E3E-63CE-D9D402FF1B9F}"/>
                </a:ext>
              </a:extLst>
            </p:cNvPr>
            <p:cNvSpPr/>
            <p:nvPr/>
          </p:nvSpPr>
          <p:spPr>
            <a:xfrm>
              <a:off x="0" y="0"/>
              <a:ext cx="5169753" cy="327283"/>
            </a:xfrm>
            <a:custGeom>
              <a:avLst/>
              <a:gdLst/>
              <a:ahLst/>
              <a:cxnLst/>
              <a:rect l="l" t="t" r="r" b="b"/>
              <a:pathLst>
                <a:path w="5169753" h="327283">
                  <a:moveTo>
                    <a:pt x="0" y="0"/>
                  </a:moveTo>
                  <a:lnTo>
                    <a:pt x="5169753" y="0"/>
                  </a:lnTo>
                  <a:lnTo>
                    <a:pt x="5169753" y="327283"/>
                  </a:lnTo>
                  <a:lnTo>
                    <a:pt x="0" y="327283"/>
                  </a:lnTo>
                  <a:close/>
                </a:path>
              </a:pathLst>
            </a:custGeom>
            <a:solidFill>
              <a:srgbClr val="000000"/>
            </a:solidFill>
          </p:spPr>
          <p:txBody>
            <a:bodyPr/>
            <a:lstStyle/>
            <a:p>
              <a:endParaRPr lang="en-IN"/>
            </a:p>
          </p:txBody>
        </p:sp>
        <p:sp>
          <p:nvSpPr>
            <p:cNvPr id="7" name="TextBox 7">
              <a:extLst>
                <a:ext uri="{FF2B5EF4-FFF2-40B4-BE49-F238E27FC236}">
                  <a16:creationId xmlns:a16="http://schemas.microsoft.com/office/drawing/2014/main" id="{A0EEA773-A059-E4C1-1E4F-EE7579B9636F}"/>
                </a:ext>
              </a:extLst>
            </p:cNvPr>
            <p:cNvSpPr txBox="1"/>
            <p:nvPr/>
          </p:nvSpPr>
          <p:spPr>
            <a:xfrm>
              <a:off x="0" y="-19050"/>
              <a:ext cx="5169753" cy="346333"/>
            </a:xfrm>
            <a:prstGeom prst="rect">
              <a:avLst/>
            </a:prstGeom>
          </p:spPr>
          <p:txBody>
            <a:bodyPr lIns="50800" tIns="50800" rIns="50800" bIns="50800" rtlCol="0" anchor="ctr"/>
            <a:lstStyle/>
            <a:p>
              <a:pPr algn="ctr">
                <a:lnSpc>
                  <a:spcPts val="1399"/>
                </a:lnSpc>
                <a:spcBef>
                  <a:spcPct val="0"/>
                </a:spcBef>
              </a:pPr>
              <a:endParaRPr/>
            </a:p>
          </p:txBody>
        </p:sp>
      </p:grpSp>
      <p:grpSp>
        <p:nvGrpSpPr>
          <p:cNvPr id="8" name="Group 8">
            <a:extLst>
              <a:ext uri="{FF2B5EF4-FFF2-40B4-BE49-F238E27FC236}">
                <a16:creationId xmlns:a16="http://schemas.microsoft.com/office/drawing/2014/main" id="{367D158E-6CBE-A850-1B19-C2087B5FE14B}"/>
              </a:ext>
            </a:extLst>
          </p:cNvPr>
          <p:cNvGrpSpPr/>
          <p:nvPr/>
        </p:nvGrpSpPr>
        <p:grpSpPr>
          <a:xfrm>
            <a:off x="3903074" y="-14327"/>
            <a:ext cx="2480852" cy="651243"/>
            <a:chOff x="0" y="0"/>
            <a:chExt cx="3307803" cy="868323"/>
          </a:xfrm>
        </p:grpSpPr>
        <p:sp>
          <p:nvSpPr>
            <p:cNvPr id="9" name="Freeform 9">
              <a:extLst>
                <a:ext uri="{FF2B5EF4-FFF2-40B4-BE49-F238E27FC236}">
                  <a16:creationId xmlns:a16="http://schemas.microsoft.com/office/drawing/2014/main" id="{63D0D256-8D62-8EB4-05B0-AA444E8B429B}"/>
                </a:ext>
              </a:extLst>
            </p:cNvPr>
            <p:cNvSpPr/>
            <p:nvPr/>
          </p:nvSpPr>
          <p:spPr>
            <a:xfrm>
              <a:off x="0" y="0"/>
              <a:ext cx="794159" cy="868323"/>
            </a:xfrm>
            <a:custGeom>
              <a:avLst/>
              <a:gdLst/>
              <a:ahLst/>
              <a:cxnLst/>
              <a:rect l="l" t="t" r="r" b="b"/>
              <a:pathLst>
                <a:path w="794159" h="868323">
                  <a:moveTo>
                    <a:pt x="0" y="0"/>
                  </a:moveTo>
                  <a:lnTo>
                    <a:pt x="794159" y="0"/>
                  </a:lnTo>
                  <a:lnTo>
                    <a:pt x="794159" y="868323"/>
                  </a:lnTo>
                  <a:lnTo>
                    <a:pt x="0" y="868323"/>
                  </a:lnTo>
                  <a:lnTo>
                    <a:pt x="0" y="0"/>
                  </a:lnTo>
                  <a:close/>
                </a:path>
              </a:pathLst>
            </a:custGeom>
            <a:blipFill>
              <a:blip r:embed="rId2"/>
              <a:stretch>
                <a:fillRect r="-9338"/>
              </a:stretch>
            </a:blipFill>
          </p:spPr>
          <p:txBody>
            <a:bodyPr/>
            <a:lstStyle/>
            <a:p>
              <a:endParaRPr lang="en-IN"/>
            </a:p>
          </p:txBody>
        </p:sp>
        <p:sp>
          <p:nvSpPr>
            <p:cNvPr id="10" name="Freeform 10">
              <a:extLst>
                <a:ext uri="{FF2B5EF4-FFF2-40B4-BE49-F238E27FC236}">
                  <a16:creationId xmlns:a16="http://schemas.microsoft.com/office/drawing/2014/main" id="{0D1A408F-34ED-13F7-70B7-56D3FBC699CA}"/>
                </a:ext>
              </a:extLst>
            </p:cNvPr>
            <p:cNvSpPr/>
            <p:nvPr/>
          </p:nvSpPr>
          <p:spPr>
            <a:xfrm>
              <a:off x="895759" y="0"/>
              <a:ext cx="2412045" cy="849221"/>
            </a:xfrm>
            <a:custGeom>
              <a:avLst/>
              <a:gdLst/>
              <a:ahLst/>
              <a:cxnLst/>
              <a:rect l="l" t="t" r="r" b="b"/>
              <a:pathLst>
                <a:path w="2412045" h="849221">
                  <a:moveTo>
                    <a:pt x="0" y="0"/>
                  </a:moveTo>
                  <a:lnTo>
                    <a:pt x="2412044" y="0"/>
                  </a:lnTo>
                  <a:lnTo>
                    <a:pt x="2412044" y="849221"/>
                  </a:lnTo>
                  <a:lnTo>
                    <a:pt x="0" y="849221"/>
                  </a:lnTo>
                  <a:lnTo>
                    <a:pt x="0" y="0"/>
                  </a:lnTo>
                  <a:close/>
                </a:path>
              </a:pathLst>
            </a:custGeom>
            <a:blipFill>
              <a:blip r:embed="rId3"/>
              <a:stretch>
                <a:fillRect l="-5490"/>
              </a:stretch>
            </a:blipFill>
          </p:spPr>
          <p:txBody>
            <a:bodyPr/>
            <a:lstStyle/>
            <a:p>
              <a:endParaRPr lang="en-IN"/>
            </a:p>
          </p:txBody>
        </p:sp>
      </p:grpSp>
      <p:sp>
        <p:nvSpPr>
          <p:cNvPr id="11" name="TextBox 11">
            <a:extLst>
              <a:ext uri="{FF2B5EF4-FFF2-40B4-BE49-F238E27FC236}">
                <a16:creationId xmlns:a16="http://schemas.microsoft.com/office/drawing/2014/main" id="{929B8A1B-3B7C-7EA0-2054-6F09EB733C47}"/>
              </a:ext>
            </a:extLst>
          </p:cNvPr>
          <p:cNvSpPr txBox="1"/>
          <p:nvPr/>
        </p:nvSpPr>
        <p:spPr>
          <a:xfrm>
            <a:off x="344218" y="712536"/>
            <a:ext cx="8301178" cy="394339"/>
          </a:xfrm>
          <a:prstGeom prst="rect">
            <a:avLst/>
          </a:prstGeom>
        </p:spPr>
        <p:txBody>
          <a:bodyPr lIns="0" tIns="0" rIns="0" bIns="0" rtlCol="0" anchor="t">
            <a:spAutoFit/>
          </a:bodyPr>
          <a:lstStyle/>
          <a:p>
            <a:pPr>
              <a:lnSpc>
                <a:spcPts val="3203"/>
              </a:lnSpc>
            </a:pPr>
            <a:r>
              <a:rPr lang="en-US" sz="2250" b="1">
                <a:solidFill>
                  <a:srgbClr val="000000"/>
                </a:solidFill>
                <a:latin typeface="Garet"/>
                <a:ea typeface="Garet"/>
                <a:cs typeface="Garet"/>
                <a:sym typeface="Garet"/>
              </a:rPr>
              <a:t>Mock Frames(Partial Implementation)</a:t>
            </a:r>
            <a:endParaRPr lang="en-US" sz="2250" b="1">
              <a:latin typeface="Garet"/>
            </a:endParaRPr>
          </a:p>
        </p:txBody>
      </p:sp>
      <p:pic>
        <p:nvPicPr>
          <p:cNvPr id="16" name="Picture 15" descr="A screenshot of a computer&#10;&#10;AI-generated content may be incorrect.">
            <a:extLst>
              <a:ext uri="{FF2B5EF4-FFF2-40B4-BE49-F238E27FC236}">
                <a16:creationId xmlns:a16="http://schemas.microsoft.com/office/drawing/2014/main" id="{E4F81E3A-C755-309B-3F19-ED60262F9A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630" y="1707248"/>
            <a:ext cx="3038137" cy="1968554"/>
          </a:xfrm>
          <a:prstGeom prst="rect">
            <a:avLst/>
          </a:prstGeom>
        </p:spPr>
      </p:pic>
      <p:pic>
        <p:nvPicPr>
          <p:cNvPr id="20" name="Picture 19" descr="A screenshot of a computer&#10;&#10;AI-generated content may be incorrect.">
            <a:extLst>
              <a:ext uri="{FF2B5EF4-FFF2-40B4-BE49-F238E27FC236}">
                <a16:creationId xmlns:a16="http://schemas.microsoft.com/office/drawing/2014/main" id="{F3D37132-5F97-CF4A-E6B8-CE3A9819BE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76741" y="1677883"/>
            <a:ext cx="3038137" cy="2027285"/>
          </a:xfrm>
          <a:prstGeom prst="rect">
            <a:avLst/>
          </a:prstGeom>
        </p:spPr>
      </p:pic>
      <p:pic>
        <p:nvPicPr>
          <p:cNvPr id="24" name="Picture 23" descr="A screenshot of a computer&#10;&#10;AI-generated content may be incorrect.">
            <a:extLst>
              <a:ext uri="{FF2B5EF4-FFF2-40B4-BE49-F238E27FC236}">
                <a16:creationId xmlns:a16="http://schemas.microsoft.com/office/drawing/2014/main" id="{A017317E-378F-D557-6F10-311995101B3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24431" y="1677883"/>
            <a:ext cx="3038137" cy="2027284"/>
          </a:xfrm>
          <a:prstGeom prst="rect">
            <a:avLst/>
          </a:prstGeom>
        </p:spPr>
      </p:pic>
      <p:cxnSp>
        <p:nvCxnSpPr>
          <p:cNvPr id="30" name="Straight Arrow Connector 29">
            <a:extLst>
              <a:ext uri="{FF2B5EF4-FFF2-40B4-BE49-F238E27FC236}">
                <a16:creationId xmlns:a16="http://schemas.microsoft.com/office/drawing/2014/main" id="{EDFBD09F-30DD-332D-AD03-36B00EF0A777}"/>
              </a:ext>
            </a:extLst>
          </p:cNvPr>
          <p:cNvCxnSpPr>
            <a:stCxn id="16" idx="3"/>
            <a:endCxn id="24" idx="1"/>
          </p:cNvCxnSpPr>
          <p:nvPr/>
        </p:nvCxnSpPr>
        <p:spPr>
          <a:xfrm>
            <a:off x="3135767" y="2691525"/>
            <a:ext cx="4886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1A15F5CD-18A7-D6DF-1A75-9E20DBA00F79}"/>
              </a:ext>
            </a:extLst>
          </p:cNvPr>
          <p:cNvCxnSpPr>
            <a:stCxn id="24" idx="3"/>
            <a:endCxn id="20" idx="1"/>
          </p:cNvCxnSpPr>
          <p:nvPr/>
        </p:nvCxnSpPr>
        <p:spPr>
          <a:xfrm>
            <a:off x="6662568" y="2691525"/>
            <a:ext cx="41417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E1556BB3-BF10-A11A-31D8-87CC082BD7DF}"/>
              </a:ext>
            </a:extLst>
          </p:cNvPr>
          <p:cNvSpPr txBox="1"/>
          <p:nvPr/>
        </p:nvSpPr>
        <p:spPr>
          <a:xfrm>
            <a:off x="0" y="3851238"/>
            <a:ext cx="3135767" cy="646331"/>
          </a:xfrm>
          <a:prstGeom prst="rect">
            <a:avLst/>
          </a:prstGeom>
          <a:noFill/>
        </p:spPr>
        <p:txBody>
          <a:bodyPr wrap="square" rtlCol="0">
            <a:spAutoFit/>
          </a:bodyPr>
          <a:lstStyle/>
          <a:p>
            <a:pPr algn="ctr"/>
            <a:r>
              <a:rPr lang="en-US" sz="1200" dirty="0"/>
              <a:t>The landing page of the website, which directs users to the main test page for further interaction.</a:t>
            </a:r>
            <a:endParaRPr lang="en-IN" sz="1200" dirty="0"/>
          </a:p>
        </p:txBody>
      </p:sp>
      <p:sp>
        <p:nvSpPr>
          <p:cNvPr id="35" name="TextBox 34">
            <a:extLst>
              <a:ext uri="{FF2B5EF4-FFF2-40B4-BE49-F238E27FC236}">
                <a16:creationId xmlns:a16="http://schemas.microsoft.com/office/drawing/2014/main" id="{0CC7162C-9712-04BE-CCE6-937591BBB79D}"/>
              </a:ext>
            </a:extLst>
          </p:cNvPr>
          <p:cNvSpPr txBox="1"/>
          <p:nvPr/>
        </p:nvSpPr>
        <p:spPr>
          <a:xfrm>
            <a:off x="3704663" y="3851238"/>
            <a:ext cx="2877671" cy="646331"/>
          </a:xfrm>
          <a:prstGeom prst="rect">
            <a:avLst/>
          </a:prstGeom>
          <a:noFill/>
        </p:spPr>
        <p:txBody>
          <a:bodyPr wrap="square" rtlCol="0">
            <a:spAutoFit/>
          </a:bodyPr>
          <a:lstStyle/>
          <a:p>
            <a:pPr algn="ctr"/>
            <a:r>
              <a:rPr lang="en-US" sz="1200" dirty="0"/>
              <a:t>The MCQ section, where users attempt assessments and tests to evaluate their knowledge.</a:t>
            </a:r>
            <a:endParaRPr lang="en-IN" sz="1200" dirty="0"/>
          </a:p>
        </p:txBody>
      </p:sp>
      <p:sp>
        <p:nvSpPr>
          <p:cNvPr id="36" name="TextBox 35">
            <a:extLst>
              <a:ext uri="{FF2B5EF4-FFF2-40B4-BE49-F238E27FC236}">
                <a16:creationId xmlns:a16="http://schemas.microsoft.com/office/drawing/2014/main" id="{76E93C24-74D5-8EDE-FD3F-27DCFF828403}"/>
              </a:ext>
            </a:extLst>
          </p:cNvPr>
          <p:cNvSpPr txBox="1"/>
          <p:nvPr/>
        </p:nvSpPr>
        <p:spPr>
          <a:xfrm>
            <a:off x="7076741" y="3851238"/>
            <a:ext cx="2863325" cy="646331"/>
          </a:xfrm>
          <a:prstGeom prst="rect">
            <a:avLst/>
          </a:prstGeom>
          <a:noFill/>
        </p:spPr>
        <p:txBody>
          <a:bodyPr wrap="square" rtlCol="0">
            <a:spAutoFit/>
          </a:bodyPr>
          <a:lstStyle/>
          <a:p>
            <a:pPr algn="ctr"/>
            <a:r>
              <a:rPr lang="en-US" sz="1200" dirty="0"/>
              <a:t>The results section, where test responses are analyzed and overall career suitability is evaluated.</a:t>
            </a:r>
            <a:endParaRPr lang="en-IN" sz="1200" dirty="0"/>
          </a:p>
        </p:txBody>
      </p:sp>
    </p:spTree>
    <p:extLst>
      <p:ext uri="{BB962C8B-B14F-4D97-AF65-F5344CB8AC3E}">
        <p14:creationId xmlns:p14="http://schemas.microsoft.com/office/powerpoint/2010/main" val="888353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769124"/>
            <a:ext cx="10287000" cy="622026"/>
            <a:chOff x="0" y="0"/>
            <a:chExt cx="5169753" cy="312600"/>
          </a:xfrm>
        </p:grpSpPr>
        <p:sp>
          <p:nvSpPr>
            <p:cNvPr id="3" name="Freeform 3"/>
            <p:cNvSpPr/>
            <p:nvPr/>
          </p:nvSpPr>
          <p:spPr>
            <a:xfrm>
              <a:off x="0" y="0"/>
              <a:ext cx="5169753" cy="312600"/>
            </a:xfrm>
            <a:custGeom>
              <a:avLst/>
              <a:gdLst/>
              <a:ahLst/>
              <a:cxnLst/>
              <a:rect l="l" t="t" r="r" b="b"/>
              <a:pathLst>
                <a:path w="5169753" h="312600">
                  <a:moveTo>
                    <a:pt x="0" y="0"/>
                  </a:moveTo>
                  <a:lnTo>
                    <a:pt x="5169753" y="0"/>
                  </a:lnTo>
                  <a:lnTo>
                    <a:pt x="5169753" y="312600"/>
                  </a:lnTo>
                  <a:lnTo>
                    <a:pt x="0" y="312600"/>
                  </a:lnTo>
                  <a:close/>
                </a:path>
              </a:pathLst>
            </a:custGeom>
            <a:solidFill>
              <a:srgbClr val="000000"/>
            </a:solidFill>
          </p:spPr>
          <p:txBody>
            <a:bodyPr/>
            <a:lstStyle/>
            <a:p>
              <a:endParaRPr lang="en-IN"/>
            </a:p>
          </p:txBody>
        </p:sp>
        <p:sp>
          <p:nvSpPr>
            <p:cNvPr id="4" name="TextBox 4"/>
            <p:cNvSpPr txBox="1"/>
            <p:nvPr/>
          </p:nvSpPr>
          <p:spPr>
            <a:xfrm>
              <a:off x="0" y="-19050"/>
              <a:ext cx="5169753" cy="331650"/>
            </a:xfrm>
            <a:prstGeom prst="rect">
              <a:avLst/>
            </a:prstGeom>
          </p:spPr>
          <p:txBody>
            <a:bodyPr lIns="50800" tIns="50800" rIns="50800" bIns="50800" rtlCol="0" anchor="ctr"/>
            <a:lstStyle/>
            <a:p>
              <a:pPr algn="ctr">
                <a:lnSpc>
                  <a:spcPts val="1399"/>
                </a:lnSpc>
                <a:spcBef>
                  <a:spcPct val="0"/>
                </a:spcBef>
              </a:pPr>
              <a:endParaRPr/>
            </a:p>
          </p:txBody>
        </p:sp>
      </p:grpSp>
      <p:sp>
        <p:nvSpPr>
          <p:cNvPr id="5" name="TextBox 5"/>
          <p:cNvSpPr txBox="1"/>
          <p:nvPr/>
        </p:nvSpPr>
        <p:spPr>
          <a:xfrm>
            <a:off x="197256" y="1886850"/>
            <a:ext cx="10039850" cy="1015919"/>
          </a:xfrm>
          <a:prstGeom prst="rect">
            <a:avLst/>
          </a:prstGeom>
        </p:spPr>
        <p:txBody>
          <a:bodyPr lIns="0" tIns="0" rIns="0" bIns="0" rtlCol="0" anchor="t">
            <a:spAutoFit/>
          </a:bodyPr>
          <a:lstStyle/>
          <a:p>
            <a:pPr algn="ctr">
              <a:lnSpc>
                <a:spcPts val="7377"/>
              </a:lnSpc>
            </a:pPr>
            <a:r>
              <a:rPr lang="en-US" sz="9600" b="1" dirty="0">
                <a:solidFill>
                  <a:srgbClr val="000000"/>
                </a:solidFill>
                <a:latin typeface="Montserrat Bold"/>
                <a:ea typeface="Montserrat Bold"/>
                <a:cs typeface="Montserrat Bold"/>
                <a:sym typeface="Montserrat Bold"/>
              </a:rPr>
              <a:t>Thank You!</a:t>
            </a:r>
            <a:endParaRPr lang="en-US" sz="9600" b="1" dirty="0">
              <a:solidFill>
                <a:srgbClr val="000000"/>
              </a:solidFill>
              <a:latin typeface="Montserrat Bold"/>
              <a:ea typeface="Montserrat Bold"/>
              <a:cs typeface="Montserrat Bold"/>
            </a:endParaRPr>
          </a:p>
        </p:txBody>
      </p:sp>
      <p:sp>
        <p:nvSpPr>
          <p:cNvPr id="6" name="TextBox 6"/>
          <p:cNvSpPr txBox="1"/>
          <p:nvPr/>
        </p:nvSpPr>
        <p:spPr>
          <a:xfrm>
            <a:off x="3724721" y="3259463"/>
            <a:ext cx="2837557" cy="1974258"/>
          </a:xfrm>
          <a:prstGeom prst="rect">
            <a:avLst/>
          </a:prstGeom>
        </p:spPr>
        <p:txBody>
          <a:bodyPr lIns="0" tIns="0" rIns="0" bIns="0" rtlCol="0" anchor="t">
            <a:spAutoFit/>
          </a:bodyPr>
          <a:lstStyle/>
          <a:p>
            <a:pPr algn="ctr">
              <a:lnSpc>
                <a:spcPts val="5151"/>
              </a:lnSpc>
            </a:pPr>
            <a:r>
              <a:rPr lang="en-US" sz="3650">
                <a:solidFill>
                  <a:srgbClr val="000000"/>
                </a:solidFill>
                <a:latin typeface="Garet"/>
                <a:ea typeface="Garet"/>
                <a:cs typeface="Garet"/>
                <a:sym typeface="Garet"/>
              </a:rPr>
              <a:t>Team Debuggers</a:t>
            </a:r>
            <a:endParaRPr lang="en-US" sz="3679">
              <a:solidFill>
                <a:srgbClr val="000000"/>
              </a:solidFill>
              <a:latin typeface="Garet"/>
              <a:ea typeface="Garet"/>
              <a:cs typeface="Garet"/>
              <a:sym typeface="Garet"/>
            </a:endParaRPr>
          </a:p>
          <a:p>
            <a:pPr algn="ctr">
              <a:lnSpc>
                <a:spcPts val="5151"/>
              </a:lnSpc>
            </a:pPr>
            <a:endParaRPr lang="en-US" sz="3650">
              <a:solidFill>
                <a:srgbClr val="000000"/>
              </a:solidFill>
              <a:latin typeface="Garet"/>
              <a:ea typeface="Garet"/>
              <a:cs typeface="Garet"/>
            </a:endParaRPr>
          </a:p>
        </p:txBody>
      </p:sp>
      <p:grpSp>
        <p:nvGrpSpPr>
          <p:cNvPr id="8" name="Group 8"/>
          <p:cNvGrpSpPr/>
          <p:nvPr/>
        </p:nvGrpSpPr>
        <p:grpSpPr>
          <a:xfrm>
            <a:off x="0" y="-14327"/>
            <a:ext cx="10287000" cy="1291577"/>
            <a:chOff x="0" y="0"/>
            <a:chExt cx="5169753" cy="649085"/>
          </a:xfrm>
        </p:grpSpPr>
        <p:sp>
          <p:nvSpPr>
            <p:cNvPr id="9" name="Freeform 9"/>
            <p:cNvSpPr/>
            <p:nvPr/>
          </p:nvSpPr>
          <p:spPr>
            <a:xfrm>
              <a:off x="0" y="0"/>
              <a:ext cx="5169753" cy="649085"/>
            </a:xfrm>
            <a:custGeom>
              <a:avLst/>
              <a:gdLst/>
              <a:ahLst/>
              <a:cxnLst/>
              <a:rect l="l" t="t" r="r" b="b"/>
              <a:pathLst>
                <a:path w="5169753" h="649085">
                  <a:moveTo>
                    <a:pt x="0" y="0"/>
                  </a:moveTo>
                  <a:lnTo>
                    <a:pt x="5169753" y="0"/>
                  </a:lnTo>
                  <a:lnTo>
                    <a:pt x="5169753" y="649085"/>
                  </a:lnTo>
                  <a:lnTo>
                    <a:pt x="0" y="649085"/>
                  </a:lnTo>
                  <a:close/>
                </a:path>
              </a:pathLst>
            </a:custGeom>
            <a:solidFill>
              <a:srgbClr val="000000"/>
            </a:solidFill>
          </p:spPr>
          <p:txBody>
            <a:bodyPr/>
            <a:lstStyle/>
            <a:p>
              <a:endParaRPr lang="en-IN"/>
            </a:p>
          </p:txBody>
        </p:sp>
        <p:sp>
          <p:nvSpPr>
            <p:cNvPr id="10" name="TextBox 10"/>
            <p:cNvSpPr txBox="1"/>
            <p:nvPr/>
          </p:nvSpPr>
          <p:spPr>
            <a:xfrm>
              <a:off x="0" y="-19050"/>
              <a:ext cx="5169753" cy="668135"/>
            </a:xfrm>
            <a:prstGeom prst="rect">
              <a:avLst/>
            </a:prstGeom>
          </p:spPr>
          <p:txBody>
            <a:bodyPr lIns="50800" tIns="50800" rIns="50800" bIns="50800" rtlCol="0" anchor="ctr"/>
            <a:lstStyle/>
            <a:p>
              <a:pPr algn="ctr">
                <a:lnSpc>
                  <a:spcPts val="1399"/>
                </a:lnSpc>
                <a:spcBef>
                  <a:spcPct val="0"/>
                </a:spcBef>
              </a:pPr>
              <a:endParaRPr/>
            </a:p>
          </p:txBody>
        </p:sp>
      </p:grpSp>
      <p:grpSp>
        <p:nvGrpSpPr>
          <p:cNvPr id="11" name="Group 11"/>
          <p:cNvGrpSpPr/>
          <p:nvPr/>
        </p:nvGrpSpPr>
        <p:grpSpPr>
          <a:xfrm>
            <a:off x="3542524" y="191852"/>
            <a:ext cx="3349313" cy="879220"/>
            <a:chOff x="0" y="0"/>
            <a:chExt cx="4465751" cy="1172293"/>
          </a:xfrm>
        </p:grpSpPr>
        <p:sp>
          <p:nvSpPr>
            <p:cNvPr id="12" name="Freeform 12"/>
            <p:cNvSpPr/>
            <p:nvPr/>
          </p:nvSpPr>
          <p:spPr>
            <a:xfrm>
              <a:off x="0" y="0"/>
              <a:ext cx="1072166" cy="1172293"/>
            </a:xfrm>
            <a:custGeom>
              <a:avLst/>
              <a:gdLst/>
              <a:ahLst/>
              <a:cxnLst/>
              <a:rect l="l" t="t" r="r" b="b"/>
              <a:pathLst>
                <a:path w="1072166" h="1172293">
                  <a:moveTo>
                    <a:pt x="0" y="0"/>
                  </a:moveTo>
                  <a:lnTo>
                    <a:pt x="1072166" y="0"/>
                  </a:lnTo>
                  <a:lnTo>
                    <a:pt x="1072166" y="1172293"/>
                  </a:lnTo>
                  <a:lnTo>
                    <a:pt x="0" y="1172293"/>
                  </a:lnTo>
                  <a:lnTo>
                    <a:pt x="0" y="0"/>
                  </a:lnTo>
                  <a:close/>
                </a:path>
              </a:pathLst>
            </a:custGeom>
            <a:blipFill>
              <a:blip r:embed="rId2"/>
              <a:stretch>
                <a:fillRect r="-9338"/>
              </a:stretch>
            </a:blipFill>
          </p:spPr>
          <p:txBody>
            <a:bodyPr/>
            <a:lstStyle/>
            <a:p>
              <a:endParaRPr lang="en-IN"/>
            </a:p>
          </p:txBody>
        </p:sp>
        <p:sp>
          <p:nvSpPr>
            <p:cNvPr id="13" name="Freeform 13"/>
            <p:cNvSpPr/>
            <p:nvPr/>
          </p:nvSpPr>
          <p:spPr>
            <a:xfrm>
              <a:off x="1209333" y="0"/>
              <a:ext cx="3256418" cy="1146504"/>
            </a:xfrm>
            <a:custGeom>
              <a:avLst/>
              <a:gdLst/>
              <a:ahLst/>
              <a:cxnLst/>
              <a:rect l="l" t="t" r="r" b="b"/>
              <a:pathLst>
                <a:path w="3256418" h="1146504">
                  <a:moveTo>
                    <a:pt x="0" y="0"/>
                  </a:moveTo>
                  <a:lnTo>
                    <a:pt x="3256418" y="0"/>
                  </a:lnTo>
                  <a:lnTo>
                    <a:pt x="3256418" y="1146504"/>
                  </a:lnTo>
                  <a:lnTo>
                    <a:pt x="0" y="1146504"/>
                  </a:lnTo>
                  <a:lnTo>
                    <a:pt x="0" y="0"/>
                  </a:lnTo>
                  <a:close/>
                </a:path>
              </a:pathLst>
            </a:custGeom>
            <a:blipFill>
              <a:blip r:embed="rId3"/>
              <a:stretch>
                <a:fillRect l="-5490"/>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fca2e19-0881-4083-b8f9-01a6c70938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7B2D185878945BFB9A9E0B3B2944B" ma:contentTypeVersion="11" ma:contentTypeDescription="Create a new document." ma:contentTypeScope="" ma:versionID="be813f107e991db683440c994ce9e2bc">
  <xsd:schema xmlns:xsd="http://www.w3.org/2001/XMLSchema" xmlns:xs="http://www.w3.org/2001/XMLSchema" xmlns:p="http://schemas.microsoft.com/office/2006/metadata/properties" xmlns:ns3="ffca2e19-0881-4083-b8f9-01a6c709386b" targetNamespace="http://schemas.microsoft.com/office/2006/metadata/properties" ma:root="true" ma:fieldsID="07b714e7fceae3646d72c93736b7995b" ns3:_="">
    <xsd:import namespace="ffca2e19-0881-4083-b8f9-01a6c709386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ca2e19-0881-4083-b8f9-01a6c709386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B49B1-AF6E-40B0-AC1C-79BF8F181FBA}">
  <ds:schemaRefs>
    <ds:schemaRef ds:uri="http://schemas.microsoft.com/sharepoint/v3/contenttype/forms"/>
  </ds:schemaRefs>
</ds:datastoreItem>
</file>

<file path=customXml/itemProps2.xml><?xml version="1.0" encoding="utf-8"?>
<ds:datastoreItem xmlns:ds="http://schemas.openxmlformats.org/officeDocument/2006/customXml" ds:itemID="{84A09226-4D0B-4DBF-9E22-B2F2B2883FAF}">
  <ds:schemaRefs>
    <ds:schemaRef ds:uri="ffca2e19-0881-4083-b8f9-01a6c709386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30B5312-8C11-43FB-9E24-5E9C490BCF97}">
  <ds:schemaRefs>
    <ds:schemaRef ds:uri="ffca2e19-0881-4083-b8f9-01a6c70938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30</TotalTime>
  <Words>752</Words>
  <Application>Microsoft Office PowerPoint</Application>
  <PresentationFormat>Custom</PresentationFormat>
  <Paragraphs>80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League Spartan</vt:lpstr>
      <vt:lpstr>Calibri</vt:lpstr>
      <vt:lpstr>Arial,Sans-Serif</vt:lpstr>
      <vt:lpstr>Montserrat</vt:lpstr>
      <vt:lpstr>Arial</vt:lpstr>
      <vt:lpstr>Wingdings</vt:lpstr>
      <vt:lpstr>Montserrat Bold</vt:lpstr>
      <vt:lpstr>Garet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AI-Verse PPT Template</dc:title>
  <cp:lastModifiedBy>HARISH</cp:lastModifiedBy>
  <cp:revision>55</cp:revision>
  <dcterms:created xsi:type="dcterms:W3CDTF">2006-08-16T00:00:00Z</dcterms:created>
  <dcterms:modified xsi:type="dcterms:W3CDTF">2025-12-31T19:27:33Z</dcterms:modified>
  <dc:identifier>DAG79ArSZVM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0x0101004DE7B2D185878945BFB9A9E0B3B2944B</vt:lpwstr>
  </property>
</Properties>
</file>